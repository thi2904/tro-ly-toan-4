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7bd39bc9-609c-3958-c7ce-21b45723fd33}">
          <p14:sldIdLst>
            <p14:sldId id="256"/>
          </p14:sldIdLst>
        </p14:section>
        <p14:section name="1 · Bối cảnh và vấn đề" id="{289aaf69-362d-aaa0-7c9b-5bab68a977a2}">
          <p14:sldIdLst>
            <p14:sldId id="257"/>
          </p14:sldIdLst>
        </p14:section>
        <p14:section name="2 · Ý tưởng, giải pháp và công cụ AI" id="{235d82a6-3dc5-e5db-a06b-c3e33d9db736}">
          <p14:sldIdLst>
            <p14:sldId id="258"/>
            <p14:sldId id="259"/>
            <p14:sldId id="260"/>
            <p14:sldId id="261"/>
            <p14:sldId id="262"/>
            <p14:sldId id="263"/>
          </p14:sldIdLst>
        </p14:section>
        <p14:section name="3 · Triển khai trong thực tế" id="{b25918d2-c3e6-7d9b-3f01-09d2cd127c56}">
          <p14:sldIdLst>
            <p14:sldId id="264"/>
            <p14:sldId id="265"/>
            <p14:sldId id="266"/>
          </p14:sldIdLst>
        </p14:section>
        <p14:section name="4 · Kết quả và tác động" id="{12c1cbd2-0dde-7f4b-d432-83e4c2ff7eac}">
          <p14:sldIdLst>
            <p14:sldId id="267"/>
          </p14:sldIdLst>
        </p14:section>
        <p14:section name="5 · Bền vững và nhân rộng" id="{5828c4ea-9ef4-fb5e-af76-0c084d8b863a}">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7243F"/>
                </a:solidFill>
                <a:latin typeface="+mn-lt"/>
              </a:defRPr>
            </a:pPr>
            <a:r>
              <a:rPr sz="1400" b="0" i="0" u="none" strike="noStrike">
                <a:solidFill>
                  <a:srgbClr val="17243F"/>
                </a:solidFill>
                <a:latin typeface="+mn-lt"/>
              </a:rPr>
              <a:t>Số câu hỏi theo chủ đề</a:t>
            </a:r>
          </a:p>
        </c:rich>
      </c:tx>
      <c:layout/>
      <c:overlay val="0"/>
    </c:title>
    <c:autoTitleDeleted val="0"/>
    <c:plotArea>
      <c:layout/>
      <c:barChart>
        <c:barDir val="bar"/>
        <c:grouping val="stacked"/>
        <c:varyColors val="0"/>
        <c:ser>
          <c:idx val="0"/>
          <c:order val="0"/>
          <c:tx>
            <c:strRef>
              <c:f>Sheet1!$B$1</c:f>
              <c:strCache>
                <c:ptCount val="1"/>
                <c:pt idx="0">
                  <c:v>Cơ bản</c:v>
                </c:pt>
              </c:strCache>
            </c:strRef>
          </c:tx>
          <c:spPr>
            <a:solidFill>
              <a:srgbClr val="8EB1F2"/>
            </a:solidFill>
            <a:effectLst/>
          </c:spPr>
          <c:invertIfNegative val="0"/>
          <c:dLbls>
            <c:numFmt formatCode="#,##0" sourceLinked="0"/>
            <c:txPr>
              <a:bodyPr/>
              <a:lstStyle/>
              <a:p>
                <a:pPr>
                  <a:defRPr b="0" i="0" strike="noStrike" sz="1100" u="none">
                    <a:solidFill>
                      <a:srgbClr val="17243F"/>
                    </a:solidFill>
                    <a:latin typeface="+mn-lt"/>
                  </a:defRPr>
                </a:pPr>
              </a:p>
            </c:txPr>
            <c:dLblPos val="ctr"/>
            <c:showLegendKey val="0"/>
            <c:showVal val="1"/>
            <c:showCatName val="0"/>
            <c:showSerName val="0"/>
            <c:showPercent val="0"/>
            <c:showBubbleSize val="0"/>
            <c:showLeaderLines val="0"/>
          </c:dLbls>
          <c:cat>
            <c:multiLvlStrRef>
              <c:f>Sheet1!$A$2:$A$14</c:f>
              <c:multiLvlStrCache>
                <c:ptCount val="13"/>
                <c:lvl>
                  <c:pt idx="0">
                    <c:v>1. Ôn tập và bổ sung</c:v>
                  </c:pt>
                  <c:pt idx="1">
                    <c:v>2. Góc và đơn vị đo góc</c:v>
                  </c:pt>
                  <c:pt idx="2">
                    <c:v>3. Số có nhiều chữ số</c:v>
                  </c:pt>
                  <c:pt idx="3">
                    <c:v>4. Một số đơn vị đo đại lượng</c:v>
                  </c:pt>
                  <c:pt idx="4">
                    <c:v>5. Phép cộng và phép trừ</c:v>
                  </c:pt>
                  <c:pt idx="5">
                    <c:v>6. Đường thẳng vuông góc, song song</c:v>
                  </c:pt>
                  <c:pt idx="6">
                    <c:v>7. Ôn tập học kì 1</c:v>
                  </c:pt>
                  <c:pt idx="7">
                    <c:v>8. Phép nhân và phép chia</c:v>
                  </c:pt>
                  <c:pt idx="8">
                    <c:v>9. Thống kê và xác suất</c:v>
                  </c:pt>
                  <c:pt idx="9">
                    <c:v>10. Phân số</c:v>
                  </c:pt>
                  <c:pt idx="10">
                    <c:v>11. Cộng, trừ phân số</c:v>
                  </c:pt>
                  <c:pt idx="11">
                    <c:v>12. Nhân, chia phân số</c:v>
                  </c:pt>
                  <c:pt idx="12">
                    <c:v>13. Ôn tập cuối năm</c:v>
                  </c:pt>
                </c:lvl>
              </c:multiLvlStrCache>
            </c:multiLvlStrRef>
          </c:cat>
          <c:val>
            <c:numRef>
              <c:f>Sheet1!$B$2:$B$14</c:f>
              <c:numCache>
                <c:formatCode>General</c:formatCode>
                <c:ptCount val="13"/>
                <c:pt idx="0">
                  <c:v>80</c:v>
                </c:pt>
                <c:pt idx="1">
                  <c:v>40</c:v>
                </c:pt>
                <c:pt idx="2">
                  <c:v>90</c:v>
                </c:pt>
                <c:pt idx="3">
                  <c:v>67</c:v>
                </c:pt>
                <c:pt idx="4">
                  <c:v>66</c:v>
                </c:pt>
                <c:pt idx="5">
                  <c:v>75</c:v>
                </c:pt>
                <c:pt idx="6">
                  <c:v>67</c:v>
                </c:pt>
                <c:pt idx="7">
                  <c:v>149</c:v>
                </c:pt>
                <c:pt idx="8">
                  <c:v>53</c:v>
                </c:pt>
                <c:pt idx="9">
                  <c:v>94</c:v>
                </c:pt>
                <c:pt idx="10">
                  <c:v>42</c:v>
                </c:pt>
                <c:pt idx="11">
                  <c:v>56</c:v>
                </c:pt>
                <c:pt idx="12">
                  <c:v>94</c:v>
                </c:pt>
              </c:numCache>
            </c:numRef>
          </c:val>
        </c:ser>
        <c:ser>
          <c:idx val="1"/>
          <c:order val="1"/>
          <c:tx>
            <c:strRef>
              <c:f>Sheet1!$C$1</c:f>
              <c:strCache>
                <c:ptCount val="1"/>
                <c:pt idx="0">
                  <c:v>Nâng cao</c:v>
                </c:pt>
              </c:strCache>
            </c:strRef>
          </c:tx>
          <c:spPr>
            <a:solidFill>
              <a:srgbClr val="FFC83D"/>
            </a:solidFill>
            <a:effectLst/>
          </c:spPr>
          <c:invertIfNegative val="0"/>
          <c:dLbls>
            <c:numFmt formatCode="#,##0" sourceLinked="0"/>
            <c:txPr>
              <a:bodyPr/>
              <a:lstStyle/>
              <a:p>
                <a:pPr>
                  <a:defRPr b="0" i="0" strike="noStrike" sz="1100" u="none">
                    <a:solidFill>
                      <a:srgbClr val="17243F"/>
                    </a:solidFill>
                    <a:latin typeface="+mn-lt"/>
                  </a:defRPr>
                </a:pPr>
              </a:p>
            </c:txPr>
            <c:dLblPos val="ctr"/>
            <c:showLegendKey val="0"/>
            <c:showVal val="1"/>
            <c:showCatName val="0"/>
            <c:showSerName val="0"/>
            <c:showPercent val="0"/>
            <c:showBubbleSize val="0"/>
            <c:showLeaderLines val="0"/>
          </c:dLbls>
          <c:cat>
            <c:multiLvlStrRef>
              <c:f>Sheet1!$A$2:$A$14</c:f>
              <c:multiLvlStrCache>
                <c:ptCount val="13"/>
                <c:lvl>
                  <c:pt idx="0">
                    <c:v>1. Ôn tập và bổ sung</c:v>
                  </c:pt>
                  <c:pt idx="1">
                    <c:v>2. Góc và đơn vị đo góc</c:v>
                  </c:pt>
                  <c:pt idx="2">
                    <c:v>3. Số có nhiều chữ số</c:v>
                  </c:pt>
                  <c:pt idx="3">
                    <c:v>4. Một số đơn vị đo đại lượng</c:v>
                  </c:pt>
                  <c:pt idx="4">
                    <c:v>5. Phép cộng và phép trừ</c:v>
                  </c:pt>
                  <c:pt idx="5">
                    <c:v>6. Đường thẳng vuông góc, song song</c:v>
                  </c:pt>
                  <c:pt idx="6">
                    <c:v>7. Ôn tập học kì 1</c:v>
                  </c:pt>
                  <c:pt idx="7">
                    <c:v>8. Phép nhân và phép chia</c:v>
                  </c:pt>
                  <c:pt idx="8">
                    <c:v>9. Thống kê và xác suất</c:v>
                  </c:pt>
                  <c:pt idx="9">
                    <c:v>10. Phân số</c:v>
                  </c:pt>
                  <c:pt idx="10">
                    <c:v>11. Cộng, trừ phân số</c:v>
                  </c:pt>
                  <c:pt idx="11">
                    <c:v>12. Nhân, chia phân số</c:v>
                  </c:pt>
                  <c:pt idx="12">
                    <c:v>13. Ôn tập cuối năm</c:v>
                  </c:pt>
                </c:lvl>
              </c:multiLvlStrCache>
            </c:multiLvlStrRef>
          </c:cat>
          <c:val>
            <c:numRef>
              <c:f>Sheet1!$C$2:$C$14</c:f>
              <c:numCache>
                <c:formatCode>General</c:formatCode>
                <c:ptCount val="13"/>
                <c:pt idx="0">
                  <c:v>34</c:v>
                </c:pt>
                <c:pt idx="1">
                  <c:v>17</c:v>
                </c:pt>
                <c:pt idx="2">
                  <c:v>39</c:v>
                </c:pt>
                <c:pt idx="3">
                  <c:v>28</c:v>
                </c:pt>
                <c:pt idx="4">
                  <c:v>28</c:v>
                </c:pt>
                <c:pt idx="5">
                  <c:v>30</c:v>
                </c:pt>
                <c:pt idx="6">
                  <c:v>27</c:v>
                </c:pt>
                <c:pt idx="7">
                  <c:v>55</c:v>
                </c:pt>
                <c:pt idx="8">
                  <c:v>20</c:v>
                </c:pt>
                <c:pt idx="9">
                  <c:v>35</c:v>
                </c:pt>
                <c:pt idx="10">
                  <c:v>15</c:v>
                </c:pt>
                <c:pt idx="11">
                  <c:v>20</c:v>
                </c:pt>
                <c:pt idx="12">
                  <c:v>35</c:v>
                </c:pt>
              </c:numCache>
            </c:numRef>
          </c:val>
        </c:ser>
        <c:dLbls>
          <c:numFmt formatCode="#,##0" sourceLinked="0"/>
          <c:txPr>
            <a:bodyPr/>
            <a:lstStyle/>
            <a:p>
              <a:pPr>
                <a:defRPr b="0" i="0" strike="noStrike" sz="1100" u="none">
                  <a:solidFill>
                    <a:srgbClr val="17243F"/>
                  </a:solidFill>
                  <a:latin typeface="+mn-lt"/>
                </a:defRPr>
              </a:pPr>
            </a:p>
          </c:txPr>
          <c:dLblPos val="ctr"/>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7243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7243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chào quý thầy cô và Hội đồng. Tôi xin giới thiệu Siêu Sao Toán 4, ứng dụng luyện Toán lớp 4 bám sát sách giáo khoa, có trang quản lý cho giáo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một, bối cảnh và vấn đề. Luyện Toán ngoài giờ cần ba điều: bài tập bám sát từng bài của sách giáo khoa; biết đúng sai ngay sau mỗi câu, kèm đáp án để tự sửa; và giáo viên nắm được tiến độ từng em mà không phải thu bài, chấm tay. Siêu Sao Toán 4 đáp ứng cả ba nhu cầu này ngay trên trình duyệt.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hai, ý tưởng và giải pháp: một ứng dụng web để luyện, chấm và theo dõi. Học sinh vào bằng tên và ngày sinh, mỗi lần làm 10 câu và được chấm, được khen ngay. Giáo viên xem điểm cả lớp và từng câu trả lời trên một trang. Không cần cài đặt, dùng được trên điện thoại và máy tính. Ứng dụng có 73 bài, 1 356 câu hỏi thuộc 13 chủ đề, gồm 973 câu cơ bản và 383 câu nâng cao.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lượt học có bốn bước: vào lớp, chọn bài, làm 10 câu, xem kết quả. Lần đầu, em nhập họ tên, lớp, trường và ngày sinh, không cần mật khẩu. Những lần sau, nhập lại tên và ngày sinh là vào đúng tài khoản cũ. Em làm lại bao nhiêu lần cũng được; điểm cao nhất của mỗi bài được tính vào bảng xếp hạng.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chủ chia 73 bài thành 13 chủ đề, theo hai tập sách; mỗi thẻ hiện số sao, điểm tốt nhất và điểm thử thách. Mỗi bài mở đầu bằng phần Em cần nhớ. Mỗi lần làm, ứng dụng rút ngẫu nhiên 10 câu trong 12 đến 15 câu của bài, và xáo trộn thứ tự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có hình minh hoạ vẽ sẵn như biểu đồ cột, góc, đồng hồ; tổng cộng 79 câu có hình. Có hai dạng câu: 405 câu trắc nghiệm và 951 câu điền số, đơn vị đã có sẵn.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phần cơ bản, mỗi bài có thử thách nâng cao, không bắt buộc: 5 câu khó hơn, rút từ 383 câu nâng cao. Điểm thử thách được cộng vào tổng điểm xếp hạng và hiện trên thẻ bài, nhưng không tính vào số bài đã làm.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công cụ AI: tôi dùng Claude Code, công cụ trí tuệ nhân tạo của Anthropic, để hỗ trợ viết mã ứng dụng và soạn ngân hàng câu hỏi bám theo bài tập của sách. Mỗi câu được kiểm tra tự động, các phép tính được máy tính lại. Giáo viên định hướng, rà đáp án và chịu trách nhiệm về nội 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ba, triển khai trong thực tế. Làm đúng, khung đáp án tô xanh và có lời khen. Làm sai, ứng dụng động viên, hiện đáp án đúng và gợi ý để em tự sửa. Lời khen, lời an ủi được đọc bằng giọng tiếng Việt có sẵn của thiết bị, và có nút loa để tắt âm.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Làm xong, em nhận điểm thang 10, từ một đến ba sao, và xem lại từng câu đã sai. Bảng xếp hạng cộng điểm cao nhất của mỗi bài, cả phần thử thách; học sinh và giáo viên đều xem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Giáo viên có một trang quản lý: điểm từng em, và từng lượt làm để xem câu đúng, câu sai, đáp án đã chọn. Điểm tải về Excel theo bài, lớp hoặc trường, mỗi bài một trang tính, phần thử thách ở trang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bốn, kết quả và tác động. Sản phẩm có 1 356 câu hỏi cho 13 chủ đề. Học sinh biết đúng sai ngay, luyện lại không giới hạn; giáo viên không phải thu bài, chấm tay. Bước tiếp theo là chạy thử ở lớp học thật để thu điểm số và phản hồi.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năm, tính bền vững và khả năng nhân rộng. Ứng dụng gồm trình duyệt, máy chủ trên Vercel và cơ sở dữ liệu Neon Postgres, không cần máy chủ riêng. Đáp án nằm ở máy chủ, phiên đăng nhập có chữ ký số, và chỉ lưu dữ liệu cần thiết.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nói rõ giới hạn: đăng nhập bằng tên và ngày sinh chưa phải xác thực mạnh; câu hỏi cần giáo viên duyệt; chưa có số liệu thử nghiệm ở lớp học thật. Bước tiếp theo là mã PIN riêng, xếp hạng theo lớp và báo cáo theo chủ đề. Câu hỏi chia theo từng bài nên có thể mở rộng sang các khối lớp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Mời quý thầy cô dùng thử ngay tại địa chỉ trên màn hình, hoặc quét mã. Xin trân trọng cảm 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LOSE-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1672" cy="868680"/>
          </a:xfrm>
          <a:prstGeom prst="rect">
            <a:avLst/>
          </a:prstGeom>
          <a:noFill/>
          <a:ln/>
        </p:spPr>
        <p:txBody>
          <a:bodyPr wrap="square" rtlCol="0"/>
          <a:lstStyle>
            <a:lvl1pPr indent="0" marL="0">
              <a:buNone/>
              <a:defRPr lang="en-US" sz="3600" b="1" dirty="0">
                <a:solidFill>
                  <a:srgbClr val="17243F"/>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94"/>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5486400" cy="914400"/>
          </a:xfrm>
          <a:prstGeom prst="rect">
            <a:avLst/>
          </a:prstGeom>
          <a:noFill/>
          <a:ln/>
        </p:spPr>
        <p:txBody>
          <a:bodyPr wrap="square" rtlCol="0"/>
          <a:lstStyle>
            <a:lvl1pPr indent="0" marL="0">
              <a:buNone/>
              <a:defRPr lang="en-US" sz="4000" b="1" dirty="0">
                <a:solidFill>
                  <a:srgbClr val="FFFFFF"/>
                </a:solidFill>
                <a:latin typeface="Cambria" pitchFamily="34" charset="0"/>
                <a:ea typeface="Cambria" pitchFamily="34" charset="-122"/>
                <a:cs typeface="Cambria" pitchFamily="34" charset="-120"/>
              </a:defRPr>
            </a:lvl1pPr>
          </a:lstStyle>
          <a:p>
            <a:pPr indent="0" marL="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9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2.png"/><Relationship Id="rId5" Type="http://schemas.openxmlformats.org/officeDocument/2006/relationships/image" Target="../media/image-4-5.png"/><Relationship Id="rId6" Type="http://schemas.openxmlformats.org/officeDocument/2006/relationships/image" Target="../media/image-4-2.png"/><Relationship Id="rId7" Type="http://schemas.openxmlformats.org/officeDocument/2006/relationships/image" Target="../media/image-4-7.png"/><Relationship Id="rId8" Type="http://schemas.openxmlformats.org/officeDocument/2006/relationships/image" Target="../media/image-4-8.jp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2.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2.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2.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40080" y="1371600"/>
            <a:ext cx="2651760" cy="1188720"/>
          </a:xfrm>
          <a:prstGeom prst="roundRect">
            <a:avLst>
              <a:gd name="adj" fmla="val 12308"/>
            </a:avLst>
          </a:prstGeom>
          <a:solidFill>
            <a:srgbClr val="FFC83D"/>
          </a:solidFill>
          <a:ln w="12700">
            <a:solidFill>
              <a:srgbClr val="FFFFFF"/>
            </a:solidFill>
            <a:prstDash val="solid"/>
          </a:ln>
        </p:spPr>
      </p:sp>
      <p:sp>
        <p:nvSpPr>
          <p:cNvPr id="3" name="Text 1"/>
          <p:cNvSpPr txBox="1"/>
          <p:nvPr/>
        </p:nvSpPr>
        <p:spPr>
          <a:xfrm>
            <a:off x="640080" y="1371600"/>
            <a:ext cx="2651760" cy="1188720"/>
          </a:xfrm>
          <a:prstGeom prst="rect">
            <a:avLst/>
          </a:prstGeom>
          <a:noFill/>
          <a:ln/>
        </p:spPr>
        <p:txBody>
          <a:bodyPr wrap="square" lIns="0" tIns="0" rIns="0" bIns="0" rtlCol="0" anchor="ctr"/>
          <a:lstStyle/>
          <a:p>
            <a:pPr algn="ctr" indent="0" marL="0">
              <a:buNone/>
            </a:pPr>
            <a:r>
              <a:rPr lang="en-US" sz="4000" b="1" dirty="0">
                <a:solidFill>
                  <a:srgbClr val="17243F"/>
                </a:solidFill>
                <a:latin typeface="Cambria" pitchFamily="34" charset="0"/>
                <a:ea typeface="Cambria" pitchFamily="34" charset="-122"/>
                <a:cs typeface="Cambria" pitchFamily="34" charset="-120"/>
              </a:rPr>
              <a:t>Siêu Sao</a:t>
            </a:r>
            <a:endParaRPr lang="en-US" sz="4000" dirty="0"/>
          </a:p>
        </p:txBody>
      </p:sp>
      <p:sp>
        <p:nvSpPr>
          <p:cNvPr id="4" name="Text 2"/>
          <p:cNvSpPr txBox="1"/>
          <p:nvPr/>
        </p:nvSpPr>
        <p:spPr>
          <a:xfrm>
            <a:off x="640080" y="2697480"/>
            <a:ext cx="5760720" cy="1097280"/>
          </a:xfrm>
          <a:prstGeom prst="rect">
            <a:avLst/>
          </a:prstGeom>
          <a:noFill/>
          <a:ln/>
        </p:spPr>
        <p:txBody>
          <a:bodyPr wrap="square" lIns="0" tIns="0" rIns="0" bIns="0" rtlCol="0" anchor="ctr"/>
          <a:lstStyle/>
          <a:p>
            <a:pPr algn="l" indent="0" marL="0">
              <a:buNone/>
            </a:pPr>
            <a:r>
              <a:rPr lang="en-US" sz="6600" b="1" dirty="0">
                <a:solidFill>
                  <a:srgbClr val="FFFFFF"/>
                </a:solidFill>
                <a:latin typeface="Cambria" pitchFamily="34" charset="0"/>
                <a:ea typeface="Cambria" pitchFamily="34" charset="-122"/>
                <a:cs typeface="Cambria" pitchFamily="34" charset="-120"/>
              </a:rPr>
              <a:t>Toán 4</a:t>
            </a:r>
            <a:endParaRPr lang="en-US" sz="6600" dirty="0"/>
          </a:p>
        </p:txBody>
      </p:sp>
      <p:sp>
        <p:nvSpPr>
          <p:cNvPr id="5" name="Text 3"/>
          <p:cNvSpPr txBox="1"/>
          <p:nvPr/>
        </p:nvSpPr>
        <p:spPr>
          <a:xfrm>
            <a:off x="640080" y="3931920"/>
            <a:ext cx="5394960" cy="1554480"/>
          </a:xfrm>
          <a:prstGeom prst="rect">
            <a:avLst/>
          </a:prstGeom>
          <a:noFill/>
          <a:ln/>
        </p:spPr>
        <p:txBody>
          <a:bodyPr wrap="square" lIns="0" tIns="0" rIns="0" bIns="0" rtlCol="0" anchor="t"/>
          <a:lstStyle/>
          <a:p>
            <a:pPr algn="l" indent="0" marL="0">
              <a:buNone/>
            </a:pPr>
            <a:r>
              <a:rPr lang="en-US" sz="2000" dirty="0">
                <a:solidFill>
                  <a:srgbClr val="EAF1FB"/>
                </a:solidFill>
                <a:latin typeface="Calibri" pitchFamily="34" charset="0"/>
                <a:ea typeface="Calibri" pitchFamily="34" charset="-122"/>
                <a:cs typeface="Calibri" pitchFamily="34" charset="-120"/>
              </a:rPr>
              <a:t>Ứng dụng luyện Toán lớp 4 bám sát sách giáo khoa: 73 bài, thử thách nâng cao, lời khen bằng tiếng Việt, bảng xếp hạng và trang quản lý cho giáo viên.</a:t>
            </a:r>
            <a:endParaRPr lang="en-US" sz="2000" dirty="0"/>
          </a:p>
        </p:txBody>
      </p:sp>
      <p:sp>
        <p:nvSpPr>
          <p:cNvPr id="6" name="Text 4"/>
          <p:cNvSpPr txBox="1"/>
          <p:nvPr/>
        </p:nvSpPr>
        <p:spPr>
          <a:xfrm>
            <a:off x="640080" y="5897880"/>
            <a:ext cx="5486400" cy="365760"/>
          </a:xfrm>
          <a:prstGeom prst="rect">
            <a:avLst/>
          </a:prstGeom>
          <a:noFill/>
          <a:ln/>
        </p:spPr>
        <p:txBody>
          <a:bodyPr wrap="square" lIns="0" tIns="0" rIns="0" bIns="0" rtlCol="0" anchor="t"/>
          <a:lstStyle/>
          <a:p>
            <a:pPr algn="l" indent="0" marL="0">
              <a:buNone/>
            </a:pPr>
            <a:r>
              <a:rPr lang="en-US" sz="1800" b="1" dirty="0">
                <a:solidFill>
                  <a:srgbClr val="FFC83D"/>
                </a:solidFill>
                <a:latin typeface="Calibri" pitchFamily="34" charset="0"/>
                <a:ea typeface="Calibri" pitchFamily="34" charset="-122"/>
                <a:cs typeface="Calibri" pitchFamily="34" charset="-120"/>
              </a:rPr>
              <a:t>tro-ly-toan-4.vercel.app</a:t>
            </a:r>
            <a:endParaRPr lang="en-US" sz="1800" dirty="0"/>
          </a:p>
        </p:txBody>
      </p:sp>
      <p:sp>
        <p:nvSpPr>
          <p:cNvPr id="7" name="Shape 5"/>
          <p:cNvSpPr/>
          <p:nvPr/>
        </p:nvSpPr>
        <p:spPr>
          <a:xfrm>
            <a:off x="6601968" y="749808"/>
            <a:ext cx="5029200" cy="3291840"/>
          </a:xfrm>
          <a:prstGeom prst="roundRect">
            <a:avLst>
              <a:gd name="adj" fmla="val 5000"/>
            </a:avLst>
          </a:prstGeom>
          <a:solidFill>
            <a:srgbClr val="17243F"/>
          </a:solidFill>
          <a:ln/>
        </p:spPr>
      </p:sp>
      <p:sp>
        <p:nvSpPr>
          <p:cNvPr id="8" name="Shape 6"/>
          <p:cNvSpPr/>
          <p:nvPr/>
        </p:nvSpPr>
        <p:spPr>
          <a:xfrm>
            <a:off x="6537960" y="685800"/>
            <a:ext cx="5029200" cy="3291840"/>
          </a:xfrm>
          <a:prstGeom prst="roundRect">
            <a:avLst>
              <a:gd name="adj" fmla="val 5000"/>
            </a:avLst>
          </a:prstGeom>
          <a:solidFill>
            <a:srgbClr val="FFFFFF"/>
          </a:solidFill>
          <a:ln w="22225">
            <a:solidFill>
              <a:srgbClr val="FFFFFF"/>
            </a:solidFill>
            <a:prstDash val="solid"/>
          </a:ln>
        </p:spPr>
      </p:sp>
      <p:pic>
        <p:nvPicPr>
          <p:cNvPr id="9" name="Image 0" descr="Ảnh chụp giao diện Siêu Sao Toán 4">    </p:cNvPr>
          <p:cNvPicPr>
            <a:picLocks noChangeAspect="1"/>
          </p:cNvPicPr>
          <p:nvPr/>
        </p:nvPicPr>
        <p:blipFill>
          <a:blip r:embed="rId1"/>
          <a:stretch>
            <a:fillRect/>
          </a:stretch>
        </p:blipFill>
        <p:spPr>
          <a:xfrm>
            <a:off x="6611112" y="758952"/>
            <a:ext cx="4882896" cy="3145536"/>
          </a:xfrm>
          <a:prstGeom prst="rect">
            <a:avLst/>
          </a:prstGeom>
        </p:spPr>
      </p:pic>
      <p:sp>
        <p:nvSpPr>
          <p:cNvPr id="10" name="Shape 7"/>
          <p:cNvSpPr/>
          <p:nvPr/>
        </p:nvSpPr>
        <p:spPr>
          <a:xfrm>
            <a:off x="6291072" y="3200400"/>
            <a:ext cx="2276856" cy="3282696"/>
          </a:xfrm>
          <a:prstGeom prst="roundRect">
            <a:avLst>
              <a:gd name="adj" fmla="val 8835"/>
            </a:avLst>
          </a:prstGeom>
          <a:solidFill>
            <a:srgbClr val="FFFFFF"/>
          </a:solidFill>
          <a:ln w="38100">
            <a:solidFill>
              <a:srgbClr val="FFC83D"/>
            </a:solidFill>
            <a:prstDash val="solid"/>
          </a:ln>
        </p:spPr>
      </p:sp>
      <p:pic>
        <p:nvPicPr>
          <p:cNvPr id="11" name="Image 1" descr="Ảnh chụp giao diện Siêu Sao Toán 4">    </p:cNvPr>
          <p:cNvPicPr>
            <a:picLocks noChangeAspect="1"/>
          </p:cNvPicPr>
          <p:nvPr/>
        </p:nvPicPr>
        <p:blipFill>
          <a:blip r:embed="rId2"/>
          <a:stretch>
            <a:fillRect/>
          </a:stretch>
        </p:blipFill>
        <p:spPr>
          <a:xfrm>
            <a:off x="6400800" y="3310128"/>
            <a:ext cx="2057400" cy="30632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46888"/>
            <a:ext cx="8229600" cy="274320"/>
          </a:xfrm>
          <a:prstGeom prst="rect">
            <a:avLst/>
          </a:prstGeom>
          <a:noFill/>
          <a:ln/>
        </p:spPr>
        <p:txBody>
          <a:bodyPr wrap="square" lIns="0" tIns="0" rIns="0" bIns="0" rtlCol="0" anchor="t"/>
          <a:lstStyle/>
          <a:p>
            <a:pPr algn="l" indent="0" marL="0">
              <a:buNone/>
            </a:pPr>
            <a:r>
              <a:rPr lang="en-US" sz="1400" b="1" dirty="0">
                <a:solidFill>
                  <a:srgbClr val="2F5FD0"/>
                </a:solidFill>
                <a:latin typeface="Calibri" pitchFamily="34" charset="0"/>
                <a:ea typeface="Calibri" pitchFamily="34" charset="-122"/>
                <a:cs typeface="Calibri" pitchFamily="34" charset="-120"/>
              </a:rPr>
              <a:t>1 · Bối cảnh và vấn đề</a:t>
            </a:r>
            <a:endParaRPr lang="en-US" sz="1400" dirty="0"/>
          </a:p>
        </p:txBody>
      </p:sp>
      <p:sp>
        <p:nvSpPr>
          <p:cNvPr id="3" name="Text 0"/>
          <p:cNvSpPr/>
          <p:nvPr>
            <p:ph idx="100" type="title" hasCustomPrompt="1"/>
          </p:nvPr>
        </p:nvSpPr>
        <p:spPr>
          <a:xfrm>
            <a:off x="548640" y="457200"/>
            <a:ext cx="11091672" cy="868680"/>
          </a:xfrm>
          <a:prstGeom prst="rect">
            <a:avLst/>
          </a:prstGeom>
          <a:noFill/>
          <a:ln/>
        </p:spPr>
        <p:txBody>
          <a:bodyPr wrap="square" lIns="0" tIns="0" rIns="0" bIns="0" rtlCol="0" anchor="ctr"/>
          <a:lstStyle/>
          <a:p>
            <a:pPr indent="0" marL="0">
              <a:buNone/>
            </a:pPr>
            <a:r>
              <a:rPr lang="en-US" sz="3600" b="1" dirty="0">
                <a:solidFill>
                  <a:srgbClr val="17243F"/>
                </a:solidFill>
                <a:latin typeface="Cambria" pitchFamily="34" charset="0"/>
                <a:ea typeface="Cambria" pitchFamily="34" charset="-122"/>
                <a:cs typeface="Cambria" pitchFamily="34" charset="-120"/>
              </a:rPr>
              <a:t>Luyện Toán ngoài giờ cần ba điều</a:t>
            </a:r>
            <a:endParaRPr lang="en-US" sz="3600" dirty="0"/>
          </a:p>
        </p:txBody>
      </p:sp>
      <p:sp>
        <p:nvSpPr>
          <p:cNvPr id="4" name="Shape 2"/>
          <p:cNvSpPr/>
          <p:nvPr/>
        </p:nvSpPr>
        <p:spPr>
          <a:xfrm>
            <a:off x="612648" y="1709928"/>
            <a:ext cx="3520440" cy="3200400"/>
          </a:xfrm>
          <a:prstGeom prst="roundRect">
            <a:avLst>
              <a:gd name="adj" fmla="val 4571"/>
            </a:avLst>
          </a:prstGeom>
          <a:solidFill>
            <a:srgbClr val="17243F"/>
          </a:solidFill>
          <a:ln/>
        </p:spPr>
      </p:sp>
      <p:sp>
        <p:nvSpPr>
          <p:cNvPr id="5" name="Shape 3"/>
          <p:cNvSpPr/>
          <p:nvPr/>
        </p:nvSpPr>
        <p:spPr>
          <a:xfrm>
            <a:off x="548640" y="1645920"/>
            <a:ext cx="3520440" cy="3200400"/>
          </a:xfrm>
          <a:prstGeom prst="roundRect">
            <a:avLst>
              <a:gd name="adj" fmla="val 4571"/>
            </a:avLst>
          </a:prstGeom>
          <a:solidFill>
            <a:srgbClr val="FFFFFF"/>
          </a:solidFill>
          <a:ln w="22225">
            <a:solidFill>
              <a:srgbClr val="17243F"/>
            </a:solidFill>
            <a:prstDash val="solid"/>
          </a:ln>
        </p:spPr>
      </p:sp>
      <p:sp>
        <p:nvSpPr>
          <p:cNvPr id="6" name="Shape 4"/>
          <p:cNvSpPr/>
          <p:nvPr/>
        </p:nvSpPr>
        <p:spPr>
          <a:xfrm>
            <a:off x="822960" y="1920240"/>
            <a:ext cx="822960" cy="822960"/>
          </a:xfrm>
          <a:prstGeom prst="ellipse">
            <a:avLst/>
          </a:prstGeom>
          <a:solidFill>
            <a:srgbClr val="DCE6FA"/>
          </a:solidFill>
          <a:ln w="19050">
            <a:solidFill>
              <a:srgbClr val="2F5FD0"/>
            </a:solidFill>
            <a:prstDash val="solid"/>
          </a:ln>
        </p:spPr>
      </p:sp>
      <p:pic>
        <p:nvPicPr>
          <p:cNvPr id="7" name="Image 0" descr="Ảnh chụp giao diện Siêu Sao Toán 4">    </p:cNvPr>
          <p:cNvPicPr>
            <a:picLocks noChangeAspect="1"/>
          </p:cNvPicPr>
          <p:nvPr/>
        </p:nvPicPr>
        <p:blipFill>
          <a:blip r:embed="rId1"/>
          <a:stretch>
            <a:fillRect/>
          </a:stretch>
        </p:blipFill>
        <p:spPr>
          <a:xfrm>
            <a:off x="1028700" y="2125980"/>
            <a:ext cx="411480" cy="411480"/>
          </a:xfrm>
          <a:prstGeom prst="rect">
            <a:avLst/>
          </a:prstGeom>
        </p:spPr>
      </p:pic>
      <p:sp>
        <p:nvSpPr>
          <p:cNvPr id="8" name="Text 5"/>
          <p:cNvSpPr txBox="1"/>
          <p:nvPr/>
        </p:nvSpPr>
        <p:spPr>
          <a:xfrm>
            <a:off x="822960" y="3017520"/>
            <a:ext cx="2971800" cy="411480"/>
          </a:xfrm>
          <a:prstGeom prst="rect">
            <a:avLst/>
          </a:prstGeom>
          <a:noFill/>
          <a:ln/>
        </p:spPr>
        <p:txBody>
          <a:bodyPr wrap="square" lIns="0" tIns="0" rIns="0" bIns="0" rtlCol="0" anchor="t"/>
          <a:lstStyle/>
          <a:p>
            <a:pPr algn="l" indent="0" marL="0">
              <a:buNone/>
            </a:pPr>
            <a:r>
              <a:rPr lang="en-US" sz="2200" b="1" dirty="0">
                <a:solidFill>
                  <a:srgbClr val="17243F"/>
                </a:solidFill>
                <a:latin typeface="Cambria" pitchFamily="34" charset="0"/>
                <a:ea typeface="Cambria" pitchFamily="34" charset="-122"/>
                <a:cs typeface="Cambria" pitchFamily="34" charset="-120"/>
              </a:rPr>
              <a:t>Bài tập bám sát sách</a:t>
            </a:r>
            <a:endParaRPr lang="en-US" sz="2200" dirty="0"/>
          </a:p>
        </p:txBody>
      </p:sp>
      <p:sp>
        <p:nvSpPr>
          <p:cNvPr id="9" name="Text 6"/>
          <p:cNvSpPr txBox="1"/>
          <p:nvPr/>
        </p:nvSpPr>
        <p:spPr>
          <a:xfrm>
            <a:off x="822960" y="3520440"/>
            <a:ext cx="2971800" cy="1234440"/>
          </a:xfrm>
          <a:prstGeom prst="rect">
            <a:avLst/>
          </a:prstGeom>
          <a:noFill/>
          <a:ln/>
        </p:spPr>
        <p:txBody>
          <a:bodyPr wrap="square" lIns="0" tIns="0" rIns="0" bIns="0" rtlCol="0" anchor="t"/>
          <a:lstStyle/>
          <a:p>
            <a:pPr algn="l" indent="0" marL="0">
              <a:buNone/>
            </a:pPr>
            <a:r>
              <a:rPr lang="en-US" sz="1600" dirty="0">
                <a:solidFill>
                  <a:srgbClr val="4A5A78"/>
                </a:solidFill>
                <a:latin typeface="Calibri" pitchFamily="34" charset="0"/>
                <a:ea typeface="Calibri" pitchFamily="34" charset="-122"/>
                <a:cs typeface="Calibri" pitchFamily="34" charset="-120"/>
              </a:rPr>
              <a:t>Học sinh cần bài luyện đúng theo từng bài của sách giáo khoa đang học, không phải đi tìm đề ở nhiều nơi.</a:t>
            </a:r>
            <a:endParaRPr lang="en-US" sz="1600" dirty="0"/>
          </a:p>
        </p:txBody>
      </p:sp>
      <p:sp>
        <p:nvSpPr>
          <p:cNvPr id="10" name="Shape 7"/>
          <p:cNvSpPr/>
          <p:nvPr/>
        </p:nvSpPr>
        <p:spPr>
          <a:xfrm>
            <a:off x="4398264" y="1709928"/>
            <a:ext cx="3520440" cy="3200400"/>
          </a:xfrm>
          <a:prstGeom prst="roundRect">
            <a:avLst>
              <a:gd name="adj" fmla="val 4571"/>
            </a:avLst>
          </a:prstGeom>
          <a:solidFill>
            <a:srgbClr val="17243F"/>
          </a:solidFill>
          <a:ln/>
        </p:spPr>
      </p:sp>
      <p:sp>
        <p:nvSpPr>
          <p:cNvPr id="11" name="Shape 8"/>
          <p:cNvSpPr/>
          <p:nvPr/>
        </p:nvSpPr>
        <p:spPr>
          <a:xfrm>
            <a:off x="4334256" y="1645920"/>
            <a:ext cx="3520440" cy="3200400"/>
          </a:xfrm>
          <a:prstGeom prst="roundRect">
            <a:avLst>
              <a:gd name="adj" fmla="val 4571"/>
            </a:avLst>
          </a:prstGeom>
          <a:solidFill>
            <a:srgbClr val="FFFFFF"/>
          </a:solidFill>
          <a:ln w="22225">
            <a:solidFill>
              <a:srgbClr val="17243F"/>
            </a:solidFill>
            <a:prstDash val="solid"/>
          </a:ln>
        </p:spPr>
      </p:sp>
      <p:sp>
        <p:nvSpPr>
          <p:cNvPr id="12" name="Shape 9"/>
          <p:cNvSpPr/>
          <p:nvPr/>
        </p:nvSpPr>
        <p:spPr>
          <a:xfrm>
            <a:off x="4608576" y="1920240"/>
            <a:ext cx="822960" cy="822960"/>
          </a:xfrm>
          <a:prstGeom prst="ellipse">
            <a:avLst/>
          </a:prstGeom>
          <a:solidFill>
            <a:srgbClr val="D9F2E6"/>
          </a:solidFill>
          <a:ln w="19050">
            <a:solidFill>
              <a:srgbClr val="1F9D62"/>
            </a:solidFill>
            <a:prstDash val="solid"/>
          </a:ln>
        </p:spPr>
      </p:sp>
      <p:pic>
        <p:nvPicPr>
          <p:cNvPr id="13" name="Image 1" descr="Ảnh chụp giao diện Siêu Sao Toán 4">    </p:cNvPr>
          <p:cNvPicPr>
            <a:picLocks noChangeAspect="1"/>
          </p:cNvPicPr>
          <p:nvPr/>
        </p:nvPicPr>
        <p:blipFill>
          <a:blip r:embed="rId2"/>
          <a:stretch>
            <a:fillRect/>
          </a:stretch>
        </p:blipFill>
        <p:spPr>
          <a:xfrm>
            <a:off x="4814316" y="2125980"/>
            <a:ext cx="411480" cy="411480"/>
          </a:xfrm>
          <a:prstGeom prst="rect">
            <a:avLst/>
          </a:prstGeom>
        </p:spPr>
      </p:pic>
      <p:sp>
        <p:nvSpPr>
          <p:cNvPr id="14" name="Text 10"/>
          <p:cNvSpPr txBox="1"/>
          <p:nvPr/>
        </p:nvSpPr>
        <p:spPr>
          <a:xfrm>
            <a:off x="4608576" y="3017520"/>
            <a:ext cx="2971800" cy="411480"/>
          </a:xfrm>
          <a:prstGeom prst="rect">
            <a:avLst/>
          </a:prstGeom>
          <a:noFill/>
          <a:ln/>
        </p:spPr>
        <p:txBody>
          <a:bodyPr wrap="square" lIns="0" tIns="0" rIns="0" bIns="0" rtlCol="0" anchor="t"/>
          <a:lstStyle/>
          <a:p>
            <a:pPr algn="l" indent="0" marL="0">
              <a:buNone/>
            </a:pPr>
            <a:r>
              <a:rPr lang="en-US" sz="2200" b="1" dirty="0">
                <a:solidFill>
                  <a:srgbClr val="17243F"/>
                </a:solidFill>
                <a:latin typeface="Cambria" pitchFamily="34" charset="0"/>
                <a:ea typeface="Cambria" pitchFamily="34" charset="-122"/>
                <a:cs typeface="Cambria" pitchFamily="34" charset="-120"/>
              </a:rPr>
              <a:t>Biết đúng sai ngay</a:t>
            </a:r>
            <a:endParaRPr lang="en-US" sz="2200" dirty="0"/>
          </a:p>
        </p:txBody>
      </p:sp>
      <p:sp>
        <p:nvSpPr>
          <p:cNvPr id="15" name="Text 11"/>
          <p:cNvSpPr txBox="1"/>
          <p:nvPr/>
        </p:nvSpPr>
        <p:spPr>
          <a:xfrm>
            <a:off x="4608576" y="3520440"/>
            <a:ext cx="2971800" cy="1234440"/>
          </a:xfrm>
          <a:prstGeom prst="rect">
            <a:avLst/>
          </a:prstGeom>
          <a:noFill/>
          <a:ln/>
        </p:spPr>
        <p:txBody>
          <a:bodyPr wrap="square" lIns="0" tIns="0" rIns="0" bIns="0" rtlCol="0" anchor="t"/>
          <a:lstStyle/>
          <a:p>
            <a:pPr algn="l" indent="0" marL="0">
              <a:buNone/>
            </a:pPr>
            <a:r>
              <a:rPr lang="en-US" sz="1600" dirty="0">
                <a:solidFill>
                  <a:srgbClr val="4A5A78"/>
                </a:solidFill>
                <a:latin typeface="Calibri" pitchFamily="34" charset="0"/>
                <a:ea typeface="Calibri" pitchFamily="34" charset="-122"/>
                <a:cs typeface="Calibri" pitchFamily="34" charset="-120"/>
              </a:rPr>
              <a:t>Làm xong câu nào, biết kết quả câu đó liền, kèm đáp án đúng để tự sửa.</a:t>
            </a:r>
            <a:endParaRPr lang="en-US" sz="1600" dirty="0"/>
          </a:p>
        </p:txBody>
      </p:sp>
      <p:sp>
        <p:nvSpPr>
          <p:cNvPr id="16" name="Shape 12"/>
          <p:cNvSpPr/>
          <p:nvPr/>
        </p:nvSpPr>
        <p:spPr>
          <a:xfrm>
            <a:off x="8183880" y="1709928"/>
            <a:ext cx="3520440" cy="3200400"/>
          </a:xfrm>
          <a:prstGeom prst="roundRect">
            <a:avLst>
              <a:gd name="adj" fmla="val 4571"/>
            </a:avLst>
          </a:prstGeom>
          <a:solidFill>
            <a:srgbClr val="17243F"/>
          </a:solidFill>
          <a:ln/>
        </p:spPr>
      </p:sp>
      <p:sp>
        <p:nvSpPr>
          <p:cNvPr id="17" name="Shape 13"/>
          <p:cNvSpPr/>
          <p:nvPr/>
        </p:nvSpPr>
        <p:spPr>
          <a:xfrm>
            <a:off x="8119872" y="1645920"/>
            <a:ext cx="3520440" cy="3200400"/>
          </a:xfrm>
          <a:prstGeom prst="roundRect">
            <a:avLst>
              <a:gd name="adj" fmla="val 4571"/>
            </a:avLst>
          </a:prstGeom>
          <a:solidFill>
            <a:srgbClr val="FFFFFF"/>
          </a:solidFill>
          <a:ln w="22225">
            <a:solidFill>
              <a:srgbClr val="17243F"/>
            </a:solidFill>
            <a:prstDash val="solid"/>
          </a:ln>
        </p:spPr>
      </p:sp>
      <p:sp>
        <p:nvSpPr>
          <p:cNvPr id="18" name="Shape 14"/>
          <p:cNvSpPr/>
          <p:nvPr/>
        </p:nvSpPr>
        <p:spPr>
          <a:xfrm>
            <a:off x="8394192" y="1920240"/>
            <a:ext cx="822960" cy="822960"/>
          </a:xfrm>
          <a:prstGeom prst="ellipse">
            <a:avLst/>
          </a:prstGeom>
          <a:solidFill>
            <a:srgbClr val="FBDEDF"/>
          </a:solidFill>
          <a:ln w="19050">
            <a:solidFill>
              <a:srgbClr val="E4474D"/>
            </a:solidFill>
            <a:prstDash val="solid"/>
          </a:ln>
        </p:spPr>
      </p:sp>
      <p:pic>
        <p:nvPicPr>
          <p:cNvPr id="19" name="Image 2" descr="Ảnh chụp giao diện Siêu Sao Toán 4">    </p:cNvPr>
          <p:cNvPicPr>
            <a:picLocks noChangeAspect="1"/>
          </p:cNvPicPr>
          <p:nvPr/>
        </p:nvPicPr>
        <p:blipFill>
          <a:blip r:embed="rId3"/>
          <a:stretch>
            <a:fillRect/>
          </a:stretch>
        </p:blipFill>
        <p:spPr>
          <a:xfrm>
            <a:off x="8599932" y="2125980"/>
            <a:ext cx="411480" cy="411480"/>
          </a:xfrm>
          <a:prstGeom prst="rect">
            <a:avLst/>
          </a:prstGeom>
        </p:spPr>
      </p:pic>
      <p:sp>
        <p:nvSpPr>
          <p:cNvPr id="20" name="Text 15"/>
          <p:cNvSpPr txBox="1"/>
          <p:nvPr/>
        </p:nvSpPr>
        <p:spPr>
          <a:xfrm>
            <a:off x="8394192" y="3017520"/>
            <a:ext cx="2971800" cy="411480"/>
          </a:xfrm>
          <a:prstGeom prst="rect">
            <a:avLst/>
          </a:prstGeom>
          <a:noFill/>
          <a:ln/>
        </p:spPr>
        <p:txBody>
          <a:bodyPr wrap="square" lIns="0" tIns="0" rIns="0" bIns="0" rtlCol="0" anchor="t"/>
          <a:lstStyle/>
          <a:p>
            <a:pPr algn="l" indent="0" marL="0">
              <a:buNone/>
            </a:pPr>
            <a:r>
              <a:rPr lang="en-US" sz="2200" b="1" dirty="0">
                <a:solidFill>
                  <a:srgbClr val="17243F"/>
                </a:solidFill>
                <a:latin typeface="Cambria" pitchFamily="34" charset="0"/>
                <a:ea typeface="Cambria" pitchFamily="34" charset="-122"/>
                <a:cs typeface="Cambria" pitchFamily="34" charset="-120"/>
              </a:rPr>
              <a:t>Giáo viên nắm tiến độ</a:t>
            </a:r>
            <a:endParaRPr lang="en-US" sz="2200" dirty="0"/>
          </a:p>
        </p:txBody>
      </p:sp>
      <p:sp>
        <p:nvSpPr>
          <p:cNvPr id="21" name="Text 16"/>
          <p:cNvSpPr txBox="1"/>
          <p:nvPr/>
        </p:nvSpPr>
        <p:spPr>
          <a:xfrm>
            <a:off x="8394192" y="3520440"/>
            <a:ext cx="2971800" cy="1234440"/>
          </a:xfrm>
          <a:prstGeom prst="rect">
            <a:avLst/>
          </a:prstGeom>
          <a:noFill/>
          <a:ln/>
        </p:spPr>
        <p:txBody>
          <a:bodyPr wrap="square" lIns="0" tIns="0" rIns="0" bIns="0" rtlCol="0" anchor="t"/>
          <a:lstStyle/>
          <a:p>
            <a:pPr algn="l" indent="0" marL="0">
              <a:buNone/>
            </a:pPr>
            <a:r>
              <a:rPr lang="en-US" sz="1600" dirty="0">
                <a:solidFill>
                  <a:srgbClr val="4A5A78"/>
                </a:solidFill>
                <a:latin typeface="Calibri" pitchFamily="34" charset="0"/>
                <a:ea typeface="Calibri" pitchFamily="34" charset="-122"/>
                <a:cs typeface="Calibri" pitchFamily="34" charset="-120"/>
              </a:rPr>
              <a:t>Giáo viên cần xem điểm từng em mà không phải thu bài và chấm tay.</a:t>
            </a:r>
            <a:endParaRPr lang="en-US" sz="1600" dirty="0"/>
          </a:p>
        </p:txBody>
      </p:sp>
      <p:sp>
        <p:nvSpPr>
          <p:cNvPr id="22" name="Shape 17"/>
          <p:cNvSpPr/>
          <p:nvPr/>
        </p:nvSpPr>
        <p:spPr>
          <a:xfrm>
            <a:off x="548640" y="5257800"/>
            <a:ext cx="11091672" cy="777240"/>
          </a:xfrm>
          <a:prstGeom prst="roundRect">
            <a:avLst>
              <a:gd name="adj" fmla="val 14118"/>
            </a:avLst>
          </a:prstGeom>
          <a:solidFill>
            <a:srgbClr val="EAF1FB"/>
          </a:solidFill>
          <a:ln w="19050">
            <a:solidFill>
              <a:srgbClr val="17243F"/>
            </a:solidFill>
            <a:prstDash val="solid"/>
          </a:ln>
        </p:spPr>
      </p:sp>
      <p:sp>
        <p:nvSpPr>
          <p:cNvPr id="23" name="Text 18"/>
          <p:cNvSpPr txBox="1"/>
          <p:nvPr/>
        </p:nvSpPr>
        <p:spPr>
          <a:xfrm>
            <a:off x="822960" y="5257800"/>
            <a:ext cx="10543032" cy="777240"/>
          </a:xfrm>
          <a:prstGeom prst="rect">
            <a:avLst/>
          </a:prstGeom>
          <a:noFill/>
          <a:ln/>
        </p:spPr>
        <p:txBody>
          <a:bodyPr wrap="square" lIns="0" tIns="0" rIns="0" bIns="0" rtlCol="0" anchor="ctr"/>
          <a:lstStyle/>
          <a:p>
            <a:pPr algn="l" indent="0" marL="0">
              <a:buNone/>
            </a:pPr>
            <a:r>
              <a:rPr lang="en-US" sz="1700" b="1" dirty="0">
                <a:solidFill>
                  <a:srgbClr val="17243F"/>
                </a:solidFill>
                <a:latin typeface="Calibri" pitchFamily="34" charset="0"/>
                <a:ea typeface="Calibri" pitchFamily="34" charset="-122"/>
                <a:cs typeface="Calibri" pitchFamily="34" charset="-120"/>
              </a:rPr>
              <a:t>Siêu Sao Toán 4 đáp ứng cả ba nhu cầu này trong một ứng dụng chạy trên trình duyệt.</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9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46888"/>
            <a:ext cx="8229600" cy="274320"/>
          </a:xfrm>
          <a:prstGeom prst="rect">
            <a:avLst/>
          </a:prstGeom>
          <a:noFill/>
          <a:ln/>
        </p:spPr>
        <p:txBody>
          <a:bodyPr wrap="square" lIns="0" tIns="0" rIns="0" bIns="0" rtlCol="0" anchor="t"/>
          <a:lstStyle/>
          <a:p>
            <a:pPr algn="l" indent="0" marL="0">
              <a:buNone/>
            </a:pPr>
            <a:r>
              <a:rPr lang="en-US" sz="1400" b="1" dirty="0">
                <a:solidFill>
                  <a:srgbClr val="2F5FD0"/>
                </a:solidFill>
                <a:latin typeface="Calibri" pitchFamily="34" charset="0"/>
                <a:ea typeface="Calibri" pitchFamily="34" charset="-122"/>
                <a:cs typeface="Calibri" pitchFamily="34" charset="-120"/>
              </a:rPr>
              <a:t>2 · Ý tưởng, giải pháp và công cụ AI</a:t>
            </a:r>
            <a:endParaRPr lang="en-US" sz="1400" dirty="0"/>
          </a:p>
        </p:txBody>
      </p:sp>
      <p:sp>
        <p:nvSpPr>
          <p:cNvPr id="3" name="Text 0"/>
          <p:cNvSpPr/>
          <p:nvPr>
            <p:ph idx="100" type="title" hasCustomPrompt="1"/>
          </p:nvPr>
        </p:nvSpPr>
        <p:spPr>
          <a:xfrm>
            <a:off x="548640" y="457200"/>
            <a:ext cx="11091672" cy="868680"/>
          </a:xfrm>
          <a:prstGeom prst="rect">
            <a:avLst/>
          </a:prstGeom>
          <a:noFill/>
          <a:ln/>
        </p:spPr>
        <p:txBody>
          <a:bodyPr wrap="square" lIns="0" tIns="0" rIns="0" bIns="0" rtlCol="0" anchor="ctr"/>
          <a:lstStyle/>
          <a:p>
            <a:pPr indent="0" marL="0">
              <a:buNone/>
            </a:pPr>
            <a:r>
              <a:rPr lang="en-US" sz="3600" b="1" dirty="0">
                <a:solidFill>
                  <a:srgbClr val="17243F"/>
                </a:solidFill>
                <a:latin typeface="Cambria" pitchFamily="34" charset="0"/>
                <a:ea typeface="Cambria" pitchFamily="34" charset="-122"/>
                <a:cs typeface="Cambria" pitchFamily="34" charset="-120"/>
              </a:rPr>
              <a:t>Một ứng dụng web để luyện, chấm và theo dõi</a:t>
            </a:r>
            <a:endParaRPr lang="en-US" sz="3600" dirty="0"/>
          </a:p>
        </p:txBody>
      </p:sp>
      <p:sp>
        <p:nvSpPr>
          <p:cNvPr id="4" name="Shape 2"/>
          <p:cNvSpPr/>
          <p:nvPr/>
        </p:nvSpPr>
        <p:spPr>
          <a:xfrm>
            <a:off x="548640" y="1783080"/>
            <a:ext cx="658368" cy="658368"/>
          </a:xfrm>
          <a:prstGeom prst="ellipse">
            <a:avLst/>
          </a:prstGeom>
          <a:solidFill>
            <a:srgbClr val="DCE6FA"/>
          </a:solidFill>
          <a:ln w="19050">
            <a:solidFill>
              <a:srgbClr val="2F5FD0"/>
            </a:solidFill>
            <a:prstDash val="solid"/>
          </a:ln>
        </p:spPr>
      </p:sp>
      <p:pic>
        <p:nvPicPr>
          <p:cNvPr id="5" name="Image 0" descr="Ảnh chụp giao diện Siêu Sao Toán 4">    </p:cNvPr>
          <p:cNvPicPr>
            <a:picLocks noChangeAspect="1"/>
          </p:cNvPicPr>
          <p:nvPr/>
        </p:nvPicPr>
        <p:blipFill>
          <a:blip r:embed="rId1"/>
          <a:stretch>
            <a:fillRect/>
          </a:stretch>
        </p:blipFill>
        <p:spPr>
          <a:xfrm>
            <a:off x="713232" y="1947672"/>
            <a:ext cx="329184" cy="329184"/>
          </a:xfrm>
          <a:prstGeom prst="rect">
            <a:avLst/>
          </a:prstGeom>
        </p:spPr>
      </p:pic>
      <p:sp>
        <p:nvSpPr>
          <p:cNvPr id="6" name="Text 3"/>
          <p:cNvSpPr txBox="1"/>
          <p:nvPr/>
        </p:nvSpPr>
        <p:spPr>
          <a:xfrm>
            <a:off x="1444752" y="1764792"/>
            <a:ext cx="4498848" cy="347472"/>
          </a:xfrm>
          <a:prstGeom prst="rect">
            <a:avLst/>
          </a:prstGeom>
          <a:noFill/>
          <a:ln/>
        </p:spPr>
        <p:txBody>
          <a:bodyPr wrap="square" lIns="0" tIns="0" rIns="0" bIns="0" rtlCol="0" anchor="t"/>
          <a:lstStyle/>
          <a:p>
            <a:pPr algn="l" indent="0" marL="0">
              <a:buNone/>
            </a:pPr>
            <a:r>
              <a:rPr lang="en-US" sz="1800" b="1" dirty="0">
                <a:solidFill>
                  <a:srgbClr val="17243F"/>
                </a:solidFill>
                <a:latin typeface="Calibri" pitchFamily="34" charset="0"/>
                <a:ea typeface="Calibri" pitchFamily="34" charset="-122"/>
                <a:cs typeface="Calibri" pitchFamily="34" charset="-120"/>
              </a:rPr>
              <a:t>Học sinh luyện từng bài</a:t>
            </a:r>
            <a:endParaRPr lang="en-US" sz="1800" dirty="0"/>
          </a:p>
        </p:txBody>
      </p:sp>
      <p:sp>
        <p:nvSpPr>
          <p:cNvPr id="7" name="Text 4"/>
          <p:cNvSpPr txBox="1"/>
          <p:nvPr/>
        </p:nvSpPr>
        <p:spPr>
          <a:xfrm>
            <a:off x="1444752" y="2130552"/>
            <a:ext cx="4498848" cy="640080"/>
          </a:xfrm>
          <a:prstGeom prst="rect">
            <a:avLst/>
          </a:prstGeom>
          <a:noFill/>
          <a:ln/>
        </p:spPr>
        <p:txBody>
          <a:bodyPr wrap="square" lIns="0" tIns="0" rIns="0" bIns="0" rtlCol="0" anchor="t"/>
          <a:lstStyle/>
          <a:p>
            <a:pPr algn="l" indent="0" marL="0">
              <a:buNone/>
            </a:pPr>
            <a:r>
              <a:rPr lang="en-US" sz="1500" dirty="0">
                <a:solidFill>
                  <a:srgbClr val="4A5A78"/>
                </a:solidFill>
                <a:latin typeface="Calibri" pitchFamily="34" charset="0"/>
                <a:ea typeface="Calibri" pitchFamily="34" charset="-122"/>
                <a:cs typeface="Calibri" pitchFamily="34" charset="-120"/>
              </a:rPr>
              <a:t>Vào bằng tên và ngày sinh, mỗi lần làm 10 câu, được chấm và khen ngay.</a:t>
            </a:r>
            <a:endParaRPr lang="en-US" sz="1500" dirty="0"/>
          </a:p>
        </p:txBody>
      </p:sp>
      <p:sp>
        <p:nvSpPr>
          <p:cNvPr id="8" name="Shape 5"/>
          <p:cNvSpPr/>
          <p:nvPr/>
        </p:nvSpPr>
        <p:spPr>
          <a:xfrm>
            <a:off x="548640" y="3154680"/>
            <a:ext cx="658368" cy="658368"/>
          </a:xfrm>
          <a:prstGeom prst="ellipse">
            <a:avLst/>
          </a:prstGeom>
          <a:solidFill>
            <a:srgbClr val="FBDEDF"/>
          </a:solidFill>
          <a:ln w="19050">
            <a:solidFill>
              <a:srgbClr val="E4474D"/>
            </a:solidFill>
            <a:prstDash val="solid"/>
          </a:ln>
        </p:spPr>
      </p:sp>
      <p:pic>
        <p:nvPicPr>
          <p:cNvPr id="9" name="Image 1" descr="Ảnh chụp giao diện Siêu Sao Toán 4">    </p:cNvPr>
          <p:cNvPicPr>
            <a:picLocks noChangeAspect="1"/>
          </p:cNvPicPr>
          <p:nvPr/>
        </p:nvPicPr>
        <p:blipFill>
          <a:blip r:embed="rId2"/>
          <a:stretch>
            <a:fillRect/>
          </a:stretch>
        </p:blipFill>
        <p:spPr>
          <a:xfrm>
            <a:off x="713232" y="3319272"/>
            <a:ext cx="329184" cy="329184"/>
          </a:xfrm>
          <a:prstGeom prst="rect">
            <a:avLst/>
          </a:prstGeom>
        </p:spPr>
      </p:pic>
      <p:sp>
        <p:nvSpPr>
          <p:cNvPr id="10" name="Text 6"/>
          <p:cNvSpPr txBox="1"/>
          <p:nvPr/>
        </p:nvSpPr>
        <p:spPr>
          <a:xfrm>
            <a:off x="1444752" y="3136392"/>
            <a:ext cx="4498848" cy="347472"/>
          </a:xfrm>
          <a:prstGeom prst="rect">
            <a:avLst/>
          </a:prstGeom>
          <a:noFill/>
          <a:ln/>
        </p:spPr>
        <p:txBody>
          <a:bodyPr wrap="square" lIns="0" tIns="0" rIns="0" bIns="0" rtlCol="0" anchor="t"/>
          <a:lstStyle/>
          <a:p>
            <a:pPr algn="l" indent="0" marL="0">
              <a:buNone/>
            </a:pPr>
            <a:r>
              <a:rPr lang="en-US" sz="1800" b="1" dirty="0">
                <a:solidFill>
                  <a:srgbClr val="17243F"/>
                </a:solidFill>
                <a:latin typeface="Calibri" pitchFamily="34" charset="0"/>
                <a:ea typeface="Calibri" pitchFamily="34" charset="-122"/>
                <a:cs typeface="Calibri" pitchFamily="34" charset="-120"/>
              </a:rPr>
              <a:t>Giáo viên xem kết quả</a:t>
            </a:r>
            <a:endParaRPr lang="en-US" sz="1800" dirty="0"/>
          </a:p>
        </p:txBody>
      </p:sp>
      <p:sp>
        <p:nvSpPr>
          <p:cNvPr id="11" name="Text 7"/>
          <p:cNvSpPr txBox="1"/>
          <p:nvPr/>
        </p:nvSpPr>
        <p:spPr>
          <a:xfrm>
            <a:off x="1444752" y="3502152"/>
            <a:ext cx="4498848" cy="640080"/>
          </a:xfrm>
          <a:prstGeom prst="rect">
            <a:avLst/>
          </a:prstGeom>
          <a:noFill/>
          <a:ln/>
        </p:spPr>
        <p:txBody>
          <a:bodyPr wrap="square" lIns="0" tIns="0" rIns="0" bIns="0" rtlCol="0" anchor="t"/>
          <a:lstStyle/>
          <a:p>
            <a:pPr algn="l" indent="0" marL="0">
              <a:buNone/>
            </a:pPr>
            <a:r>
              <a:rPr lang="en-US" sz="1500" dirty="0">
                <a:solidFill>
                  <a:srgbClr val="4A5A78"/>
                </a:solidFill>
                <a:latin typeface="Calibri" pitchFamily="34" charset="0"/>
                <a:ea typeface="Calibri" pitchFamily="34" charset="-122"/>
                <a:cs typeface="Calibri" pitchFamily="34" charset="-120"/>
              </a:rPr>
              <a:t>Điểm cả lớp, từng lượt làm, từng câu trả lời nằm trên một trang quản lý.</a:t>
            </a:r>
            <a:endParaRPr lang="en-US" sz="1500" dirty="0"/>
          </a:p>
        </p:txBody>
      </p:sp>
      <p:sp>
        <p:nvSpPr>
          <p:cNvPr id="12" name="Shape 8"/>
          <p:cNvSpPr/>
          <p:nvPr/>
        </p:nvSpPr>
        <p:spPr>
          <a:xfrm>
            <a:off x="548640" y="4526280"/>
            <a:ext cx="658368" cy="658368"/>
          </a:xfrm>
          <a:prstGeom prst="ellipse">
            <a:avLst/>
          </a:prstGeom>
          <a:solidFill>
            <a:srgbClr val="D9F2E6"/>
          </a:solidFill>
          <a:ln w="19050">
            <a:solidFill>
              <a:srgbClr val="1F9D62"/>
            </a:solidFill>
            <a:prstDash val="solid"/>
          </a:ln>
        </p:spPr>
      </p:sp>
      <p:pic>
        <p:nvPicPr>
          <p:cNvPr id="13" name="Image 2" descr="Ảnh chụp giao diện Siêu Sao Toán 4">    </p:cNvPr>
          <p:cNvPicPr>
            <a:picLocks noChangeAspect="1"/>
          </p:cNvPicPr>
          <p:nvPr/>
        </p:nvPicPr>
        <p:blipFill>
          <a:blip r:embed="rId3"/>
          <a:stretch>
            <a:fillRect/>
          </a:stretch>
        </p:blipFill>
        <p:spPr>
          <a:xfrm>
            <a:off x="713232" y="4690872"/>
            <a:ext cx="329184" cy="329184"/>
          </a:xfrm>
          <a:prstGeom prst="rect">
            <a:avLst/>
          </a:prstGeom>
        </p:spPr>
      </p:pic>
      <p:sp>
        <p:nvSpPr>
          <p:cNvPr id="14" name="Text 9"/>
          <p:cNvSpPr txBox="1"/>
          <p:nvPr/>
        </p:nvSpPr>
        <p:spPr>
          <a:xfrm>
            <a:off x="1444752" y="4507992"/>
            <a:ext cx="4498848" cy="347472"/>
          </a:xfrm>
          <a:prstGeom prst="rect">
            <a:avLst/>
          </a:prstGeom>
          <a:noFill/>
          <a:ln/>
        </p:spPr>
        <p:txBody>
          <a:bodyPr wrap="square" lIns="0" tIns="0" rIns="0" bIns="0" rtlCol="0" anchor="t"/>
          <a:lstStyle/>
          <a:p>
            <a:pPr algn="l" indent="0" marL="0">
              <a:buNone/>
            </a:pPr>
            <a:r>
              <a:rPr lang="en-US" sz="1800" b="1" dirty="0">
                <a:solidFill>
                  <a:srgbClr val="17243F"/>
                </a:solidFill>
                <a:latin typeface="Calibri" pitchFamily="34" charset="0"/>
                <a:ea typeface="Calibri" pitchFamily="34" charset="-122"/>
                <a:cs typeface="Calibri" pitchFamily="34" charset="-120"/>
              </a:rPr>
              <a:t>Chạy trên trình duyệt</a:t>
            </a:r>
            <a:endParaRPr lang="en-US" sz="1800" dirty="0"/>
          </a:p>
        </p:txBody>
      </p:sp>
      <p:sp>
        <p:nvSpPr>
          <p:cNvPr id="15" name="Text 10"/>
          <p:cNvSpPr txBox="1"/>
          <p:nvPr/>
        </p:nvSpPr>
        <p:spPr>
          <a:xfrm>
            <a:off x="1444752" y="4873752"/>
            <a:ext cx="4498848" cy="640080"/>
          </a:xfrm>
          <a:prstGeom prst="rect">
            <a:avLst/>
          </a:prstGeom>
          <a:noFill/>
          <a:ln/>
        </p:spPr>
        <p:txBody>
          <a:bodyPr wrap="square" lIns="0" tIns="0" rIns="0" bIns="0" rtlCol="0" anchor="t"/>
          <a:lstStyle/>
          <a:p>
            <a:pPr algn="l" indent="0" marL="0">
              <a:buNone/>
            </a:pPr>
            <a:r>
              <a:rPr lang="en-US" sz="1500" dirty="0">
                <a:solidFill>
                  <a:srgbClr val="4A5A78"/>
                </a:solidFill>
                <a:latin typeface="Calibri" pitchFamily="34" charset="0"/>
                <a:ea typeface="Calibri" pitchFamily="34" charset="-122"/>
                <a:cs typeface="Calibri" pitchFamily="34" charset="-120"/>
              </a:rPr>
              <a:t>Không cần cài đặt. Dùng được trên điện thoại, máy tính bảng và máy tính.</a:t>
            </a:r>
            <a:endParaRPr lang="en-US" sz="1500" dirty="0"/>
          </a:p>
        </p:txBody>
      </p:sp>
      <p:sp>
        <p:nvSpPr>
          <p:cNvPr id="16" name="Shape 11"/>
          <p:cNvSpPr/>
          <p:nvPr/>
        </p:nvSpPr>
        <p:spPr>
          <a:xfrm>
            <a:off x="6419088" y="1755648"/>
            <a:ext cx="2560320" cy="2103120"/>
          </a:xfrm>
          <a:prstGeom prst="roundRect">
            <a:avLst>
              <a:gd name="adj" fmla="val 6957"/>
            </a:avLst>
          </a:prstGeom>
          <a:solidFill>
            <a:srgbClr val="17243F"/>
          </a:solidFill>
          <a:ln/>
        </p:spPr>
      </p:sp>
      <p:sp>
        <p:nvSpPr>
          <p:cNvPr id="17" name="Shape 12"/>
          <p:cNvSpPr/>
          <p:nvPr/>
        </p:nvSpPr>
        <p:spPr>
          <a:xfrm>
            <a:off x="6355080" y="1691640"/>
            <a:ext cx="2560320" cy="2103120"/>
          </a:xfrm>
          <a:prstGeom prst="roundRect">
            <a:avLst>
              <a:gd name="adj" fmla="val 6957"/>
            </a:avLst>
          </a:prstGeom>
          <a:solidFill>
            <a:srgbClr val="FFFFFF"/>
          </a:solidFill>
          <a:ln w="22225">
            <a:solidFill>
              <a:srgbClr val="17243F"/>
            </a:solidFill>
            <a:prstDash val="solid"/>
          </a:ln>
        </p:spPr>
      </p:sp>
      <p:sp>
        <p:nvSpPr>
          <p:cNvPr id="18" name="Text 13"/>
          <p:cNvSpPr txBox="1"/>
          <p:nvPr/>
        </p:nvSpPr>
        <p:spPr>
          <a:xfrm>
            <a:off x="6537960" y="1920240"/>
            <a:ext cx="2194560" cy="914400"/>
          </a:xfrm>
          <a:prstGeom prst="rect">
            <a:avLst/>
          </a:prstGeom>
          <a:noFill/>
          <a:ln/>
        </p:spPr>
        <p:txBody>
          <a:bodyPr wrap="square" lIns="0" tIns="0" rIns="0" bIns="0" rtlCol="0" anchor="ctr"/>
          <a:lstStyle/>
          <a:p>
            <a:pPr algn="l" indent="0" marL="0">
              <a:buNone/>
            </a:pPr>
            <a:r>
              <a:rPr lang="en-US" sz="4800" b="1" dirty="0">
                <a:solidFill>
                  <a:srgbClr val="2F5FD0"/>
                </a:solidFill>
                <a:latin typeface="Cambria" pitchFamily="34" charset="0"/>
                <a:ea typeface="Cambria" pitchFamily="34" charset="-122"/>
                <a:cs typeface="Cambria" pitchFamily="34" charset="-120"/>
              </a:rPr>
              <a:t>73</a:t>
            </a:r>
            <a:endParaRPr lang="en-US" sz="4800" dirty="0"/>
          </a:p>
        </p:txBody>
      </p:sp>
      <p:sp>
        <p:nvSpPr>
          <p:cNvPr id="19" name="Text 14"/>
          <p:cNvSpPr txBox="1"/>
          <p:nvPr/>
        </p:nvSpPr>
        <p:spPr>
          <a:xfrm>
            <a:off x="6537960" y="2880360"/>
            <a:ext cx="2194560" cy="777240"/>
          </a:xfrm>
          <a:prstGeom prst="rect">
            <a:avLst/>
          </a:prstGeom>
          <a:noFill/>
          <a:ln/>
        </p:spPr>
        <p:txBody>
          <a:bodyPr wrap="square" lIns="0" tIns="0" rIns="0" bIns="0" rtlCol="0" anchor="t"/>
          <a:lstStyle/>
          <a:p>
            <a:pPr algn="l" indent="0" marL="0">
              <a:buNone/>
            </a:pPr>
            <a:r>
              <a:rPr lang="en-US" sz="1600" dirty="0">
                <a:solidFill>
                  <a:srgbClr val="4A5A78"/>
                </a:solidFill>
                <a:latin typeface="Calibri" pitchFamily="34" charset="0"/>
                <a:ea typeface="Calibri" pitchFamily="34" charset="-122"/>
                <a:cs typeface="Calibri" pitchFamily="34" charset="-120"/>
              </a:rPr>
              <a:t>bài học theo sách giáo khoa</a:t>
            </a:r>
            <a:endParaRPr lang="en-US" sz="1600" dirty="0"/>
          </a:p>
        </p:txBody>
      </p:sp>
      <p:sp>
        <p:nvSpPr>
          <p:cNvPr id="20" name="Shape 15"/>
          <p:cNvSpPr/>
          <p:nvPr/>
        </p:nvSpPr>
        <p:spPr>
          <a:xfrm>
            <a:off x="9162288" y="1755648"/>
            <a:ext cx="2560320" cy="2103120"/>
          </a:xfrm>
          <a:prstGeom prst="roundRect">
            <a:avLst>
              <a:gd name="adj" fmla="val 6957"/>
            </a:avLst>
          </a:prstGeom>
          <a:solidFill>
            <a:srgbClr val="17243F"/>
          </a:solidFill>
          <a:ln/>
        </p:spPr>
      </p:sp>
      <p:sp>
        <p:nvSpPr>
          <p:cNvPr id="21" name="Shape 16"/>
          <p:cNvSpPr/>
          <p:nvPr/>
        </p:nvSpPr>
        <p:spPr>
          <a:xfrm>
            <a:off x="9098280" y="1691640"/>
            <a:ext cx="2560320" cy="2103120"/>
          </a:xfrm>
          <a:prstGeom prst="roundRect">
            <a:avLst>
              <a:gd name="adj" fmla="val 6957"/>
            </a:avLst>
          </a:prstGeom>
          <a:solidFill>
            <a:srgbClr val="FFFFFF"/>
          </a:solidFill>
          <a:ln w="22225">
            <a:solidFill>
              <a:srgbClr val="17243F"/>
            </a:solidFill>
            <a:prstDash val="solid"/>
          </a:ln>
        </p:spPr>
      </p:sp>
      <p:sp>
        <p:nvSpPr>
          <p:cNvPr id="22" name="Text 17"/>
          <p:cNvSpPr txBox="1"/>
          <p:nvPr/>
        </p:nvSpPr>
        <p:spPr>
          <a:xfrm>
            <a:off x="9281160" y="1920240"/>
            <a:ext cx="2194560" cy="914400"/>
          </a:xfrm>
          <a:prstGeom prst="rect">
            <a:avLst/>
          </a:prstGeom>
          <a:noFill/>
          <a:ln/>
        </p:spPr>
        <p:txBody>
          <a:bodyPr wrap="square" lIns="0" tIns="0" rIns="0" bIns="0" rtlCol="0" anchor="ctr"/>
          <a:lstStyle/>
          <a:p>
            <a:pPr algn="l" indent="0" marL="0">
              <a:buNone/>
            </a:pPr>
            <a:r>
              <a:rPr lang="en-US" sz="4800" b="1" dirty="0">
                <a:solidFill>
                  <a:srgbClr val="E4474D"/>
                </a:solidFill>
                <a:latin typeface="Cambria" pitchFamily="34" charset="0"/>
                <a:ea typeface="Cambria" pitchFamily="34" charset="-122"/>
                <a:cs typeface="Cambria" pitchFamily="34" charset="-120"/>
              </a:rPr>
              <a:t>1 356</a:t>
            </a:r>
            <a:endParaRPr lang="en-US" sz="4800" dirty="0"/>
          </a:p>
        </p:txBody>
      </p:sp>
      <p:sp>
        <p:nvSpPr>
          <p:cNvPr id="23" name="Text 18"/>
          <p:cNvSpPr txBox="1"/>
          <p:nvPr/>
        </p:nvSpPr>
        <p:spPr>
          <a:xfrm>
            <a:off x="9281160" y="2880360"/>
            <a:ext cx="2194560" cy="777240"/>
          </a:xfrm>
          <a:prstGeom prst="rect">
            <a:avLst/>
          </a:prstGeom>
          <a:noFill/>
          <a:ln/>
        </p:spPr>
        <p:txBody>
          <a:bodyPr wrap="square" lIns="0" tIns="0" rIns="0" bIns="0" rtlCol="0" anchor="t"/>
          <a:lstStyle/>
          <a:p>
            <a:pPr algn="l" indent="0" marL="0">
              <a:buNone/>
            </a:pPr>
            <a:r>
              <a:rPr lang="en-US" sz="1600" dirty="0">
                <a:solidFill>
                  <a:srgbClr val="4A5A78"/>
                </a:solidFill>
                <a:latin typeface="Calibri" pitchFamily="34" charset="0"/>
                <a:ea typeface="Calibri" pitchFamily="34" charset="-122"/>
                <a:cs typeface="Calibri" pitchFamily="34" charset="-120"/>
              </a:rPr>
              <a:t>câu hỏi: 973 cơ bản và 383 nâng cao</a:t>
            </a:r>
            <a:endParaRPr lang="en-US" sz="1600" dirty="0"/>
          </a:p>
        </p:txBody>
      </p:sp>
      <p:sp>
        <p:nvSpPr>
          <p:cNvPr id="24" name="Shape 19"/>
          <p:cNvSpPr/>
          <p:nvPr/>
        </p:nvSpPr>
        <p:spPr>
          <a:xfrm>
            <a:off x="6419088" y="4087368"/>
            <a:ext cx="2560320" cy="2103120"/>
          </a:xfrm>
          <a:prstGeom prst="roundRect">
            <a:avLst>
              <a:gd name="adj" fmla="val 6957"/>
            </a:avLst>
          </a:prstGeom>
          <a:solidFill>
            <a:srgbClr val="17243F"/>
          </a:solidFill>
          <a:ln/>
        </p:spPr>
      </p:sp>
      <p:sp>
        <p:nvSpPr>
          <p:cNvPr id="25" name="Shape 20"/>
          <p:cNvSpPr/>
          <p:nvPr/>
        </p:nvSpPr>
        <p:spPr>
          <a:xfrm>
            <a:off x="6355080" y="4023360"/>
            <a:ext cx="2560320" cy="2103120"/>
          </a:xfrm>
          <a:prstGeom prst="roundRect">
            <a:avLst>
              <a:gd name="adj" fmla="val 6957"/>
            </a:avLst>
          </a:prstGeom>
          <a:solidFill>
            <a:srgbClr val="FFFFFF"/>
          </a:solidFill>
          <a:ln w="22225">
            <a:solidFill>
              <a:srgbClr val="17243F"/>
            </a:solidFill>
            <a:prstDash val="solid"/>
          </a:ln>
        </p:spPr>
      </p:sp>
      <p:sp>
        <p:nvSpPr>
          <p:cNvPr id="26" name="Text 21"/>
          <p:cNvSpPr txBox="1"/>
          <p:nvPr/>
        </p:nvSpPr>
        <p:spPr>
          <a:xfrm>
            <a:off x="6537960" y="4251960"/>
            <a:ext cx="2194560" cy="914400"/>
          </a:xfrm>
          <a:prstGeom prst="rect">
            <a:avLst/>
          </a:prstGeom>
          <a:noFill/>
          <a:ln/>
        </p:spPr>
        <p:txBody>
          <a:bodyPr wrap="square" lIns="0" tIns="0" rIns="0" bIns="0" rtlCol="0" anchor="ctr"/>
          <a:lstStyle/>
          <a:p>
            <a:pPr algn="l" indent="0" marL="0">
              <a:buNone/>
            </a:pPr>
            <a:r>
              <a:rPr lang="en-US" sz="4800" b="1" dirty="0">
                <a:solidFill>
                  <a:srgbClr val="1F9D62"/>
                </a:solidFill>
                <a:latin typeface="Cambria" pitchFamily="34" charset="0"/>
                <a:ea typeface="Cambria" pitchFamily="34" charset="-122"/>
                <a:cs typeface="Cambria" pitchFamily="34" charset="-120"/>
              </a:rPr>
              <a:t>13</a:t>
            </a:r>
            <a:endParaRPr lang="en-US" sz="4800" dirty="0"/>
          </a:p>
        </p:txBody>
      </p:sp>
      <p:sp>
        <p:nvSpPr>
          <p:cNvPr id="27" name="Text 22"/>
          <p:cNvSpPr txBox="1"/>
          <p:nvPr/>
        </p:nvSpPr>
        <p:spPr>
          <a:xfrm>
            <a:off x="6537960" y="5212080"/>
            <a:ext cx="2194560" cy="777240"/>
          </a:xfrm>
          <a:prstGeom prst="rect">
            <a:avLst/>
          </a:prstGeom>
          <a:noFill/>
          <a:ln/>
        </p:spPr>
        <p:txBody>
          <a:bodyPr wrap="square" lIns="0" tIns="0" rIns="0" bIns="0" rtlCol="0" anchor="t"/>
          <a:lstStyle/>
          <a:p>
            <a:pPr algn="l" indent="0" marL="0">
              <a:buNone/>
            </a:pPr>
            <a:r>
              <a:rPr lang="en-US" sz="1600" dirty="0">
                <a:solidFill>
                  <a:srgbClr val="4A5A78"/>
                </a:solidFill>
                <a:latin typeface="Calibri" pitchFamily="34" charset="0"/>
                <a:ea typeface="Calibri" pitchFamily="34" charset="-122"/>
                <a:cs typeface="Calibri" pitchFamily="34" charset="-120"/>
              </a:rPr>
              <a:t>chủ đề của hai tập sách</a:t>
            </a:r>
            <a:endParaRPr lang="en-US" sz="1600" dirty="0"/>
          </a:p>
        </p:txBody>
      </p:sp>
      <p:sp>
        <p:nvSpPr>
          <p:cNvPr id="28" name="Shape 23"/>
          <p:cNvSpPr/>
          <p:nvPr/>
        </p:nvSpPr>
        <p:spPr>
          <a:xfrm>
            <a:off x="9162288" y="4087368"/>
            <a:ext cx="2560320" cy="2103120"/>
          </a:xfrm>
          <a:prstGeom prst="roundRect">
            <a:avLst>
              <a:gd name="adj" fmla="val 6957"/>
            </a:avLst>
          </a:prstGeom>
          <a:solidFill>
            <a:srgbClr val="17243F"/>
          </a:solidFill>
          <a:ln/>
        </p:spPr>
      </p:sp>
      <p:sp>
        <p:nvSpPr>
          <p:cNvPr id="29" name="Shape 24"/>
          <p:cNvSpPr/>
          <p:nvPr/>
        </p:nvSpPr>
        <p:spPr>
          <a:xfrm>
            <a:off x="9098280" y="4023360"/>
            <a:ext cx="2560320" cy="2103120"/>
          </a:xfrm>
          <a:prstGeom prst="roundRect">
            <a:avLst>
              <a:gd name="adj" fmla="val 6957"/>
            </a:avLst>
          </a:prstGeom>
          <a:solidFill>
            <a:srgbClr val="FFFFFF"/>
          </a:solidFill>
          <a:ln w="22225">
            <a:solidFill>
              <a:srgbClr val="17243F"/>
            </a:solidFill>
            <a:prstDash val="solid"/>
          </a:ln>
        </p:spPr>
      </p:sp>
      <p:sp>
        <p:nvSpPr>
          <p:cNvPr id="30" name="Text 25"/>
          <p:cNvSpPr txBox="1"/>
          <p:nvPr/>
        </p:nvSpPr>
        <p:spPr>
          <a:xfrm>
            <a:off x="9281160" y="4251960"/>
            <a:ext cx="2194560" cy="914400"/>
          </a:xfrm>
          <a:prstGeom prst="rect">
            <a:avLst/>
          </a:prstGeom>
          <a:noFill/>
          <a:ln/>
        </p:spPr>
        <p:txBody>
          <a:bodyPr wrap="square" lIns="0" tIns="0" rIns="0" bIns="0" rtlCol="0" anchor="ctr"/>
          <a:lstStyle/>
          <a:p>
            <a:pPr algn="l" indent="0" marL="0">
              <a:buNone/>
            </a:pPr>
            <a:r>
              <a:rPr lang="en-US" sz="4800" b="1" dirty="0">
                <a:solidFill>
                  <a:srgbClr val="7A5BD0"/>
                </a:solidFill>
                <a:latin typeface="Cambria" pitchFamily="34" charset="0"/>
                <a:ea typeface="Cambria" pitchFamily="34" charset="-122"/>
                <a:cs typeface="Cambria" pitchFamily="34" charset="-120"/>
              </a:rPr>
              <a:t>10 + 5</a:t>
            </a:r>
            <a:endParaRPr lang="en-US" sz="4800" dirty="0"/>
          </a:p>
        </p:txBody>
      </p:sp>
      <p:sp>
        <p:nvSpPr>
          <p:cNvPr id="31" name="Text 26"/>
          <p:cNvSpPr txBox="1"/>
          <p:nvPr/>
        </p:nvSpPr>
        <p:spPr>
          <a:xfrm>
            <a:off x="9281160" y="5212080"/>
            <a:ext cx="2194560" cy="777240"/>
          </a:xfrm>
          <a:prstGeom prst="rect">
            <a:avLst/>
          </a:prstGeom>
          <a:noFill/>
          <a:ln/>
        </p:spPr>
        <p:txBody>
          <a:bodyPr wrap="square" lIns="0" tIns="0" rIns="0" bIns="0" rtlCol="0" anchor="t"/>
          <a:lstStyle/>
          <a:p>
            <a:pPr algn="l" indent="0" marL="0">
              <a:buNone/>
            </a:pPr>
            <a:r>
              <a:rPr lang="en-US" sz="1600" dirty="0">
                <a:solidFill>
                  <a:srgbClr val="4A5A78"/>
                </a:solidFill>
                <a:latin typeface="Calibri" pitchFamily="34" charset="0"/>
                <a:ea typeface="Calibri" pitchFamily="34" charset="-122"/>
                <a:cs typeface="Calibri" pitchFamily="34" charset="-120"/>
              </a:rPr>
              <a:t>câu mỗi lần làm: 10 cơ bản, 5 thử thách</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9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46888"/>
            <a:ext cx="8229600" cy="274320"/>
          </a:xfrm>
          <a:prstGeom prst="rect">
            <a:avLst/>
          </a:prstGeom>
          <a:noFill/>
          <a:ln/>
        </p:spPr>
        <p:txBody>
          <a:bodyPr wrap="square" lIns="0" tIns="0" rIns="0" bIns="0" rtlCol="0" anchor="t"/>
          <a:lstStyle/>
          <a:p>
            <a:pPr algn="l" indent="0" marL="0">
              <a:buNone/>
            </a:pPr>
            <a:r>
              <a:rPr lang="en-US" sz="1400" b="1" dirty="0">
                <a:solidFill>
                  <a:srgbClr val="2F5FD0"/>
                </a:solidFill>
                <a:latin typeface="Calibri" pitchFamily="34" charset="0"/>
                <a:ea typeface="Calibri" pitchFamily="34" charset="-122"/>
                <a:cs typeface="Calibri" pitchFamily="34" charset="-120"/>
              </a:rPr>
              <a:t>2 · Ý tưởng, giải pháp và công cụ AI</a:t>
            </a:r>
            <a:endParaRPr lang="en-US" sz="1400" dirty="0"/>
          </a:p>
        </p:txBody>
      </p:sp>
      <p:sp>
        <p:nvSpPr>
          <p:cNvPr id="3" name="Text 0"/>
          <p:cNvSpPr/>
          <p:nvPr>
            <p:ph idx="100" type="title" hasCustomPrompt="1"/>
          </p:nvPr>
        </p:nvSpPr>
        <p:spPr>
          <a:xfrm>
            <a:off x="548640" y="457200"/>
            <a:ext cx="11091672" cy="868680"/>
          </a:xfrm>
          <a:prstGeom prst="rect">
            <a:avLst/>
          </a:prstGeom>
          <a:noFill/>
          <a:ln/>
        </p:spPr>
        <p:txBody>
          <a:bodyPr wrap="square" lIns="0" tIns="0" rIns="0" bIns="0" rtlCol="0" anchor="ctr"/>
          <a:lstStyle/>
          <a:p>
            <a:pPr indent="0" marL="0">
              <a:buNone/>
            </a:pPr>
            <a:r>
              <a:rPr lang="en-US" sz="3600" b="1" dirty="0">
                <a:solidFill>
                  <a:srgbClr val="17243F"/>
                </a:solidFill>
                <a:latin typeface="Cambria" pitchFamily="34" charset="0"/>
                <a:ea typeface="Cambria" pitchFamily="34" charset="-122"/>
                <a:cs typeface="Cambria" pitchFamily="34" charset="-120"/>
              </a:rPr>
              <a:t>Một lượt học chỉ có bốn bước</a:t>
            </a:r>
            <a:endParaRPr lang="en-US" sz="3600" dirty="0"/>
          </a:p>
        </p:txBody>
      </p:sp>
      <p:sp>
        <p:nvSpPr>
          <p:cNvPr id="4" name="Shape 2"/>
          <p:cNvSpPr/>
          <p:nvPr/>
        </p:nvSpPr>
        <p:spPr>
          <a:xfrm>
            <a:off x="612648" y="1572768"/>
            <a:ext cx="2606040" cy="1874520"/>
          </a:xfrm>
          <a:prstGeom prst="roundRect">
            <a:avLst>
              <a:gd name="adj" fmla="val 7805"/>
            </a:avLst>
          </a:prstGeom>
          <a:solidFill>
            <a:srgbClr val="17243F"/>
          </a:solidFill>
          <a:ln/>
        </p:spPr>
      </p:sp>
      <p:sp>
        <p:nvSpPr>
          <p:cNvPr id="5" name="Shape 3"/>
          <p:cNvSpPr/>
          <p:nvPr/>
        </p:nvSpPr>
        <p:spPr>
          <a:xfrm>
            <a:off x="548640" y="1508760"/>
            <a:ext cx="2606040" cy="1874520"/>
          </a:xfrm>
          <a:prstGeom prst="roundRect">
            <a:avLst>
              <a:gd name="adj" fmla="val 7805"/>
            </a:avLst>
          </a:prstGeom>
          <a:solidFill>
            <a:srgbClr val="FFFFFF"/>
          </a:solidFill>
          <a:ln w="22225">
            <a:solidFill>
              <a:srgbClr val="17243F"/>
            </a:solidFill>
            <a:prstDash val="solid"/>
          </a:ln>
        </p:spPr>
      </p:sp>
      <p:sp>
        <p:nvSpPr>
          <p:cNvPr id="6" name="Shape 4"/>
          <p:cNvSpPr/>
          <p:nvPr/>
        </p:nvSpPr>
        <p:spPr>
          <a:xfrm>
            <a:off x="749808" y="1691640"/>
            <a:ext cx="566928" cy="566928"/>
          </a:xfrm>
          <a:prstGeom prst="ellipse">
            <a:avLst/>
          </a:prstGeom>
          <a:solidFill>
            <a:srgbClr val="DCE6FA"/>
          </a:solidFill>
          <a:ln w="19050">
            <a:solidFill>
              <a:srgbClr val="2F5FD0"/>
            </a:solidFill>
            <a:prstDash val="solid"/>
          </a:ln>
        </p:spPr>
      </p:sp>
      <p:pic>
        <p:nvPicPr>
          <p:cNvPr id="7" name="Image 0" descr="Ảnh chụp giao diện Siêu Sao Toán 4">    </p:cNvPr>
          <p:cNvPicPr>
            <a:picLocks noChangeAspect="1"/>
          </p:cNvPicPr>
          <p:nvPr/>
        </p:nvPicPr>
        <p:blipFill>
          <a:blip r:embed="rId1"/>
          <a:stretch>
            <a:fillRect/>
          </a:stretch>
        </p:blipFill>
        <p:spPr>
          <a:xfrm>
            <a:off x="891540" y="1833372"/>
            <a:ext cx="283464" cy="283464"/>
          </a:xfrm>
          <a:prstGeom prst="rect">
            <a:avLst/>
          </a:prstGeom>
        </p:spPr>
      </p:pic>
      <p:sp>
        <p:nvSpPr>
          <p:cNvPr id="8" name="Text 5"/>
          <p:cNvSpPr txBox="1"/>
          <p:nvPr/>
        </p:nvSpPr>
        <p:spPr>
          <a:xfrm>
            <a:off x="2423160" y="1645920"/>
            <a:ext cx="548640" cy="548640"/>
          </a:xfrm>
          <a:prstGeom prst="rect">
            <a:avLst/>
          </a:prstGeom>
          <a:noFill/>
          <a:ln/>
        </p:spPr>
        <p:txBody>
          <a:bodyPr wrap="square" lIns="0" tIns="0" rIns="0" bIns="0" rtlCol="0" anchor="t"/>
          <a:lstStyle/>
          <a:p>
            <a:pPr algn="r" indent="0" marL="0">
              <a:buNone/>
            </a:pPr>
            <a:r>
              <a:rPr lang="en-US" sz="3000" b="1" dirty="0">
                <a:solidFill>
                  <a:srgbClr val="4A5A78"/>
                </a:solidFill>
                <a:latin typeface="Cambria" pitchFamily="34" charset="0"/>
                <a:ea typeface="Cambria" pitchFamily="34" charset="-122"/>
                <a:cs typeface="Cambria" pitchFamily="34" charset="-120"/>
              </a:rPr>
              <a:t>1</a:t>
            </a:r>
            <a:endParaRPr lang="en-US" sz="3000" dirty="0"/>
          </a:p>
        </p:txBody>
      </p:sp>
      <p:sp>
        <p:nvSpPr>
          <p:cNvPr id="9" name="Text 6"/>
          <p:cNvSpPr txBox="1"/>
          <p:nvPr/>
        </p:nvSpPr>
        <p:spPr>
          <a:xfrm>
            <a:off x="749808" y="2395728"/>
            <a:ext cx="2240280" cy="365760"/>
          </a:xfrm>
          <a:prstGeom prst="rect">
            <a:avLst/>
          </a:prstGeom>
          <a:noFill/>
          <a:ln/>
        </p:spPr>
        <p:txBody>
          <a:bodyPr wrap="square" lIns="0" tIns="0" rIns="0" bIns="0" rtlCol="0" anchor="t"/>
          <a:lstStyle/>
          <a:p>
            <a:pPr algn="l" indent="0" marL="0">
              <a:buNone/>
            </a:pPr>
            <a:r>
              <a:rPr lang="en-US" sz="1900" b="1" dirty="0">
                <a:solidFill>
                  <a:srgbClr val="17243F"/>
                </a:solidFill>
                <a:latin typeface="Calibri" pitchFamily="34" charset="0"/>
                <a:ea typeface="Calibri" pitchFamily="34" charset="-122"/>
                <a:cs typeface="Calibri" pitchFamily="34" charset="-120"/>
              </a:rPr>
              <a:t>Vào lớp</a:t>
            </a:r>
            <a:endParaRPr lang="en-US" sz="1900" dirty="0"/>
          </a:p>
        </p:txBody>
      </p:sp>
      <p:sp>
        <p:nvSpPr>
          <p:cNvPr id="10" name="Text 7"/>
          <p:cNvSpPr txBox="1"/>
          <p:nvPr/>
        </p:nvSpPr>
        <p:spPr>
          <a:xfrm>
            <a:off x="749808" y="2761488"/>
            <a:ext cx="2240280" cy="54864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Nhập họ tên và chọn ngày sinh.</a:t>
            </a:r>
            <a:endParaRPr lang="en-US" sz="1400" dirty="0"/>
          </a:p>
        </p:txBody>
      </p:sp>
      <p:pic>
        <p:nvPicPr>
          <p:cNvPr id="11" name="Image 1" descr="Ảnh chụp giao diện Siêu Sao Toán 4">    </p:cNvPr>
          <p:cNvPicPr>
            <a:picLocks noChangeAspect="1"/>
          </p:cNvPicPr>
          <p:nvPr/>
        </p:nvPicPr>
        <p:blipFill>
          <a:blip r:embed="rId2"/>
          <a:stretch>
            <a:fillRect/>
          </a:stretch>
        </p:blipFill>
        <p:spPr>
          <a:xfrm>
            <a:off x="3182112" y="2331720"/>
            <a:ext cx="155448" cy="155448"/>
          </a:xfrm>
          <a:prstGeom prst="rect">
            <a:avLst/>
          </a:prstGeom>
        </p:spPr>
      </p:pic>
      <p:sp>
        <p:nvSpPr>
          <p:cNvPr id="12" name="Shape 8"/>
          <p:cNvSpPr/>
          <p:nvPr/>
        </p:nvSpPr>
        <p:spPr>
          <a:xfrm>
            <a:off x="3438144" y="1572768"/>
            <a:ext cx="2606040" cy="1874520"/>
          </a:xfrm>
          <a:prstGeom prst="roundRect">
            <a:avLst>
              <a:gd name="adj" fmla="val 7805"/>
            </a:avLst>
          </a:prstGeom>
          <a:solidFill>
            <a:srgbClr val="17243F"/>
          </a:solidFill>
          <a:ln/>
        </p:spPr>
      </p:sp>
      <p:sp>
        <p:nvSpPr>
          <p:cNvPr id="13" name="Shape 9"/>
          <p:cNvSpPr/>
          <p:nvPr/>
        </p:nvSpPr>
        <p:spPr>
          <a:xfrm>
            <a:off x="3374136" y="1508760"/>
            <a:ext cx="2606040" cy="1874520"/>
          </a:xfrm>
          <a:prstGeom prst="roundRect">
            <a:avLst>
              <a:gd name="adj" fmla="val 7805"/>
            </a:avLst>
          </a:prstGeom>
          <a:solidFill>
            <a:srgbClr val="FFFFFF"/>
          </a:solidFill>
          <a:ln w="22225">
            <a:solidFill>
              <a:srgbClr val="17243F"/>
            </a:solidFill>
            <a:prstDash val="solid"/>
          </a:ln>
        </p:spPr>
      </p:sp>
      <p:sp>
        <p:nvSpPr>
          <p:cNvPr id="14" name="Shape 10"/>
          <p:cNvSpPr/>
          <p:nvPr/>
        </p:nvSpPr>
        <p:spPr>
          <a:xfrm>
            <a:off x="3575304" y="1691640"/>
            <a:ext cx="566928" cy="566928"/>
          </a:xfrm>
          <a:prstGeom prst="ellipse">
            <a:avLst/>
          </a:prstGeom>
          <a:solidFill>
            <a:srgbClr val="E5DFF7"/>
          </a:solidFill>
          <a:ln w="19050">
            <a:solidFill>
              <a:srgbClr val="7A5BD0"/>
            </a:solidFill>
            <a:prstDash val="solid"/>
          </a:ln>
        </p:spPr>
      </p:sp>
      <p:pic>
        <p:nvPicPr>
          <p:cNvPr id="15" name="Image 2" descr="Ảnh chụp giao diện Siêu Sao Toán 4">    </p:cNvPr>
          <p:cNvPicPr>
            <a:picLocks noChangeAspect="1"/>
          </p:cNvPicPr>
          <p:nvPr/>
        </p:nvPicPr>
        <p:blipFill>
          <a:blip r:embed="rId3"/>
          <a:stretch>
            <a:fillRect/>
          </a:stretch>
        </p:blipFill>
        <p:spPr>
          <a:xfrm>
            <a:off x="3717036" y="1833372"/>
            <a:ext cx="283464" cy="283464"/>
          </a:xfrm>
          <a:prstGeom prst="rect">
            <a:avLst/>
          </a:prstGeom>
        </p:spPr>
      </p:pic>
      <p:sp>
        <p:nvSpPr>
          <p:cNvPr id="16" name="Text 11"/>
          <p:cNvSpPr txBox="1"/>
          <p:nvPr/>
        </p:nvSpPr>
        <p:spPr>
          <a:xfrm>
            <a:off x="5248656" y="1645920"/>
            <a:ext cx="548640" cy="548640"/>
          </a:xfrm>
          <a:prstGeom prst="rect">
            <a:avLst/>
          </a:prstGeom>
          <a:noFill/>
          <a:ln/>
        </p:spPr>
        <p:txBody>
          <a:bodyPr wrap="square" lIns="0" tIns="0" rIns="0" bIns="0" rtlCol="0" anchor="t"/>
          <a:lstStyle/>
          <a:p>
            <a:pPr algn="r" indent="0" marL="0">
              <a:buNone/>
            </a:pPr>
            <a:r>
              <a:rPr lang="en-US" sz="3000" b="1" dirty="0">
                <a:solidFill>
                  <a:srgbClr val="4A5A78"/>
                </a:solidFill>
                <a:latin typeface="Cambria" pitchFamily="34" charset="0"/>
                <a:ea typeface="Cambria" pitchFamily="34" charset="-122"/>
                <a:cs typeface="Cambria" pitchFamily="34" charset="-120"/>
              </a:rPr>
              <a:t>2</a:t>
            </a:r>
            <a:endParaRPr lang="en-US" sz="3000" dirty="0"/>
          </a:p>
        </p:txBody>
      </p:sp>
      <p:sp>
        <p:nvSpPr>
          <p:cNvPr id="17" name="Text 12"/>
          <p:cNvSpPr txBox="1"/>
          <p:nvPr/>
        </p:nvSpPr>
        <p:spPr>
          <a:xfrm>
            <a:off x="3575304" y="2395728"/>
            <a:ext cx="2240280" cy="365760"/>
          </a:xfrm>
          <a:prstGeom prst="rect">
            <a:avLst/>
          </a:prstGeom>
          <a:noFill/>
          <a:ln/>
        </p:spPr>
        <p:txBody>
          <a:bodyPr wrap="square" lIns="0" tIns="0" rIns="0" bIns="0" rtlCol="0" anchor="t"/>
          <a:lstStyle/>
          <a:p>
            <a:pPr algn="l" indent="0" marL="0">
              <a:buNone/>
            </a:pPr>
            <a:r>
              <a:rPr lang="en-US" sz="1900" b="1" dirty="0">
                <a:solidFill>
                  <a:srgbClr val="17243F"/>
                </a:solidFill>
                <a:latin typeface="Calibri" pitchFamily="34" charset="0"/>
                <a:ea typeface="Calibri" pitchFamily="34" charset="-122"/>
                <a:cs typeface="Calibri" pitchFamily="34" charset="-120"/>
              </a:rPr>
              <a:t>Chọn bài</a:t>
            </a:r>
            <a:endParaRPr lang="en-US" sz="1900" dirty="0"/>
          </a:p>
        </p:txBody>
      </p:sp>
      <p:sp>
        <p:nvSpPr>
          <p:cNvPr id="18" name="Text 13"/>
          <p:cNvSpPr txBox="1"/>
          <p:nvPr/>
        </p:nvSpPr>
        <p:spPr>
          <a:xfrm>
            <a:off x="3575304" y="2761488"/>
            <a:ext cx="2240280" cy="54864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Chọn một trong 73 bài của hai tập sách.</a:t>
            </a:r>
            <a:endParaRPr lang="en-US" sz="1400" dirty="0"/>
          </a:p>
        </p:txBody>
      </p:sp>
      <p:pic>
        <p:nvPicPr>
          <p:cNvPr id="19" name="Image 3" descr="Ảnh chụp giao diện Siêu Sao Toán 4">    </p:cNvPr>
          <p:cNvPicPr>
            <a:picLocks noChangeAspect="1"/>
          </p:cNvPicPr>
          <p:nvPr/>
        </p:nvPicPr>
        <p:blipFill>
          <a:blip r:embed="rId4"/>
          <a:stretch>
            <a:fillRect/>
          </a:stretch>
        </p:blipFill>
        <p:spPr>
          <a:xfrm>
            <a:off x="6007608" y="2331720"/>
            <a:ext cx="155448" cy="155448"/>
          </a:xfrm>
          <a:prstGeom prst="rect">
            <a:avLst/>
          </a:prstGeom>
        </p:spPr>
      </p:pic>
      <p:sp>
        <p:nvSpPr>
          <p:cNvPr id="20" name="Shape 14"/>
          <p:cNvSpPr/>
          <p:nvPr/>
        </p:nvSpPr>
        <p:spPr>
          <a:xfrm>
            <a:off x="6263640" y="1572768"/>
            <a:ext cx="2606040" cy="1874520"/>
          </a:xfrm>
          <a:prstGeom prst="roundRect">
            <a:avLst>
              <a:gd name="adj" fmla="val 7805"/>
            </a:avLst>
          </a:prstGeom>
          <a:solidFill>
            <a:srgbClr val="17243F"/>
          </a:solidFill>
          <a:ln/>
        </p:spPr>
      </p:sp>
      <p:sp>
        <p:nvSpPr>
          <p:cNvPr id="21" name="Shape 15"/>
          <p:cNvSpPr/>
          <p:nvPr/>
        </p:nvSpPr>
        <p:spPr>
          <a:xfrm>
            <a:off x="6199632" y="1508760"/>
            <a:ext cx="2606040" cy="1874520"/>
          </a:xfrm>
          <a:prstGeom prst="roundRect">
            <a:avLst>
              <a:gd name="adj" fmla="val 7805"/>
            </a:avLst>
          </a:prstGeom>
          <a:solidFill>
            <a:srgbClr val="FFFFFF"/>
          </a:solidFill>
          <a:ln w="22225">
            <a:solidFill>
              <a:srgbClr val="17243F"/>
            </a:solidFill>
            <a:prstDash val="solid"/>
          </a:ln>
        </p:spPr>
      </p:sp>
      <p:sp>
        <p:nvSpPr>
          <p:cNvPr id="22" name="Shape 16"/>
          <p:cNvSpPr/>
          <p:nvPr/>
        </p:nvSpPr>
        <p:spPr>
          <a:xfrm>
            <a:off x="6400800" y="1691640"/>
            <a:ext cx="566928" cy="566928"/>
          </a:xfrm>
          <a:prstGeom prst="ellipse">
            <a:avLst/>
          </a:prstGeom>
          <a:solidFill>
            <a:srgbClr val="D9F2E6"/>
          </a:solidFill>
          <a:ln w="19050">
            <a:solidFill>
              <a:srgbClr val="1F9D62"/>
            </a:solidFill>
            <a:prstDash val="solid"/>
          </a:ln>
        </p:spPr>
      </p:sp>
      <p:pic>
        <p:nvPicPr>
          <p:cNvPr id="23" name="Image 4" descr="Ảnh chụp giao diện Siêu Sao Toán 4">    </p:cNvPr>
          <p:cNvPicPr>
            <a:picLocks noChangeAspect="1"/>
          </p:cNvPicPr>
          <p:nvPr/>
        </p:nvPicPr>
        <p:blipFill>
          <a:blip r:embed="rId5"/>
          <a:stretch>
            <a:fillRect/>
          </a:stretch>
        </p:blipFill>
        <p:spPr>
          <a:xfrm>
            <a:off x="6542532" y="1833372"/>
            <a:ext cx="283464" cy="283464"/>
          </a:xfrm>
          <a:prstGeom prst="rect">
            <a:avLst/>
          </a:prstGeom>
        </p:spPr>
      </p:pic>
      <p:sp>
        <p:nvSpPr>
          <p:cNvPr id="24" name="Text 17"/>
          <p:cNvSpPr txBox="1"/>
          <p:nvPr/>
        </p:nvSpPr>
        <p:spPr>
          <a:xfrm>
            <a:off x="8074152" y="1645920"/>
            <a:ext cx="548640" cy="548640"/>
          </a:xfrm>
          <a:prstGeom prst="rect">
            <a:avLst/>
          </a:prstGeom>
          <a:noFill/>
          <a:ln/>
        </p:spPr>
        <p:txBody>
          <a:bodyPr wrap="square" lIns="0" tIns="0" rIns="0" bIns="0" rtlCol="0" anchor="t"/>
          <a:lstStyle/>
          <a:p>
            <a:pPr algn="r" indent="0" marL="0">
              <a:buNone/>
            </a:pPr>
            <a:r>
              <a:rPr lang="en-US" sz="3000" b="1" dirty="0">
                <a:solidFill>
                  <a:srgbClr val="4A5A78"/>
                </a:solidFill>
                <a:latin typeface="Cambria" pitchFamily="34" charset="0"/>
                <a:ea typeface="Cambria" pitchFamily="34" charset="-122"/>
                <a:cs typeface="Cambria" pitchFamily="34" charset="-120"/>
              </a:rPr>
              <a:t>3</a:t>
            </a:r>
            <a:endParaRPr lang="en-US" sz="3000" dirty="0"/>
          </a:p>
        </p:txBody>
      </p:sp>
      <p:sp>
        <p:nvSpPr>
          <p:cNvPr id="25" name="Text 18"/>
          <p:cNvSpPr txBox="1"/>
          <p:nvPr/>
        </p:nvSpPr>
        <p:spPr>
          <a:xfrm>
            <a:off x="6400800" y="2395728"/>
            <a:ext cx="2240280" cy="365760"/>
          </a:xfrm>
          <a:prstGeom prst="rect">
            <a:avLst/>
          </a:prstGeom>
          <a:noFill/>
          <a:ln/>
        </p:spPr>
        <p:txBody>
          <a:bodyPr wrap="square" lIns="0" tIns="0" rIns="0" bIns="0" rtlCol="0" anchor="t"/>
          <a:lstStyle/>
          <a:p>
            <a:pPr algn="l" indent="0" marL="0">
              <a:buNone/>
            </a:pPr>
            <a:r>
              <a:rPr lang="en-US" sz="1900" b="1" dirty="0">
                <a:solidFill>
                  <a:srgbClr val="17243F"/>
                </a:solidFill>
                <a:latin typeface="Calibri" pitchFamily="34" charset="0"/>
                <a:ea typeface="Calibri" pitchFamily="34" charset="-122"/>
                <a:cs typeface="Calibri" pitchFamily="34" charset="-120"/>
              </a:rPr>
              <a:t>Làm 10 câu</a:t>
            </a:r>
            <a:endParaRPr lang="en-US" sz="1900" dirty="0"/>
          </a:p>
        </p:txBody>
      </p:sp>
      <p:sp>
        <p:nvSpPr>
          <p:cNvPr id="26" name="Text 19"/>
          <p:cNvSpPr txBox="1"/>
          <p:nvPr/>
        </p:nvSpPr>
        <p:spPr>
          <a:xfrm>
            <a:off x="6400800" y="2761488"/>
            <a:ext cx="2240280" cy="54864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Mỗi câu được khen hoặc động viên ngay.</a:t>
            </a:r>
            <a:endParaRPr lang="en-US" sz="1400" dirty="0"/>
          </a:p>
        </p:txBody>
      </p:sp>
      <p:pic>
        <p:nvPicPr>
          <p:cNvPr id="27" name="Image 5" descr="Ảnh chụp giao diện Siêu Sao Toán 4">    </p:cNvPr>
          <p:cNvPicPr>
            <a:picLocks noChangeAspect="1"/>
          </p:cNvPicPr>
          <p:nvPr/>
        </p:nvPicPr>
        <p:blipFill>
          <a:blip r:embed="rId6"/>
          <a:stretch>
            <a:fillRect/>
          </a:stretch>
        </p:blipFill>
        <p:spPr>
          <a:xfrm>
            <a:off x="8833104" y="2331720"/>
            <a:ext cx="155448" cy="155448"/>
          </a:xfrm>
          <a:prstGeom prst="rect">
            <a:avLst/>
          </a:prstGeom>
        </p:spPr>
      </p:pic>
      <p:sp>
        <p:nvSpPr>
          <p:cNvPr id="28" name="Shape 20"/>
          <p:cNvSpPr/>
          <p:nvPr/>
        </p:nvSpPr>
        <p:spPr>
          <a:xfrm>
            <a:off x="9089136" y="1572768"/>
            <a:ext cx="2606040" cy="1874520"/>
          </a:xfrm>
          <a:prstGeom prst="roundRect">
            <a:avLst>
              <a:gd name="adj" fmla="val 7805"/>
            </a:avLst>
          </a:prstGeom>
          <a:solidFill>
            <a:srgbClr val="17243F"/>
          </a:solidFill>
          <a:ln/>
        </p:spPr>
      </p:sp>
      <p:sp>
        <p:nvSpPr>
          <p:cNvPr id="29" name="Shape 21"/>
          <p:cNvSpPr/>
          <p:nvPr/>
        </p:nvSpPr>
        <p:spPr>
          <a:xfrm>
            <a:off x="9025128" y="1508760"/>
            <a:ext cx="2606040" cy="1874520"/>
          </a:xfrm>
          <a:prstGeom prst="roundRect">
            <a:avLst>
              <a:gd name="adj" fmla="val 7805"/>
            </a:avLst>
          </a:prstGeom>
          <a:solidFill>
            <a:srgbClr val="FFFFFF"/>
          </a:solidFill>
          <a:ln w="22225">
            <a:solidFill>
              <a:srgbClr val="17243F"/>
            </a:solidFill>
            <a:prstDash val="solid"/>
          </a:ln>
        </p:spPr>
      </p:sp>
      <p:sp>
        <p:nvSpPr>
          <p:cNvPr id="30" name="Shape 22"/>
          <p:cNvSpPr/>
          <p:nvPr/>
        </p:nvSpPr>
        <p:spPr>
          <a:xfrm>
            <a:off x="9226296" y="1691640"/>
            <a:ext cx="566928" cy="566928"/>
          </a:xfrm>
          <a:prstGeom prst="ellipse">
            <a:avLst/>
          </a:prstGeom>
          <a:solidFill>
            <a:srgbClr val="FBDEDF"/>
          </a:solidFill>
          <a:ln w="19050">
            <a:solidFill>
              <a:srgbClr val="E4474D"/>
            </a:solidFill>
            <a:prstDash val="solid"/>
          </a:ln>
        </p:spPr>
      </p:sp>
      <p:pic>
        <p:nvPicPr>
          <p:cNvPr id="31" name="Image 6" descr="Ảnh chụp giao diện Siêu Sao Toán 4">    </p:cNvPr>
          <p:cNvPicPr>
            <a:picLocks noChangeAspect="1"/>
          </p:cNvPicPr>
          <p:nvPr/>
        </p:nvPicPr>
        <p:blipFill>
          <a:blip r:embed="rId7"/>
          <a:stretch>
            <a:fillRect/>
          </a:stretch>
        </p:blipFill>
        <p:spPr>
          <a:xfrm>
            <a:off x="9368028" y="1833372"/>
            <a:ext cx="283464" cy="283464"/>
          </a:xfrm>
          <a:prstGeom prst="rect">
            <a:avLst/>
          </a:prstGeom>
        </p:spPr>
      </p:pic>
      <p:sp>
        <p:nvSpPr>
          <p:cNvPr id="32" name="Text 23"/>
          <p:cNvSpPr txBox="1"/>
          <p:nvPr/>
        </p:nvSpPr>
        <p:spPr>
          <a:xfrm>
            <a:off x="10899648" y="1645920"/>
            <a:ext cx="548640" cy="548640"/>
          </a:xfrm>
          <a:prstGeom prst="rect">
            <a:avLst/>
          </a:prstGeom>
          <a:noFill/>
          <a:ln/>
        </p:spPr>
        <p:txBody>
          <a:bodyPr wrap="square" lIns="0" tIns="0" rIns="0" bIns="0" rtlCol="0" anchor="t"/>
          <a:lstStyle/>
          <a:p>
            <a:pPr algn="r" indent="0" marL="0">
              <a:buNone/>
            </a:pPr>
            <a:r>
              <a:rPr lang="en-US" sz="3000" b="1" dirty="0">
                <a:solidFill>
                  <a:srgbClr val="4A5A78"/>
                </a:solidFill>
                <a:latin typeface="Cambria" pitchFamily="34" charset="0"/>
                <a:ea typeface="Cambria" pitchFamily="34" charset="-122"/>
                <a:cs typeface="Cambria" pitchFamily="34" charset="-120"/>
              </a:rPr>
              <a:t>4</a:t>
            </a:r>
            <a:endParaRPr lang="en-US" sz="3000" dirty="0"/>
          </a:p>
        </p:txBody>
      </p:sp>
      <p:sp>
        <p:nvSpPr>
          <p:cNvPr id="33" name="Text 24"/>
          <p:cNvSpPr txBox="1"/>
          <p:nvPr/>
        </p:nvSpPr>
        <p:spPr>
          <a:xfrm>
            <a:off x="9226296" y="2395728"/>
            <a:ext cx="2240280" cy="365760"/>
          </a:xfrm>
          <a:prstGeom prst="rect">
            <a:avLst/>
          </a:prstGeom>
          <a:noFill/>
          <a:ln/>
        </p:spPr>
        <p:txBody>
          <a:bodyPr wrap="square" lIns="0" tIns="0" rIns="0" bIns="0" rtlCol="0" anchor="t"/>
          <a:lstStyle/>
          <a:p>
            <a:pPr algn="l" indent="0" marL="0">
              <a:buNone/>
            </a:pPr>
            <a:r>
              <a:rPr lang="en-US" sz="1900" b="1" dirty="0">
                <a:solidFill>
                  <a:srgbClr val="17243F"/>
                </a:solidFill>
                <a:latin typeface="Calibri" pitchFamily="34" charset="0"/>
                <a:ea typeface="Calibri" pitchFamily="34" charset="-122"/>
                <a:cs typeface="Calibri" pitchFamily="34" charset="-120"/>
              </a:rPr>
              <a:t>Xem kết quả</a:t>
            </a:r>
            <a:endParaRPr lang="en-US" sz="1900" dirty="0"/>
          </a:p>
        </p:txBody>
      </p:sp>
      <p:sp>
        <p:nvSpPr>
          <p:cNvPr id="34" name="Text 25"/>
          <p:cNvSpPr txBox="1"/>
          <p:nvPr/>
        </p:nvSpPr>
        <p:spPr>
          <a:xfrm>
            <a:off x="9226296" y="2761488"/>
            <a:ext cx="2240280" cy="54864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Nhận điểm, số sao và vị trí xếp hạng.</a:t>
            </a:r>
            <a:endParaRPr lang="en-US" sz="1400" dirty="0"/>
          </a:p>
        </p:txBody>
      </p:sp>
      <p:sp>
        <p:nvSpPr>
          <p:cNvPr id="35" name="Shape 26"/>
          <p:cNvSpPr/>
          <p:nvPr/>
        </p:nvSpPr>
        <p:spPr>
          <a:xfrm>
            <a:off x="612648" y="3675888"/>
            <a:ext cx="4206240" cy="2683764"/>
          </a:xfrm>
          <a:prstGeom prst="roundRect">
            <a:avLst>
              <a:gd name="adj" fmla="val 4770"/>
            </a:avLst>
          </a:prstGeom>
          <a:solidFill>
            <a:srgbClr val="17243F"/>
          </a:solidFill>
          <a:ln/>
        </p:spPr>
      </p:sp>
      <p:sp>
        <p:nvSpPr>
          <p:cNvPr id="36" name="Shape 27"/>
          <p:cNvSpPr/>
          <p:nvPr/>
        </p:nvSpPr>
        <p:spPr>
          <a:xfrm>
            <a:off x="548640" y="3611880"/>
            <a:ext cx="4206240" cy="2683764"/>
          </a:xfrm>
          <a:prstGeom prst="roundRect">
            <a:avLst>
              <a:gd name="adj" fmla="val 4770"/>
            </a:avLst>
          </a:prstGeom>
          <a:solidFill>
            <a:srgbClr val="FFFFFF"/>
          </a:solidFill>
          <a:ln w="22225">
            <a:solidFill>
              <a:srgbClr val="17243F"/>
            </a:solidFill>
            <a:prstDash val="solid"/>
          </a:ln>
        </p:spPr>
      </p:sp>
      <p:pic>
        <p:nvPicPr>
          <p:cNvPr id="37" name="Image 7" descr="Ảnh chụp giao diện Siêu Sao Toán 4">    </p:cNvPr>
          <p:cNvPicPr>
            <a:picLocks noChangeAspect="1"/>
          </p:cNvPicPr>
          <p:nvPr/>
        </p:nvPicPr>
        <p:blipFill>
          <a:blip r:embed="rId8"/>
          <a:stretch>
            <a:fillRect/>
          </a:stretch>
        </p:blipFill>
        <p:spPr>
          <a:xfrm>
            <a:off x="621792" y="3685032"/>
            <a:ext cx="4059936" cy="2537460"/>
          </a:xfrm>
          <a:prstGeom prst="rect">
            <a:avLst/>
          </a:prstGeom>
        </p:spPr>
      </p:pic>
      <p:sp>
        <p:nvSpPr>
          <p:cNvPr id="38" name="Shape 28"/>
          <p:cNvSpPr/>
          <p:nvPr/>
        </p:nvSpPr>
        <p:spPr>
          <a:xfrm>
            <a:off x="5166360" y="3611880"/>
            <a:ext cx="566928" cy="566928"/>
          </a:xfrm>
          <a:prstGeom prst="ellipse">
            <a:avLst/>
          </a:prstGeom>
          <a:solidFill>
            <a:srgbClr val="DCE6FA"/>
          </a:solidFill>
          <a:ln w="19050">
            <a:solidFill>
              <a:srgbClr val="2F5FD0"/>
            </a:solidFill>
            <a:prstDash val="solid"/>
          </a:ln>
        </p:spPr>
      </p:sp>
      <p:pic>
        <p:nvPicPr>
          <p:cNvPr id="39" name="Image 8" descr="Ảnh chụp giao diện Siêu Sao Toán 4">    </p:cNvPr>
          <p:cNvPicPr>
            <a:picLocks noChangeAspect="1"/>
          </p:cNvPicPr>
          <p:nvPr/>
        </p:nvPicPr>
        <p:blipFill>
          <a:blip r:embed="rId9"/>
          <a:stretch>
            <a:fillRect/>
          </a:stretch>
        </p:blipFill>
        <p:spPr>
          <a:xfrm>
            <a:off x="5308092" y="3753612"/>
            <a:ext cx="283464" cy="283464"/>
          </a:xfrm>
          <a:prstGeom prst="rect">
            <a:avLst/>
          </a:prstGeom>
        </p:spPr>
      </p:pic>
      <p:sp>
        <p:nvSpPr>
          <p:cNvPr id="40" name="Text 29"/>
          <p:cNvSpPr txBox="1"/>
          <p:nvPr/>
        </p:nvSpPr>
        <p:spPr>
          <a:xfrm>
            <a:off x="5971032" y="3593592"/>
            <a:ext cx="5669280" cy="310896"/>
          </a:xfrm>
          <a:prstGeom prst="rect">
            <a:avLst/>
          </a:prstGeom>
          <a:noFill/>
          <a:ln/>
        </p:spPr>
        <p:txBody>
          <a:bodyPr wrap="square" lIns="0" tIns="0" rIns="0" bIns="0" rtlCol="0" anchor="t"/>
          <a:lstStyle/>
          <a:p>
            <a:pPr algn="l" indent="0" marL="0">
              <a:buNone/>
            </a:pPr>
            <a:r>
              <a:rPr lang="en-US" sz="1700" b="1" dirty="0">
                <a:solidFill>
                  <a:srgbClr val="17243F"/>
                </a:solidFill>
                <a:latin typeface="Calibri" pitchFamily="34" charset="0"/>
                <a:ea typeface="Calibri" pitchFamily="34" charset="-122"/>
                <a:cs typeface="Calibri" pitchFamily="34" charset="-120"/>
              </a:rPr>
              <a:t>Lần đầu: tự tạo tài khoản</a:t>
            </a:r>
            <a:endParaRPr lang="en-US" sz="1700" dirty="0"/>
          </a:p>
        </p:txBody>
      </p:sp>
      <p:sp>
        <p:nvSpPr>
          <p:cNvPr id="41" name="Text 30"/>
          <p:cNvSpPr txBox="1"/>
          <p:nvPr/>
        </p:nvSpPr>
        <p:spPr>
          <a:xfrm>
            <a:off x="5971032" y="3922776"/>
            <a:ext cx="5669280" cy="45720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Nhập họ tên, lớp, trường và ngày sinh. Không cần mật khẩu.</a:t>
            </a:r>
            <a:endParaRPr lang="en-US" sz="1400" dirty="0"/>
          </a:p>
        </p:txBody>
      </p:sp>
      <p:sp>
        <p:nvSpPr>
          <p:cNvPr id="42" name="Shape 31"/>
          <p:cNvSpPr/>
          <p:nvPr/>
        </p:nvSpPr>
        <p:spPr>
          <a:xfrm>
            <a:off x="5166360" y="4526280"/>
            <a:ext cx="566928" cy="566928"/>
          </a:xfrm>
          <a:prstGeom prst="ellipse">
            <a:avLst/>
          </a:prstGeom>
          <a:solidFill>
            <a:srgbClr val="D9F2E6"/>
          </a:solidFill>
          <a:ln w="19050">
            <a:solidFill>
              <a:srgbClr val="1F9D62"/>
            </a:solidFill>
            <a:prstDash val="solid"/>
          </a:ln>
        </p:spPr>
      </p:sp>
      <p:pic>
        <p:nvPicPr>
          <p:cNvPr id="43" name="Image 9" descr="Ảnh chụp giao diện Siêu Sao Toán 4">    </p:cNvPr>
          <p:cNvPicPr>
            <a:picLocks noChangeAspect="1"/>
          </p:cNvPicPr>
          <p:nvPr/>
        </p:nvPicPr>
        <p:blipFill>
          <a:blip r:embed="rId10"/>
          <a:stretch>
            <a:fillRect/>
          </a:stretch>
        </p:blipFill>
        <p:spPr>
          <a:xfrm>
            <a:off x="5308092" y="4668012"/>
            <a:ext cx="283464" cy="283464"/>
          </a:xfrm>
          <a:prstGeom prst="rect">
            <a:avLst/>
          </a:prstGeom>
        </p:spPr>
      </p:pic>
      <p:sp>
        <p:nvSpPr>
          <p:cNvPr id="44" name="Text 32"/>
          <p:cNvSpPr txBox="1"/>
          <p:nvPr/>
        </p:nvSpPr>
        <p:spPr>
          <a:xfrm>
            <a:off x="5971032" y="4507992"/>
            <a:ext cx="5669280" cy="310896"/>
          </a:xfrm>
          <a:prstGeom prst="rect">
            <a:avLst/>
          </a:prstGeom>
          <a:noFill/>
          <a:ln/>
        </p:spPr>
        <p:txBody>
          <a:bodyPr wrap="square" lIns="0" tIns="0" rIns="0" bIns="0" rtlCol="0" anchor="t"/>
          <a:lstStyle/>
          <a:p>
            <a:pPr algn="l" indent="0" marL="0">
              <a:buNone/>
            </a:pPr>
            <a:r>
              <a:rPr lang="en-US" sz="1700" b="1" dirty="0">
                <a:solidFill>
                  <a:srgbClr val="17243F"/>
                </a:solidFill>
                <a:latin typeface="Calibri" pitchFamily="34" charset="0"/>
                <a:ea typeface="Calibri" pitchFamily="34" charset="-122"/>
                <a:cs typeface="Calibri" pitchFamily="34" charset="-120"/>
              </a:rPr>
              <a:t>Lần sau: nhập lại là vào</a:t>
            </a:r>
            <a:endParaRPr lang="en-US" sz="1700" dirty="0"/>
          </a:p>
        </p:txBody>
      </p:sp>
      <p:sp>
        <p:nvSpPr>
          <p:cNvPr id="45" name="Text 33"/>
          <p:cNvSpPr txBox="1"/>
          <p:nvPr/>
        </p:nvSpPr>
        <p:spPr>
          <a:xfrm>
            <a:off x="5971032" y="4837176"/>
            <a:ext cx="5669280" cy="45720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Chỉ cần tên và ngày sinh. Điểm và các bài đã làm vẫn còn nguyên.</a:t>
            </a:r>
            <a:endParaRPr lang="en-US" sz="1400" dirty="0"/>
          </a:p>
        </p:txBody>
      </p:sp>
      <p:sp>
        <p:nvSpPr>
          <p:cNvPr id="46" name="Shape 34"/>
          <p:cNvSpPr/>
          <p:nvPr/>
        </p:nvSpPr>
        <p:spPr>
          <a:xfrm>
            <a:off x="5166360" y="5440680"/>
            <a:ext cx="566928" cy="566928"/>
          </a:xfrm>
          <a:prstGeom prst="ellipse">
            <a:avLst/>
          </a:prstGeom>
          <a:solidFill>
            <a:srgbClr val="FBDEDF"/>
          </a:solidFill>
          <a:ln w="19050">
            <a:solidFill>
              <a:srgbClr val="E4474D"/>
            </a:solidFill>
            <a:prstDash val="solid"/>
          </a:ln>
        </p:spPr>
      </p:sp>
      <p:pic>
        <p:nvPicPr>
          <p:cNvPr id="47" name="Image 10" descr="Ảnh chụp giao diện Siêu Sao Toán 4">    </p:cNvPr>
          <p:cNvPicPr>
            <a:picLocks noChangeAspect="1"/>
          </p:cNvPicPr>
          <p:nvPr/>
        </p:nvPicPr>
        <p:blipFill>
          <a:blip r:embed="rId11"/>
          <a:stretch>
            <a:fillRect/>
          </a:stretch>
        </p:blipFill>
        <p:spPr>
          <a:xfrm>
            <a:off x="5308092" y="5582412"/>
            <a:ext cx="283464" cy="283464"/>
          </a:xfrm>
          <a:prstGeom prst="rect">
            <a:avLst/>
          </a:prstGeom>
        </p:spPr>
      </p:pic>
      <p:sp>
        <p:nvSpPr>
          <p:cNvPr id="48" name="Text 35"/>
          <p:cNvSpPr txBox="1"/>
          <p:nvPr/>
        </p:nvSpPr>
        <p:spPr>
          <a:xfrm>
            <a:off x="5971032" y="5422392"/>
            <a:ext cx="5669280" cy="310896"/>
          </a:xfrm>
          <a:prstGeom prst="rect">
            <a:avLst/>
          </a:prstGeom>
          <a:noFill/>
          <a:ln/>
        </p:spPr>
        <p:txBody>
          <a:bodyPr wrap="square" lIns="0" tIns="0" rIns="0" bIns="0" rtlCol="0" anchor="t"/>
          <a:lstStyle/>
          <a:p>
            <a:pPr algn="l" indent="0" marL="0">
              <a:buNone/>
            </a:pPr>
            <a:r>
              <a:rPr lang="en-US" sz="1700" b="1" dirty="0">
                <a:solidFill>
                  <a:srgbClr val="17243F"/>
                </a:solidFill>
                <a:latin typeface="Calibri" pitchFamily="34" charset="0"/>
                <a:ea typeface="Calibri" pitchFamily="34" charset="-122"/>
                <a:cs typeface="Calibri" pitchFamily="34" charset="-120"/>
              </a:rPr>
              <a:t>Làm lại bao nhiêu lần cũng được</a:t>
            </a:r>
            <a:endParaRPr lang="en-US" sz="1700" dirty="0"/>
          </a:p>
        </p:txBody>
      </p:sp>
      <p:sp>
        <p:nvSpPr>
          <p:cNvPr id="49" name="Text 36"/>
          <p:cNvSpPr txBox="1"/>
          <p:nvPr/>
        </p:nvSpPr>
        <p:spPr>
          <a:xfrm>
            <a:off x="5971032" y="5751576"/>
            <a:ext cx="5669280" cy="45720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Điểm cao nhất của mỗi bài là điểm được tính vào bảng xếp hạng.</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9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46888"/>
            <a:ext cx="8229600" cy="274320"/>
          </a:xfrm>
          <a:prstGeom prst="rect">
            <a:avLst/>
          </a:prstGeom>
          <a:noFill/>
          <a:ln/>
        </p:spPr>
        <p:txBody>
          <a:bodyPr wrap="square" lIns="0" tIns="0" rIns="0" bIns="0" rtlCol="0" anchor="t"/>
          <a:lstStyle/>
          <a:p>
            <a:pPr algn="l" indent="0" marL="0">
              <a:buNone/>
            </a:pPr>
            <a:r>
              <a:rPr lang="en-US" sz="1400" b="1" dirty="0">
                <a:solidFill>
                  <a:srgbClr val="2F5FD0"/>
                </a:solidFill>
                <a:latin typeface="Calibri" pitchFamily="34" charset="0"/>
                <a:ea typeface="Calibri" pitchFamily="34" charset="-122"/>
                <a:cs typeface="Calibri" pitchFamily="34" charset="-120"/>
              </a:rPr>
              <a:t>2 · Ý tưởng, giải pháp và công cụ AI</a:t>
            </a:r>
            <a:endParaRPr lang="en-US" sz="1400" dirty="0"/>
          </a:p>
        </p:txBody>
      </p:sp>
      <p:sp>
        <p:nvSpPr>
          <p:cNvPr id="3" name="Text 0"/>
          <p:cNvSpPr/>
          <p:nvPr>
            <p:ph idx="100" type="title" hasCustomPrompt="1"/>
          </p:nvPr>
        </p:nvSpPr>
        <p:spPr>
          <a:xfrm>
            <a:off x="548640" y="457200"/>
            <a:ext cx="11091672" cy="868680"/>
          </a:xfrm>
          <a:prstGeom prst="rect">
            <a:avLst/>
          </a:prstGeom>
          <a:noFill/>
          <a:ln/>
        </p:spPr>
        <p:txBody>
          <a:bodyPr wrap="square" lIns="0" tIns="0" rIns="0" bIns="0" rtlCol="0" anchor="ctr"/>
          <a:lstStyle/>
          <a:p>
            <a:pPr indent="0" marL="0">
              <a:buNone/>
            </a:pPr>
            <a:r>
              <a:rPr lang="en-US" sz="3600" b="1" dirty="0">
                <a:solidFill>
                  <a:srgbClr val="17243F"/>
                </a:solidFill>
                <a:latin typeface="Cambria" pitchFamily="34" charset="0"/>
                <a:ea typeface="Cambria" pitchFamily="34" charset="-122"/>
                <a:cs typeface="Cambria" pitchFamily="34" charset="-120"/>
              </a:rPr>
              <a:t>73 bài theo 13 chủ đề, mỗi bài có phần Em cần nhớ</a:t>
            </a:r>
            <a:endParaRPr lang="en-US" sz="3600" dirty="0"/>
          </a:p>
        </p:txBody>
      </p:sp>
      <p:sp>
        <p:nvSpPr>
          <p:cNvPr id="4" name="Shape 2"/>
          <p:cNvSpPr/>
          <p:nvPr/>
        </p:nvSpPr>
        <p:spPr>
          <a:xfrm>
            <a:off x="612648" y="1527048"/>
            <a:ext cx="6035040" cy="4286821"/>
          </a:xfrm>
          <a:prstGeom prst="roundRect">
            <a:avLst>
              <a:gd name="adj" fmla="val 2986"/>
            </a:avLst>
          </a:prstGeom>
          <a:solidFill>
            <a:srgbClr val="17243F"/>
          </a:solidFill>
          <a:ln/>
        </p:spPr>
      </p:sp>
      <p:sp>
        <p:nvSpPr>
          <p:cNvPr id="5" name="Shape 3"/>
          <p:cNvSpPr/>
          <p:nvPr/>
        </p:nvSpPr>
        <p:spPr>
          <a:xfrm>
            <a:off x="548640" y="1463040"/>
            <a:ext cx="6035040" cy="4286821"/>
          </a:xfrm>
          <a:prstGeom prst="roundRect">
            <a:avLst>
              <a:gd name="adj" fmla="val 2986"/>
            </a:avLst>
          </a:prstGeom>
          <a:solidFill>
            <a:srgbClr val="FFFFFF"/>
          </a:solidFill>
          <a:ln w="22225">
            <a:solidFill>
              <a:srgbClr val="17243F"/>
            </a:solidFill>
            <a:prstDash val="solid"/>
          </a:ln>
        </p:spPr>
      </p:sp>
      <p:pic>
        <p:nvPicPr>
          <p:cNvPr id="6" name="Image 0" descr="Ảnh chụp giao diện Siêu Sao Toán 4">    </p:cNvPr>
          <p:cNvPicPr>
            <a:picLocks noChangeAspect="1"/>
          </p:cNvPicPr>
          <p:nvPr/>
        </p:nvPicPr>
        <p:blipFill>
          <a:blip r:embed="rId1"/>
          <a:stretch>
            <a:fillRect/>
          </a:stretch>
        </p:blipFill>
        <p:spPr>
          <a:xfrm>
            <a:off x="621792" y="1536192"/>
            <a:ext cx="5888736" cy="4140517"/>
          </a:xfrm>
          <a:prstGeom prst="rect">
            <a:avLst/>
          </a:prstGeom>
        </p:spPr>
      </p:pic>
      <p:sp>
        <p:nvSpPr>
          <p:cNvPr id="7" name="Text 4"/>
          <p:cNvSpPr txBox="1"/>
          <p:nvPr/>
        </p:nvSpPr>
        <p:spPr>
          <a:xfrm>
            <a:off x="548640" y="5897880"/>
            <a:ext cx="6035040" cy="320040"/>
          </a:xfrm>
          <a:prstGeom prst="rect">
            <a:avLst/>
          </a:prstGeom>
          <a:noFill/>
          <a:ln/>
        </p:spPr>
        <p:txBody>
          <a:bodyPr wrap="square" lIns="0" tIns="0" rIns="0" bIns="0" rtlCol="0" anchor="t"/>
          <a:lstStyle/>
          <a:p>
            <a:pPr algn="l" indent="0" marL="0">
              <a:buNone/>
            </a:pPr>
            <a:r>
              <a:rPr lang="en-US" sz="1400" b="1" dirty="0">
                <a:solidFill>
                  <a:srgbClr val="4A5A78"/>
                </a:solidFill>
                <a:latin typeface="Calibri" pitchFamily="34" charset="0"/>
                <a:ea typeface="Calibri" pitchFamily="34" charset="-122"/>
                <a:cs typeface="Calibri" pitchFamily="34" charset="-120"/>
              </a:rPr>
              <a:t>Trang chủ của học sinh: Tập một (Bài 1–37), Tập hai (Bài 38–73)</a:t>
            </a:r>
            <a:endParaRPr lang="en-US" sz="1400" dirty="0"/>
          </a:p>
        </p:txBody>
      </p:sp>
      <p:sp>
        <p:nvSpPr>
          <p:cNvPr id="8" name="Shape 5"/>
          <p:cNvSpPr/>
          <p:nvPr/>
        </p:nvSpPr>
        <p:spPr>
          <a:xfrm>
            <a:off x="6967728" y="1527048"/>
            <a:ext cx="4736592" cy="3136946"/>
          </a:xfrm>
          <a:prstGeom prst="roundRect">
            <a:avLst>
              <a:gd name="adj" fmla="val 4081"/>
            </a:avLst>
          </a:prstGeom>
          <a:solidFill>
            <a:srgbClr val="17243F"/>
          </a:solidFill>
          <a:ln/>
        </p:spPr>
      </p:sp>
      <p:sp>
        <p:nvSpPr>
          <p:cNvPr id="9" name="Shape 6"/>
          <p:cNvSpPr/>
          <p:nvPr/>
        </p:nvSpPr>
        <p:spPr>
          <a:xfrm>
            <a:off x="6903720" y="1463040"/>
            <a:ext cx="4736592" cy="3136946"/>
          </a:xfrm>
          <a:prstGeom prst="roundRect">
            <a:avLst>
              <a:gd name="adj" fmla="val 4081"/>
            </a:avLst>
          </a:prstGeom>
          <a:solidFill>
            <a:srgbClr val="FFFFFF"/>
          </a:solidFill>
          <a:ln w="22225">
            <a:solidFill>
              <a:srgbClr val="17243F"/>
            </a:solidFill>
            <a:prstDash val="solid"/>
          </a:ln>
        </p:spPr>
      </p:sp>
      <p:pic>
        <p:nvPicPr>
          <p:cNvPr id="10" name="Image 1" descr="Ảnh chụp giao diện Siêu Sao Toán 4">    </p:cNvPr>
          <p:cNvPicPr>
            <a:picLocks noChangeAspect="1"/>
          </p:cNvPicPr>
          <p:nvPr/>
        </p:nvPicPr>
        <p:blipFill>
          <a:blip r:embed="rId2"/>
          <a:stretch>
            <a:fillRect/>
          </a:stretch>
        </p:blipFill>
        <p:spPr>
          <a:xfrm>
            <a:off x="6976872" y="1536192"/>
            <a:ext cx="4590288" cy="2990642"/>
          </a:xfrm>
          <a:prstGeom prst="rect">
            <a:avLst/>
          </a:prstGeom>
        </p:spPr>
      </p:pic>
      <p:sp>
        <p:nvSpPr>
          <p:cNvPr id="11" name="Shape 7"/>
          <p:cNvSpPr/>
          <p:nvPr/>
        </p:nvSpPr>
        <p:spPr>
          <a:xfrm>
            <a:off x="6903720" y="4754880"/>
            <a:ext cx="566928" cy="566928"/>
          </a:xfrm>
          <a:prstGeom prst="ellipse">
            <a:avLst/>
          </a:prstGeom>
          <a:solidFill>
            <a:srgbClr val="FFF0B5"/>
          </a:solidFill>
          <a:ln w="19050">
            <a:solidFill>
              <a:srgbClr val="FFC83D"/>
            </a:solidFill>
            <a:prstDash val="solid"/>
          </a:ln>
        </p:spPr>
      </p:sp>
      <p:pic>
        <p:nvPicPr>
          <p:cNvPr id="12" name="Image 2" descr="Ảnh chụp giao diện Siêu Sao Toán 4">    </p:cNvPr>
          <p:cNvPicPr>
            <a:picLocks noChangeAspect="1"/>
          </p:cNvPicPr>
          <p:nvPr/>
        </p:nvPicPr>
        <p:blipFill>
          <a:blip r:embed="rId3"/>
          <a:stretch>
            <a:fillRect/>
          </a:stretch>
        </p:blipFill>
        <p:spPr>
          <a:xfrm>
            <a:off x="7045452" y="4896612"/>
            <a:ext cx="283464" cy="283464"/>
          </a:xfrm>
          <a:prstGeom prst="rect">
            <a:avLst/>
          </a:prstGeom>
        </p:spPr>
      </p:pic>
      <p:sp>
        <p:nvSpPr>
          <p:cNvPr id="13" name="Text 8"/>
          <p:cNvSpPr txBox="1"/>
          <p:nvPr/>
        </p:nvSpPr>
        <p:spPr>
          <a:xfrm>
            <a:off x="7708392" y="4736592"/>
            <a:ext cx="3931920" cy="310896"/>
          </a:xfrm>
          <a:prstGeom prst="rect">
            <a:avLst/>
          </a:prstGeom>
          <a:noFill/>
          <a:ln/>
        </p:spPr>
        <p:txBody>
          <a:bodyPr wrap="square" lIns="0" tIns="0" rIns="0" bIns="0" rtlCol="0" anchor="t"/>
          <a:lstStyle/>
          <a:p>
            <a:pPr algn="l" indent="0" marL="0">
              <a:buNone/>
            </a:pPr>
            <a:r>
              <a:rPr lang="en-US" sz="1700" b="1" dirty="0">
                <a:solidFill>
                  <a:srgbClr val="17243F"/>
                </a:solidFill>
                <a:latin typeface="Calibri" pitchFamily="34" charset="0"/>
                <a:ea typeface="Calibri" pitchFamily="34" charset="-122"/>
                <a:cs typeface="Calibri" pitchFamily="34" charset="-120"/>
              </a:rPr>
              <a:t>Nhắc lại kiến thức trước khi làm</a:t>
            </a:r>
            <a:endParaRPr lang="en-US" sz="1700" dirty="0"/>
          </a:p>
        </p:txBody>
      </p:sp>
      <p:sp>
        <p:nvSpPr>
          <p:cNvPr id="14" name="Text 9"/>
          <p:cNvSpPr txBox="1"/>
          <p:nvPr/>
        </p:nvSpPr>
        <p:spPr>
          <a:xfrm>
            <a:off x="7708392" y="5065776"/>
            <a:ext cx="3931920" cy="50292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Mỗi bài có 12 đến 15 câu; mỗi lần rút 10 câu ngẫu nhiên, đáp án cũng được xáo trộn.</a:t>
            </a:r>
            <a:endParaRPr lang="en-US" sz="1400" dirty="0"/>
          </a:p>
        </p:txBody>
      </p:sp>
      <p:sp>
        <p:nvSpPr>
          <p:cNvPr id="15" name="Shape 10"/>
          <p:cNvSpPr/>
          <p:nvPr/>
        </p:nvSpPr>
        <p:spPr>
          <a:xfrm>
            <a:off x="6903720" y="5669280"/>
            <a:ext cx="566928" cy="566928"/>
          </a:xfrm>
          <a:prstGeom prst="ellipse">
            <a:avLst/>
          </a:prstGeom>
          <a:solidFill>
            <a:srgbClr val="FFF0B5"/>
          </a:solidFill>
          <a:ln w="19050">
            <a:solidFill>
              <a:srgbClr val="FFC83D"/>
            </a:solidFill>
            <a:prstDash val="solid"/>
          </a:ln>
        </p:spPr>
      </p:sp>
      <p:pic>
        <p:nvPicPr>
          <p:cNvPr id="16" name="Image 3" descr="Ảnh chụp giao diện Siêu Sao Toán 4">    </p:cNvPr>
          <p:cNvPicPr>
            <a:picLocks noChangeAspect="1"/>
          </p:cNvPicPr>
          <p:nvPr/>
        </p:nvPicPr>
        <p:blipFill>
          <a:blip r:embed="rId4"/>
          <a:stretch>
            <a:fillRect/>
          </a:stretch>
        </p:blipFill>
        <p:spPr>
          <a:xfrm>
            <a:off x="7045452" y="5811012"/>
            <a:ext cx="283464" cy="283464"/>
          </a:xfrm>
          <a:prstGeom prst="rect">
            <a:avLst/>
          </a:prstGeom>
        </p:spPr>
      </p:pic>
      <p:sp>
        <p:nvSpPr>
          <p:cNvPr id="17" name="Text 11"/>
          <p:cNvSpPr txBox="1"/>
          <p:nvPr/>
        </p:nvSpPr>
        <p:spPr>
          <a:xfrm>
            <a:off x="7708392" y="5650992"/>
            <a:ext cx="3931920" cy="310896"/>
          </a:xfrm>
          <a:prstGeom prst="rect">
            <a:avLst/>
          </a:prstGeom>
          <a:noFill/>
          <a:ln/>
        </p:spPr>
        <p:txBody>
          <a:bodyPr wrap="square" lIns="0" tIns="0" rIns="0" bIns="0" rtlCol="0" anchor="t"/>
          <a:lstStyle/>
          <a:p>
            <a:pPr algn="l" indent="0" marL="0">
              <a:buNone/>
            </a:pPr>
            <a:r>
              <a:rPr lang="en-US" sz="1700" b="1" dirty="0">
                <a:solidFill>
                  <a:srgbClr val="17243F"/>
                </a:solidFill>
                <a:latin typeface="Calibri" pitchFamily="34" charset="0"/>
                <a:ea typeface="Calibri" pitchFamily="34" charset="-122"/>
                <a:cs typeface="Calibri" pitchFamily="34" charset="-120"/>
              </a:rPr>
              <a:t>Sao và điểm trên từng thẻ bài</a:t>
            </a:r>
            <a:endParaRPr lang="en-US" sz="1700" dirty="0"/>
          </a:p>
        </p:txBody>
      </p:sp>
      <p:sp>
        <p:nvSpPr>
          <p:cNvPr id="18" name="Text 12"/>
          <p:cNvSpPr txBox="1"/>
          <p:nvPr/>
        </p:nvSpPr>
        <p:spPr>
          <a:xfrm>
            <a:off x="7708392" y="5980176"/>
            <a:ext cx="3931920" cy="50292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Hiện số sao, điểm tốt nhất, số lần làm và điểm thử thách.</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9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46888"/>
            <a:ext cx="8229600" cy="274320"/>
          </a:xfrm>
          <a:prstGeom prst="rect">
            <a:avLst/>
          </a:prstGeom>
          <a:noFill/>
          <a:ln/>
        </p:spPr>
        <p:txBody>
          <a:bodyPr wrap="square" lIns="0" tIns="0" rIns="0" bIns="0" rtlCol="0" anchor="t"/>
          <a:lstStyle/>
          <a:p>
            <a:pPr algn="l" indent="0" marL="0">
              <a:buNone/>
            </a:pPr>
            <a:r>
              <a:rPr lang="en-US" sz="1400" b="1" dirty="0">
                <a:solidFill>
                  <a:srgbClr val="2F5FD0"/>
                </a:solidFill>
                <a:latin typeface="Calibri" pitchFamily="34" charset="0"/>
                <a:ea typeface="Calibri" pitchFamily="34" charset="-122"/>
                <a:cs typeface="Calibri" pitchFamily="34" charset="-120"/>
              </a:rPr>
              <a:t>2 · Ý tưởng, giải pháp và công cụ AI</a:t>
            </a:r>
            <a:endParaRPr lang="en-US" sz="1400" dirty="0"/>
          </a:p>
        </p:txBody>
      </p:sp>
      <p:sp>
        <p:nvSpPr>
          <p:cNvPr id="3" name="Text 0"/>
          <p:cNvSpPr/>
          <p:nvPr>
            <p:ph idx="100" type="title" hasCustomPrompt="1"/>
          </p:nvPr>
        </p:nvSpPr>
        <p:spPr>
          <a:xfrm>
            <a:off x="548640" y="457200"/>
            <a:ext cx="11091672" cy="868680"/>
          </a:xfrm>
          <a:prstGeom prst="rect">
            <a:avLst/>
          </a:prstGeom>
          <a:noFill/>
          <a:ln/>
        </p:spPr>
        <p:txBody>
          <a:bodyPr wrap="square" lIns="0" tIns="0" rIns="0" bIns="0" rtlCol="0" anchor="ctr"/>
          <a:lstStyle/>
          <a:p>
            <a:pPr indent="0" marL="0">
              <a:buNone/>
            </a:pPr>
            <a:r>
              <a:rPr lang="en-US" sz="3600" b="1" dirty="0">
                <a:solidFill>
                  <a:srgbClr val="17243F"/>
                </a:solidFill>
                <a:latin typeface="Cambria" pitchFamily="34" charset="0"/>
                <a:ea typeface="Cambria" pitchFamily="34" charset="-122"/>
                <a:cs typeface="Cambria" pitchFamily="34" charset="-120"/>
              </a:rPr>
              <a:t>Câu hỏi có hình minh hoạ vẽ sẵn</a:t>
            </a:r>
            <a:endParaRPr lang="en-US" sz="3600" dirty="0"/>
          </a:p>
        </p:txBody>
      </p:sp>
      <p:sp>
        <p:nvSpPr>
          <p:cNvPr id="4" name="Shape 2"/>
          <p:cNvSpPr/>
          <p:nvPr/>
        </p:nvSpPr>
        <p:spPr>
          <a:xfrm>
            <a:off x="612648" y="1844952"/>
            <a:ext cx="3557016" cy="2153112"/>
          </a:xfrm>
          <a:prstGeom prst="roundRect">
            <a:avLst>
              <a:gd name="adj" fmla="val 5946"/>
            </a:avLst>
          </a:prstGeom>
          <a:solidFill>
            <a:srgbClr val="17243F"/>
          </a:solidFill>
          <a:ln/>
        </p:spPr>
      </p:sp>
      <p:sp>
        <p:nvSpPr>
          <p:cNvPr id="5" name="Shape 3"/>
          <p:cNvSpPr/>
          <p:nvPr/>
        </p:nvSpPr>
        <p:spPr>
          <a:xfrm>
            <a:off x="548640" y="1780944"/>
            <a:ext cx="3557016" cy="2153112"/>
          </a:xfrm>
          <a:prstGeom prst="roundRect">
            <a:avLst>
              <a:gd name="adj" fmla="val 5946"/>
            </a:avLst>
          </a:prstGeom>
          <a:solidFill>
            <a:srgbClr val="FFFFFF"/>
          </a:solidFill>
          <a:ln w="22225">
            <a:solidFill>
              <a:srgbClr val="17243F"/>
            </a:solidFill>
            <a:prstDash val="solid"/>
          </a:ln>
        </p:spPr>
      </p:sp>
      <p:pic>
        <p:nvPicPr>
          <p:cNvPr id="6" name="Image 0" descr="Ảnh chụp giao diện Siêu Sao Toán 4">    </p:cNvPr>
          <p:cNvPicPr>
            <a:picLocks noChangeAspect="1"/>
          </p:cNvPicPr>
          <p:nvPr/>
        </p:nvPicPr>
        <p:blipFill>
          <a:blip r:embed="rId1"/>
          <a:stretch>
            <a:fillRect/>
          </a:stretch>
        </p:blipFill>
        <p:spPr>
          <a:xfrm>
            <a:off x="621792" y="1854096"/>
            <a:ext cx="3410712" cy="2006808"/>
          </a:xfrm>
          <a:prstGeom prst="rect">
            <a:avLst/>
          </a:prstGeom>
        </p:spPr>
      </p:pic>
      <p:sp>
        <p:nvSpPr>
          <p:cNvPr id="7" name="Text 4"/>
          <p:cNvSpPr txBox="1"/>
          <p:nvPr/>
        </p:nvSpPr>
        <p:spPr>
          <a:xfrm>
            <a:off x="548640" y="4315968"/>
            <a:ext cx="3557016" cy="320040"/>
          </a:xfrm>
          <a:prstGeom prst="rect">
            <a:avLst/>
          </a:prstGeom>
          <a:noFill/>
          <a:ln/>
        </p:spPr>
        <p:txBody>
          <a:bodyPr wrap="square" lIns="0" tIns="0" rIns="0" bIns="0" rtlCol="0" anchor="t"/>
          <a:lstStyle/>
          <a:p>
            <a:pPr algn="l" indent="0" marL="0">
              <a:buNone/>
            </a:pPr>
            <a:r>
              <a:rPr lang="en-US" sz="1400" b="1" dirty="0">
                <a:solidFill>
                  <a:srgbClr val="17243F"/>
                </a:solidFill>
                <a:latin typeface="Calibri" pitchFamily="34" charset="0"/>
                <a:ea typeface="Calibri" pitchFamily="34" charset="-122"/>
                <a:cs typeface="Calibri" pitchFamily="34" charset="-120"/>
              </a:rPr>
              <a:t>Biểu đồ cột: đọc số liệu rồi trả lời</a:t>
            </a:r>
            <a:endParaRPr lang="en-US" sz="1400" dirty="0"/>
          </a:p>
        </p:txBody>
      </p:sp>
      <p:sp>
        <p:nvSpPr>
          <p:cNvPr id="8" name="Shape 5"/>
          <p:cNvSpPr/>
          <p:nvPr/>
        </p:nvSpPr>
        <p:spPr>
          <a:xfrm>
            <a:off x="4379976" y="1547807"/>
            <a:ext cx="3557016" cy="2747403"/>
          </a:xfrm>
          <a:prstGeom prst="roundRect">
            <a:avLst>
              <a:gd name="adj" fmla="val 4660"/>
            </a:avLst>
          </a:prstGeom>
          <a:solidFill>
            <a:srgbClr val="17243F"/>
          </a:solidFill>
          <a:ln/>
        </p:spPr>
      </p:sp>
      <p:sp>
        <p:nvSpPr>
          <p:cNvPr id="9" name="Shape 6"/>
          <p:cNvSpPr/>
          <p:nvPr/>
        </p:nvSpPr>
        <p:spPr>
          <a:xfrm>
            <a:off x="4315968" y="1483799"/>
            <a:ext cx="3557016" cy="2747403"/>
          </a:xfrm>
          <a:prstGeom prst="roundRect">
            <a:avLst>
              <a:gd name="adj" fmla="val 4660"/>
            </a:avLst>
          </a:prstGeom>
          <a:solidFill>
            <a:srgbClr val="FFFFFF"/>
          </a:solidFill>
          <a:ln w="22225">
            <a:solidFill>
              <a:srgbClr val="17243F"/>
            </a:solidFill>
            <a:prstDash val="solid"/>
          </a:ln>
        </p:spPr>
      </p:sp>
      <p:pic>
        <p:nvPicPr>
          <p:cNvPr id="10" name="Image 1" descr="Ảnh chụp giao diện Siêu Sao Toán 4">    </p:cNvPr>
          <p:cNvPicPr>
            <a:picLocks noChangeAspect="1"/>
          </p:cNvPicPr>
          <p:nvPr/>
        </p:nvPicPr>
        <p:blipFill>
          <a:blip r:embed="rId2"/>
          <a:stretch>
            <a:fillRect/>
          </a:stretch>
        </p:blipFill>
        <p:spPr>
          <a:xfrm>
            <a:off x="4389120" y="1556951"/>
            <a:ext cx="3410712" cy="2601099"/>
          </a:xfrm>
          <a:prstGeom prst="rect">
            <a:avLst/>
          </a:prstGeom>
        </p:spPr>
      </p:pic>
      <p:sp>
        <p:nvSpPr>
          <p:cNvPr id="11" name="Text 7"/>
          <p:cNvSpPr txBox="1"/>
          <p:nvPr/>
        </p:nvSpPr>
        <p:spPr>
          <a:xfrm>
            <a:off x="4315968" y="4315968"/>
            <a:ext cx="3557016" cy="320040"/>
          </a:xfrm>
          <a:prstGeom prst="rect">
            <a:avLst/>
          </a:prstGeom>
          <a:noFill/>
          <a:ln/>
        </p:spPr>
        <p:txBody>
          <a:bodyPr wrap="square" lIns="0" tIns="0" rIns="0" bIns="0" rtlCol="0" anchor="t"/>
          <a:lstStyle/>
          <a:p>
            <a:pPr algn="l" indent="0" marL="0">
              <a:buNone/>
            </a:pPr>
            <a:r>
              <a:rPr lang="en-US" sz="1400" b="1" dirty="0">
                <a:solidFill>
                  <a:srgbClr val="17243F"/>
                </a:solidFill>
                <a:latin typeface="Calibri" pitchFamily="34" charset="0"/>
                <a:ea typeface="Calibri" pitchFamily="34" charset="-122"/>
                <a:cs typeface="Calibri" pitchFamily="34" charset="-120"/>
              </a:rPr>
              <a:t>Hình góc: nhận biết góc nhọn, tù, vuông, bẹt</a:t>
            </a:r>
            <a:endParaRPr lang="en-US" sz="1400" dirty="0"/>
          </a:p>
        </p:txBody>
      </p:sp>
      <p:sp>
        <p:nvSpPr>
          <p:cNvPr id="12" name="Shape 8"/>
          <p:cNvSpPr/>
          <p:nvPr/>
        </p:nvSpPr>
        <p:spPr>
          <a:xfrm>
            <a:off x="8147304" y="1528428"/>
            <a:ext cx="3557016" cy="2786161"/>
          </a:xfrm>
          <a:prstGeom prst="roundRect">
            <a:avLst>
              <a:gd name="adj" fmla="val 4595"/>
            </a:avLst>
          </a:prstGeom>
          <a:solidFill>
            <a:srgbClr val="17243F"/>
          </a:solidFill>
          <a:ln/>
        </p:spPr>
      </p:sp>
      <p:sp>
        <p:nvSpPr>
          <p:cNvPr id="13" name="Shape 9"/>
          <p:cNvSpPr/>
          <p:nvPr/>
        </p:nvSpPr>
        <p:spPr>
          <a:xfrm>
            <a:off x="8083296" y="1464420"/>
            <a:ext cx="3557016" cy="2786161"/>
          </a:xfrm>
          <a:prstGeom prst="roundRect">
            <a:avLst>
              <a:gd name="adj" fmla="val 4595"/>
            </a:avLst>
          </a:prstGeom>
          <a:solidFill>
            <a:srgbClr val="FFFFFF"/>
          </a:solidFill>
          <a:ln w="22225">
            <a:solidFill>
              <a:srgbClr val="17243F"/>
            </a:solidFill>
            <a:prstDash val="solid"/>
          </a:ln>
        </p:spPr>
      </p:sp>
      <p:pic>
        <p:nvPicPr>
          <p:cNvPr id="14" name="Image 2" descr="Ảnh chụp giao diện Siêu Sao Toán 4">    </p:cNvPr>
          <p:cNvPicPr>
            <a:picLocks noChangeAspect="1"/>
          </p:cNvPicPr>
          <p:nvPr/>
        </p:nvPicPr>
        <p:blipFill>
          <a:blip r:embed="rId3"/>
          <a:stretch>
            <a:fillRect/>
          </a:stretch>
        </p:blipFill>
        <p:spPr>
          <a:xfrm>
            <a:off x="8156448" y="1537572"/>
            <a:ext cx="3410712" cy="2639857"/>
          </a:xfrm>
          <a:prstGeom prst="rect">
            <a:avLst/>
          </a:prstGeom>
        </p:spPr>
      </p:pic>
      <p:sp>
        <p:nvSpPr>
          <p:cNvPr id="15" name="Text 10"/>
          <p:cNvSpPr txBox="1"/>
          <p:nvPr/>
        </p:nvSpPr>
        <p:spPr>
          <a:xfrm>
            <a:off x="8083296" y="4315968"/>
            <a:ext cx="3557016" cy="320040"/>
          </a:xfrm>
          <a:prstGeom prst="rect">
            <a:avLst/>
          </a:prstGeom>
          <a:noFill/>
          <a:ln/>
        </p:spPr>
        <p:txBody>
          <a:bodyPr wrap="square" lIns="0" tIns="0" rIns="0" bIns="0" rtlCol="0" anchor="t"/>
          <a:lstStyle/>
          <a:p>
            <a:pPr algn="l" indent="0" marL="0">
              <a:buNone/>
            </a:pPr>
            <a:r>
              <a:rPr lang="en-US" sz="1400" b="1" dirty="0">
                <a:solidFill>
                  <a:srgbClr val="17243F"/>
                </a:solidFill>
                <a:latin typeface="Calibri" pitchFamily="34" charset="0"/>
                <a:ea typeface="Calibri" pitchFamily="34" charset="-122"/>
                <a:cs typeface="Calibri" pitchFamily="34" charset="-120"/>
              </a:rPr>
              <a:t>Đồng hồ: đọc giờ, kim giờ và kim phút</a:t>
            </a:r>
            <a:endParaRPr lang="en-US" sz="1400" dirty="0"/>
          </a:p>
        </p:txBody>
      </p:sp>
      <p:sp>
        <p:nvSpPr>
          <p:cNvPr id="16" name="Shape 11"/>
          <p:cNvSpPr/>
          <p:nvPr/>
        </p:nvSpPr>
        <p:spPr>
          <a:xfrm>
            <a:off x="612648" y="4818888"/>
            <a:ext cx="3557016" cy="1508760"/>
          </a:xfrm>
          <a:prstGeom prst="roundRect">
            <a:avLst>
              <a:gd name="adj" fmla="val 9697"/>
            </a:avLst>
          </a:prstGeom>
          <a:solidFill>
            <a:srgbClr val="17243F"/>
          </a:solidFill>
          <a:ln/>
        </p:spPr>
      </p:sp>
      <p:sp>
        <p:nvSpPr>
          <p:cNvPr id="17" name="Shape 12"/>
          <p:cNvSpPr/>
          <p:nvPr/>
        </p:nvSpPr>
        <p:spPr>
          <a:xfrm>
            <a:off x="548640" y="4754880"/>
            <a:ext cx="3557016" cy="1508760"/>
          </a:xfrm>
          <a:prstGeom prst="roundRect">
            <a:avLst>
              <a:gd name="adj" fmla="val 9697"/>
            </a:avLst>
          </a:prstGeom>
          <a:solidFill>
            <a:srgbClr val="FFFFFF"/>
          </a:solidFill>
          <a:ln w="22225">
            <a:solidFill>
              <a:srgbClr val="17243F"/>
            </a:solidFill>
            <a:prstDash val="solid"/>
          </a:ln>
        </p:spPr>
      </p:sp>
      <p:sp>
        <p:nvSpPr>
          <p:cNvPr id="18" name="Text 13"/>
          <p:cNvSpPr txBox="1"/>
          <p:nvPr/>
        </p:nvSpPr>
        <p:spPr>
          <a:xfrm>
            <a:off x="731520" y="4846320"/>
            <a:ext cx="1280160" cy="1325880"/>
          </a:xfrm>
          <a:prstGeom prst="rect">
            <a:avLst/>
          </a:prstGeom>
          <a:noFill/>
          <a:ln/>
        </p:spPr>
        <p:txBody>
          <a:bodyPr wrap="square" lIns="0" tIns="0" rIns="0" bIns="0" rtlCol="0" anchor="ctr"/>
          <a:lstStyle/>
          <a:p>
            <a:pPr algn="l" indent="0" marL="0">
              <a:buNone/>
            </a:pPr>
            <a:r>
              <a:rPr lang="en-US" sz="4400" b="1" dirty="0">
                <a:solidFill>
                  <a:srgbClr val="2F5FD0"/>
                </a:solidFill>
                <a:latin typeface="Cambria" pitchFamily="34" charset="0"/>
                <a:ea typeface="Cambria" pitchFamily="34" charset="-122"/>
                <a:cs typeface="Cambria" pitchFamily="34" charset="-120"/>
              </a:rPr>
              <a:t>405</a:t>
            </a:r>
            <a:endParaRPr lang="en-US" sz="4400" dirty="0"/>
          </a:p>
        </p:txBody>
      </p:sp>
      <p:sp>
        <p:nvSpPr>
          <p:cNvPr id="19" name="Text 14"/>
          <p:cNvSpPr txBox="1"/>
          <p:nvPr/>
        </p:nvSpPr>
        <p:spPr>
          <a:xfrm>
            <a:off x="2057400" y="4892040"/>
            <a:ext cx="1920240" cy="365760"/>
          </a:xfrm>
          <a:prstGeom prst="rect">
            <a:avLst/>
          </a:prstGeom>
          <a:noFill/>
          <a:ln/>
        </p:spPr>
        <p:txBody>
          <a:bodyPr wrap="square" lIns="0" tIns="0" rIns="0" bIns="0" rtlCol="0" anchor="t"/>
          <a:lstStyle/>
          <a:p>
            <a:pPr algn="l" indent="0" marL="0">
              <a:buNone/>
            </a:pPr>
            <a:r>
              <a:rPr lang="en-US" sz="1700" b="1" dirty="0">
                <a:solidFill>
                  <a:srgbClr val="17243F"/>
                </a:solidFill>
                <a:latin typeface="Calibri" pitchFamily="34" charset="0"/>
                <a:ea typeface="Calibri" pitchFamily="34" charset="-122"/>
                <a:cs typeface="Calibri" pitchFamily="34" charset="-120"/>
              </a:rPr>
              <a:t>câu trắc nghiệm</a:t>
            </a:r>
            <a:endParaRPr lang="en-US" sz="1700" dirty="0"/>
          </a:p>
        </p:txBody>
      </p:sp>
      <p:sp>
        <p:nvSpPr>
          <p:cNvPr id="20" name="Text 15"/>
          <p:cNvSpPr txBox="1"/>
          <p:nvPr/>
        </p:nvSpPr>
        <p:spPr>
          <a:xfrm>
            <a:off x="2057400" y="5303520"/>
            <a:ext cx="1920240" cy="86868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Chọn A, B, C, D hoặc Đúng, Sai.</a:t>
            </a:r>
            <a:endParaRPr lang="en-US" sz="1400" dirty="0"/>
          </a:p>
        </p:txBody>
      </p:sp>
      <p:sp>
        <p:nvSpPr>
          <p:cNvPr id="21" name="Shape 16"/>
          <p:cNvSpPr/>
          <p:nvPr/>
        </p:nvSpPr>
        <p:spPr>
          <a:xfrm>
            <a:off x="4379976" y="4818888"/>
            <a:ext cx="3557016" cy="1508760"/>
          </a:xfrm>
          <a:prstGeom prst="roundRect">
            <a:avLst>
              <a:gd name="adj" fmla="val 9697"/>
            </a:avLst>
          </a:prstGeom>
          <a:solidFill>
            <a:srgbClr val="17243F"/>
          </a:solidFill>
          <a:ln/>
        </p:spPr>
      </p:sp>
      <p:sp>
        <p:nvSpPr>
          <p:cNvPr id="22" name="Shape 17"/>
          <p:cNvSpPr/>
          <p:nvPr/>
        </p:nvSpPr>
        <p:spPr>
          <a:xfrm>
            <a:off x="4315968" y="4754880"/>
            <a:ext cx="3557016" cy="1508760"/>
          </a:xfrm>
          <a:prstGeom prst="roundRect">
            <a:avLst>
              <a:gd name="adj" fmla="val 9697"/>
            </a:avLst>
          </a:prstGeom>
          <a:solidFill>
            <a:srgbClr val="FFFFFF"/>
          </a:solidFill>
          <a:ln w="22225">
            <a:solidFill>
              <a:srgbClr val="17243F"/>
            </a:solidFill>
            <a:prstDash val="solid"/>
          </a:ln>
        </p:spPr>
      </p:sp>
      <p:sp>
        <p:nvSpPr>
          <p:cNvPr id="23" name="Text 18"/>
          <p:cNvSpPr txBox="1"/>
          <p:nvPr/>
        </p:nvSpPr>
        <p:spPr>
          <a:xfrm>
            <a:off x="4498848" y="4846320"/>
            <a:ext cx="1280160" cy="1325880"/>
          </a:xfrm>
          <a:prstGeom prst="rect">
            <a:avLst/>
          </a:prstGeom>
          <a:noFill/>
          <a:ln/>
        </p:spPr>
        <p:txBody>
          <a:bodyPr wrap="square" lIns="0" tIns="0" rIns="0" bIns="0" rtlCol="0" anchor="ctr"/>
          <a:lstStyle/>
          <a:p>
            <a:pPr algn="l" indent="0" marL="0">
              <a:buNone/>
            </a:pPr>
            <a:r>
              <a:rPr lang="en-US" sz="4400" b="1" dirty="0">
                <a:solidFill>
                  <a:srgbClr val="E4474D"/>
                </a:solidFill>
                <a:latin typeface="Cambria" pitchFamily="34" charset="0"/>
                <a:ea typeface="Cambria" pitchFamily="34" charset="-122"/>
                <a:cs typeface="Cambria" pitchFamily="34" charset="-120"/>
              </a:rPr>
              <a:t>951</a:t>
            </a:r>
            <a:endParaRPr lang="en-US" sz="4400" dirty="0"/>
          </a:p>
        </p:txBody>
      </p:sp>
      <p:sp>
        <p:nvSpPr>
          <p:cNvPr id="24" name="Text 19"/>
          <p:cNvSpPr txBox="1"/>
          <p:nvPr/>
        </p:nvSpPr>
        <p:spPr>
          <a:xfrm>
            <a:off x="5824728" y="4892040"/>
            <a:ext cx="1920240" cy="365760"/>
          </a:xfrm>
          <a:prstGeom prst="rect">
            <a:avLst/>
          </a:prstGeom>
          <a:noFill/>
          <a:ln/>
        </p:spPr>
        <p:txBody>
          <a:bodyPr wrap="square" lIns="0" tIns="0" rIns="0" bIns="0" rtlCol="0" anchor="t"/>
          <a:lstStyle/>
          <a:p>
            <a:pPr algn="l" indent="0" marL="0">
              <a:buNone/>
            </a:pPr>
            <a:r>
              <a:rPr lang="en-US" sz="1700" b="1" dirty="0">
                <a:solidFill>
                  <a:srgbClr val="17243F"/>
                </a:solidFill>
                <a:latin typeface="Calibri" pitchFamily="34" charset="0"/>
                <a:ea typeface="Calibri" pitchFamily="34" charset="-122"/>
                <a:cs typeface="Calibri" pitchFamily="34" charset="-120"/>
              </a:rPr>
              <a:t>câu điền số</a:t>
            </a:r>
            <a:endParaRPr lang="en-US" sz="1700" dirty="0"/>
          </a:p>
        </p:txBody>
      </p:sp>
      <p:sp>
        <p:nvSpPr>
          <p:cNvPr id="25" name="Text 20"/>
          <p:cNvSpPr txBox="1"/>
          <p:nvPr/>
        </p:nvSpPr>
        <p:spPr>
          <a:xfrm>
            <a:off x="5824728" y="5303520"/>
            <a:ext cx="1920240" cy="86868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Gõ kết quả, có đơn vị cho sẵn.</a:t>
            </a:r>
            <a:endParaRPr lang="en-US" sz="1400" dirty="0"/>
          </a:p>
        </p:txBody>
      </p:sp>
      <p:sp>
        <p:nvSpPr>
          <p:cNvPr id="26" name="Shape 21"/>
          <p:cNvSpPr/>
          <p:nvPr/>
        </p:nvSpPr>
        <p:spPr>
          <a:xfrm>
            <a:off x="8147304" y="4818888"/>
            <a:ext cx="3557016" cy="1508760"/>
          </a:xfrm>
          <a:prstGeom prst="roundRect">
            <a:avLst>
              <a:gd name="adj" fmla="val 9697"/>
            </a:avLst>
          </a:prstGeom>
          <a:solidFill>
            <a:srgbClr val="17243F"/>
          </a:solidFill>
          <a:ln/>
        </p:spPr>
      </p:sp>
      <p:sp>
        <p:nvSpPr>
          <p:cNvPr id="27" name="Shape 22"/>
          <p:cNvSpPr/>
          <p:nvPr/>
        </p:nvSpPr>
        <p:spPr>
          <a:xfrm>
            <a:off x="8083296" y="4754880"/>
            <a:ext cx="3557016" cy="1508760"/>
          </a:xfrm>
          <a:prstGeom prst="roundRect">
            <a:avLst>
              <a:gd name="adj" fmla="val 9697"/>
            </a:avLst>
          </a:prstGeom>
          <a:solidFill>
            <a:srgbClr val="FFFFFF"/>
          </a:solidFill>
          <a:ln w="22225">
            <a:solidFill>
              <a:srgbClr val="17243F"/>
            </a:solidFill>
            <a:prstDash val="solid"/>
          </a:ln>
        </p:spPr>
      </p:sp>
      <p:sp>
        <p:nvSpPr>
          <p:cNvPr id="28" name="Text 23"/>
          <p:cNvSpPr txBox="1"/>
          <p:nvPr/>
        </p:nvSpPr>
        <p:spPr>
          <a:xfrm>
            <a:off x="8266176" y="4846320"/>
            <a:ext cx="1280160" cy="1325880"/>
          </a:xfrm>
          <a:prstGeom prst="rect">
            <a:avLst/>
          </a:prstGeom>
          <a:noFill/>
          <a:ln/>
        </p:spPr>
        <p:txBody>
          <a:bodyPr wrap="square" lIns="0" tIns="0" rIns="0" bIns="0" rtlCol="0" anchor="ctr"/>
          <a:lstStyle/>
          <a:p>
            <a:pPr algn="l" indent="0" marL="0">
              <a:buNone/>
            </a:pPr>
            <a:r>
              <a:rPr lang="en-US" sz="4400" b="1" dirty="0">
                <a:solidFill>
                  <a:srgbClr val="1F9D62"/>
                </a:solidFill>
                <a:latin typeface="Cambria" pitchFamily="34" charset="0"/>
                <a:ea typeface="Cambria" pitchFamily="34" charset="-122"/>
                <a:cs typeface="Cambria" pitchFamily="34" charset="-120"/>
              </a:rPr>
              <a:t>79</a:t>
            </a:r>
            <a:endParaRPr lang="en-US" sz="4400" dirty="0"/>
          </a:p>
        </p:txBody>
      </p:sp>
      <p:sp>
        <p:nvSpPr>
          <p:cNvPr id="29" name="Text 24"/>
          <p:cNvSpPr txBox="1"/>
          <p:nvPr/>
        </p:nvSpPr>
        <p:spPr>
          <a:xfrm>
            <a:off x="9592056" y="4892040"/>
            <a:ext cx="1920240" cy="365760"/>
          </a:xfrm>
          <a:prstGeom prst="rect">
            <a:avLst/>
          </a:prstGeom>
          <a:noFill/>
          <a:ln/>
        </p:spPr>
        <p:txBody>
          <a:bodyPr wrap="square" lIns="0" tIns="0" rIns="0" bIns="0" rtlCol="0" anchor="t"/>
          <a:lstStyle/>
          <a:p>
            <a:pPr algn="l" indent="0" marL="0">
              <a:buNone/>
            </a:pPr>
            <a:r>
              <a:rPr lang="en-US" sz="1700" b="1" dirty="0">
                <a:solidFill>
                  <a:srgbClr val="17243F"/>
                </a:solidFill>
                <a:latin typeface="Calibri" pitchFamily="34" charset="0"/>
                <a:ea typeface="Calibri" pitchFamily="34" charset="-122"/>
                <a:cs typeface="Calibri" pitchFamily="34" charset="-120"/>
              </a:rPr>
              <a:t>câu có hình vẽ</a:t>
            </a:r>
            <a:endParaRPr lang="en-US" sz="1700" dirty="0"/>
          </a:p>
        </p:txBody>
      </p:sp>
      <p:sp>
        <p:nvSpPr>
          <p:cNvPr id="30" name="Text 25"/>
          <p:cNvSpPr txBox="1"/>
          <p:nvPr/>
        </p:nvSpPr>
        <p:spPr>
          <a:xfrm>
            <a:off x="9592056" y="5303520"/>
            <a:ext cx="1920240" cy="86868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Góc, đồng hồ, hình học, phân số, biểu đồ.</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9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46888"/>
            <a:ext cx="8229600" cy="274320"/>
          </a:xfrm>
          <a:prstGeom prst="rect">
            <a:avLst/>
          </a:prstGeom>
          <a:noFill/>
          <a:ln/>
        </p:spPr>
        <p:txBody>
          <a:bodyPr wrap="square" lIns="0" tIns="0" rIns="0" bIns="0" rtlCol="0" anchor="t"/>
          <a:lstStyle/>
          <a:p>
            <a:pPr algn="l" indent="0" marL="0">
              <a:buNone/>
            </a:pPr>
            <a:r>
              <a:rPr lang="en-US" sz="1400" b="1" dirty="0">
                <a:solidFill>
                  <a:srgbClr val="2F5FD0"/>
                </a:solidFill>
                <a:latin typeface="Calibri" pitchFamily="34" charset="0"/>
                <a:ea typeface="Calibri" pitchFamily="34" charset="-122"/>
                <a:cs typeface="Calibri" pitchFamily="34" charset="-120"/>
              </a:rPr>
              <a:t>2 · Ý tưởng, giải pháp và công cụ AI</a:t>
            </a:r>
            <a:endParaRPr lang="en-US" sz="1400" dirty="0"/>
          </a:p>
        </p:txBody>
      </p:sp>
      <p:sp>
        <p:nvSpPr>
          <p:cNvPr id="3" name="Text 0"/>
          <p:cNvSpPr/>
          <p:nvPr>
            <p:ph idx="100" type="title" hasCustomPrompt="1"/>
          </p:nvPr>
        </p:nvSpPr>
        <p:spPr>
          <a:xfrm>
            <a:off x="548640" y="457200"/>
            <a:ext cx="11091672" cy="868680"/>
          </a:xfrm>
          <a:prstGeom prst="rect">
            <a:avLst/>
          </a:prstGeom>
          <a:noFill/>
          <a:ln/>
        </p:spPr>
        <p:txBody>
          <a:bodyPr wrap="square" lIns="0" tIns="0" rIns="0" bIns="0" rtlCol="0" anchor="ctr"/>
          <a:lstStyle/>
          <a:p>
            <a:pPr indent="0" marL="0">
              <a:buNone/>
            </a:pPr>
            <a:r>
              <a:rPr lang="en-US" sz="3600" b="1" dirty="0">
                <a:solidFill>
                  <a:srgbClr val="17243F"/>
                </a:solidFill>
                <a:latin typeface="Cambria" pitchFamily="34" charset="0"/>
                <a:ea typeface="Cambria" pitchFamily="34" charset="-122"/>
                <a:cs typeface="Cambria" pitchFamily="34" charset="-120"/>
              </a:rPr>
              <a:t>Thử thách nâng cao cho em thích suy nghĩ</a:t>
            </a:r>
            <a:endParaRPr lang="en-US" sz="3600" dirty="0"/>
          </a:p>
        </p:txBody>
      </p:sp>
      <p:sp>
        <p:nvSpPr>
          <p:cNvPr id="4" name="Shape 2"/>
          <p:cNvSpPr/>
          <p:nvPr/>
        </p:nvSpPr>
        <p:spPr>
          <a:xfrm>
            <a:off x="612648" y="1481328"/>
            <a:ext cx="5440680" cy="3595670"/>
          </a:xfrm>
          <a:prstGeom prst="roundRect">
            <a:avLst>
              <a:gd name="adj" fmla="val 3560"/>
            </a:avLst>
          </a:prstGeom>
          <a:solidFill>
            <a:srgbClr val="17243F"/>
          </a:solidFill>
          <a:ln/>
        </p:spPr>
      </p:sp>
      <p:sp>
        <p:nvSpPr>
          <p:cNvPr id="5" name="Shape 3"/>
          <p:cNvSpPr/>
          <p:nvPr/>
        </p:nvSpPr>
        <p:spPr>
          <a:xfrm>
            <a:off x="548640" y="1417320"/>
            <a:ext cx="5440680" cy="3595670"/>
          </a:xfrm>
          <a:prstGeom prst="roundRect">
            <a:avLst>
              <a:gd name="adj" fmla="val 3560"/>
            </a:avLst>
          </a:prstGeom>
          <a:solidFill>
            <a:srgbClr val="FFFFFF"/>
          </a:solidFill>
          <a:ln w="22225">
            <a:solidFill>
              <a:srgbClr val="17243F"/>
            </a:solidFill>
            <a:prstDash val="solid"/>
          </a:ln>
        </p:spPr>
      </p:sp>
      <p:pic>
        <p:nvPicPr>
          <p:cNvPr id="6" name="Image 0" descr="Ảnh chụp giao diện Siêu Sao Toán 4">    </p:cNvPr>
          <p:cNvPicPr>
            <a:picLocks noChangeAspect="1"/>
          </p:cNvPicPr>
          <p:nvPr/>
        </p:nvPicPr>
        <p:blipFill>
          <a:blip r:embed="rId1"/>
          <a:stretch>
            <a:fillRect/>
          </a:stretch>
        </p:blipFill>
        <p:spPr>
          <a:xfrm>
            <a:off x="621792" y="1490472"/>
            <a:ext cx="5294376" cy="3449366"/>
          </a:xfrm>
          <a:prstGeom prst="rect">
            <a:avLst/>
          </a:prstGeom>
        </p:spPr>
      </p:pic>
      <p:sp>
        <p:nvSpPr>
          <p:cNvPr id="7" name="Shape 4"/>
          <p:cNvSpPr/>
          <p:nvPr/>
        </p:nvSpPr>
        <p:spPr>
          <a:xfrm>
            <a:off x="6263640" y="1481328"/>
            <a:ext cx="5440680" cy="3468659"/>
          </a:xfrm>
          <a:prstGeom prst="roundRect">
            <a:avLst>
              <a:gd name="adj" fmla="val 3691"/>
            </a:avLst>
          </a:prstGeom>
          <a:solidFill>
            <a:srgbClr val="17243F"/>
          </a:solidFill>
          <a:ln/>
        </p:spPr>
      </p:sp>
      <p:sp>
        <p:nvSpPr>
          <p:cNvPr id="8" name="Shape 5"/>
          <p:cNvSpPr/>
          <p:nvPr/>
        </p:nvSpPr>
        <p:spPr>
          <a:xfrm>
            <a:off x="6199632" y="1417320"/>
            <a:ext cx="5440680" cy="3468659"/>
          </a:xfrm>
          <a:prstGeom prst="roundRect">
            <a:avLst>
              <a:gd name="adj" fmla="val 3691"/>
            </a:avLst>
          </a:prstGeom>
          <a:solidFill>
            <a:srgbClr val="FFFFFF"/>
          </a:solidFill>
          <a:ln w="22225">
            <a:solidFill>
              <a:srgbClr val="17243F"/>
            </a:solidFill>
            <a:prstDash val="solid"/>
          </a:ln>
        </p:spPr>
      </p:sp>
      <p:pic>
        <p:nvPicPr>
          <p:cNvPr id="9" name="Image 1" descr="Ảnh chụp giao diện Siêu Sao Toán 4">    </p:cNvPr>
          <p:cNvPicPr>
            <a:picLocks noChangeAspect="1"/>
          </p:cNvPicPr>
          <p:nvPr/>
        </p:nvPicPr>
        <p:blipFill>
          <a:blip r:embed="rId2"/>
          <a:stretch>
            <a:fillRect/>
          </a:stretch>
        </p:blipFill>
        <p:spPr>
          <a:xfrm>
            <a:off x="6272784" y="1490472"/>
            <a:ext cx="5294376" cy="3322355"/>
          </a:xfrm>
          <a:prstGeom prst="rect">
            <a:avLst/>
          </a:prstGeom>
        </p:spPr>
      </p:pic>
      <p:sp>
        <p:nvSpPr>
          <p:cNvPr id="10" name="Shape 6"/>
          <p:cNvSpPr/>
          <p:nvPr/>
        </p:nvSpPr>
        <p:spPr>
          <a:xfrm>
            <a:off x="548640" y="5303520"/>
            <a:ext cx="566928" cy="566928"/>
          </a:xfrm>
          <a:prstGeom prst="ellipse">
            <a:avLst/>
          </a:prstGeom>
          <a:solidFill>
            <a:srgbClr val="E5DFF7"/>
          </a:solidFill>
          <a:ln w="19050">
            <a:solidFill>
              <a:srgbClr val="7A5BD0"/>
            </a:solidFill>
            <a:prstDash val="solid"/>
          </a:ln>
        </p:spPr>
      </p:sp>
      <p:pic>
        <p:nvPicPr>
          <p:cNvPr id="11" name="Image 2" descr="Ảnh chụp giao diện Siêu Sao Toán 4">    </p:cNvPr>
          <p:cNvPicPr>
            <a:picLocks noChangeAspect="1"/>
          </p:cNvPicPr>
          <p:nvPr/>
        </p:nvPicPr>
        <p:blipFill>
          <a:blip r:embed="rId3"/>
          <a:stretch>
            <a:fillRect/>
          </a:stretch>
        </p:blipFill>
        <p:spPr>
          <a:xfrm>
            <a:off x="690372" y="5445252"/>
            <a:ext cx="283464" cy="283464"/>
          </a:xfrm>
          <a:prstGeom prst="rect">
            <a:avLst/>
          </a:prstGeom>
        </p:spPr>
      </p:pic>
      <p:sp>
        <p:nvSpPr>
          <p:cNvPr id="12" name="Text 7"/>
          <p:cNvSpPr txBox="1"/>
          <p:nvPr/>
        </p:nvSpPr>
        <p:spPr>
          <a:xfrm>
            <a:off x="1353312" y="5285232"/>
            <a:ext cx="2761488" cy="310896"/>
          </a:xfrm>
          <a:prstGeom prst="rect">
            <a:avLst/>
          </a:prstGeom>
          <a:noFill/>
          <a:ln/>
        </p:spPr>
        <p:txBody>
          <a:bodyPr wrap="square" lIns="0" tIns="0" rIns="0" bIns="0" rtlCol="0" anchor="t"/>
          <a:lstStyle/>
          <a:p>
            <a:pPr algn="l" indent="0" marL="0">
              <a:buNone/>
            </a:pPr>
            <a:r>
              <a:rPr lang="en-US" sz="1700" b="1" dirty="0">
                <a:solidFill>
                  <a:srgbClr val="17243F"/>
                </a:solidFill>
                <a:latin typeface="Calibri" pitchFamily="34" charset="0"/>
                <a:ea typeface="Calibri" pitchFamily="34" charset="-122"/>
                <a:cs typeface="Calibri" pitchFamily="34" charset="-120"/>
              </a:rPr>
              <a:t>5 câu khó hơn</a:t>
            </a:r>
            <a:endParaRPr lang="en-US" sz="1700" dirty="0"/>
          </a:p>
        </p:txBody>
      </p:sp>
      <p:sp>
        <p:nvSpPr>
          <p:cNvPr id="13" name="Text 8"/>
          <p:cNvSpPr txBox="1"/>
          <p:nvPr/>
        </p:nvSpPr>
        <p:spPr>
          <a:xfrm>
            <a:off x="1353312" y="5614416"/>
            <a:ext cx="2761488" cy="68580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Rút ngẫu nhiên từ 383 câu nâng cao của 73 bài.</a:t>
            </a:r>
            <a:endParaRPr lang="en-US" sz="1400" dirty="0"/>
          </a:p>
        </p:txBody>
      </p:sp>
      <p:sp>
        <p:nvSpPr>
          <p:cNvPr id="14" name="Shape 9"/>
          <p:cNvSpPr/>
          <p:nvPr/>
        </p:nvSpPr>
        <p:spPr>
          <a:xfrm>
            <a:off x="4334256" y="5303520"/>
            <a:ext cx="566928" cy="566928"/>
          </a:xfrm>
          <a:prstGeom prst="ellipse">
            <a:avLst/>
          </a:prstGeom>
          <a:solidFill>
            <a:srgbClr val="FFF0B5"/>
          </a:solidFill>
          <a:ln w="19050">
            <a:solidFill>
              <a:srgbClr val="FFC83D"/>
            </a:solidFill>
            <a:prstDash val="solid"/>
          </a:ln>
        </p:spPr>
      </p:sp>
      <p:pic>
        <p:nvPicPr>
          <p:cNvPr id="15" name="Image 3" descr="Ảnh chụp giao diện Siêu Sao Toán 4">    </p:cNvPr>
          <p:cNvPicPr>
            <a:picLocks noChangeAspect="1"/>
          </p:cNvPicPr>
          <p:nvPr/>
        </p:nvPicPr>
        <p:blipFill>
          <a:blip r:embed="rId4"/>
          <a:stretch>
            <a:fillRect/>
          </a:stretch>
        </p:blipFill>
        <p:spPr>
          <a:xfrm>
            <a:off x="4475988" y="5445252"/>
            <a:ext cx="283464" cy="283464"/>
          </a:xfrm>
          <a:prstGeom prst="rect">
            <a:avLst/>
          </a:prstGeom>
        </p:spPr>
      </p:pic>
      <p:sp>
        <p:nvSpPr>
          <p:cNvPr id="16" name="Text 10"/>
          <p:cNvSpPr txBox="1"/>
          <p:nvPr/>
        </p:nvSpPr>
        <p:spPr>
          <a:xfrm>
            <a:off x="5138928" y="5285232"/>
            <a:ext cx="2761488" cy="310896"/>
          </a:xfrm>
          <a:prstGeom prst="rect">
            <a:avLst/>
          </a:prstGeom>
          <a:noFill/>
          <a:ln/>
        </p:spPr>
        <p:txBody>
          <a:bodyPr wrap="square" lIns="0" tIns="0" rIns="0" bIns="0" rtlCol="0" anchor="t"/>
          <a:lstStyle/>
          <a:p>
            <a:pPr algn="l" indent="0" marL="0">
              <a:buNone/>
            </a:pPr>
            <a:r>
              <a:rPr lang="en-US" sz="1700" b="1" dirty="0">
                <a:solidFill>
                  <a:srgbClr val="17243F"/>
                </a:solidFill>
                <a:latin typeface="Calibri" pitchFamily="34" charset="0"/>
                <a:ea typeface="Calibri" pitchFamily="34" charset="-122"/>
                <a:cs typeface="Calibri" pitchFamily="34" charset="-120"/>
              </a:rPr>
              <a:t>Không bắt buộc</a:t>
            </a:r>
            <a:endParaRPr lang="en-US" sz="1700" dirty="0"/>
          </a:p>
        </p:txBody>
      </p:sp>
      <p:sp>
        <p:nvSpPr>
          <p:cNvPr id="17" name="Text 11"/>
          <p:cNvSpPr txBox="1"/>
          <p:nvPr/>
        </p:nvSpPr>
        <p:spPr>
          <a:xfrm>
            <a:off x="5138928" y="5614416"/>
            <a:ext cx="2761488" cy="68580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Điểm tính riêng và được cộng vào tổng điểm xếp hạng.</a:t>
            </a:r>
            <a:endParaRPr lang="en-US" sz="1400" dirty="0"/>
          </a:p>
        </p:txBody>
      </p:sp>
      <p:sp>
        <p:nvSpPr>
          <p:cNvPr id="18" name="Shape 12"/>
          <p:cNvSpPr/>
          <p:nvPr/>
        </p:nvSpPr>
        <p:spPr>
          <a:xfrm>
            <a:off x="8119872" y="5303520"/>
            <a:ext cx="566928" cy="566928"/>
          </a:xfrm>
          <a:prstGeom prst="ellipse">
            <a:avLst/>
          </a:prstGeom>
          <a:solidFill>
            <a:srgbClr val="D9F2E6"/>
          </a:solidFill>
          <a:ln w="19050">
            <a:solidFill>
              <a:srgbClr val="1F9D62"/>
            </a:solidFill>
            <a:prstDash val="solid"/>
          </a:ln>
        </p:spPr>
      </p:sp>
      <p:pic>
        <p:nvPicPr>
          <p:cNvPr id="19" name="Image 4" descr="Ảnh chụp giao diện Siêu Sao Toán 4">    </p:cNvPr>
          <p:cNvPicPr>
            <a:picLocks noChangeAspect="1"/>
          </p:cNvPicPr>
          <p:nvPr/>
        </p:nvPicPr>
        <p:blipFill>
          <a:blip r:embed="rId5"/>
          <a:stretch>
            <a:fillRect/>
          </a:stretch>
        </p:blipFill>
        <p:spPr>
          <a:xfrm>
            <a:off x="8261604" y="5445252"/>
            <a:ext cx="283464" cy="283464"/>
          </a:xfrm>
          <a:prstGeom prst="rect">
            <a:avLst/>
          </a:prstGeom>
        </p:spPr>
      </p:pic>
      <p:sp>
        <p:nvSpPr>
          <p:cNvPr id="20" name="Text 13"/>
          <p:cNvSpPr txBox="1"/>
          <p:nvPr/>
        </p:nvSpPr>
        <p:spPr>
          <a:xfrm>
            <a:off x="8924544" y="5285232"/>
            <a:ext cx="2761488" cy="310896"/>
          </a:xfrm>
          <a:prstGeom prst="rect">
            <a:avLst/>
          </a:prstGeom>
          <a:noFill/>
          <a:ln/>
        </p:spPr>
        <p:txBody>
          <a:bodyPr wrap="square" lIns="0" tIns="0" rIns="0" bIns="0" rtlCol="0" anchor="t"/>
          <a:lstStyle/>
          <a:p>
            <a:pPr algn="l" indent="0" marL="0">
              <a:buNone/>
            </a:pPr>
            <a:r>
              <a:rPr lang="en-US" sz="1700" b="1" dirty="0">
                <a:solidFill>
                  <a:srgbClr val="17243F"/>
                </a:solidFill>
                <a:latin typeface="Calibri" pitchFamily="34" charset="0"/>
                <a:ea typeface="Calibri" pitchFamily="34" charset="-122"/>
                <a:cs typeface="Calibri" pitchFamily="34" charset="-120"/>
              </a:rPr>
              <a:t>Xuất Excel riêng</a:t>
            </a:r>
            <a:endParaRPr lang="en-US" sz="1700" dirty="0"/>
          </a:p>
        </p:txBody>
      </p:sp>
      <p:sp>
        <p:nvSpPr>
          <p:cNvPr id="21" name="Text 14"/>
          <p:cNvSpPr txBox="1"/>
          <p:nvPr/>
        </p:nvSpPr>
        <p:spPr>
          <a:xfrm>
            <a:off x="8924544" y="5614416"/>
            <a:ext cx="2761488" cy="68580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Hiện điểm trên thẻ bài; trong Excel là trang “Bài N NC”.</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9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46888"/>
            <a:ext cx="8229600" cy="274320"/>
          </a:xfrm>
          <a:prstGeom prst="rect">
            <a:avLst/>
          </a:prstGeom>
          <a:noFill/>
          <a:ln/>
        </p:spPr>
        <p:txBody>
          <a:bodyPr wrap="square" lIns="0" tIns="0" rIns="0" bIns="0" rtlCol="0" anchor="t"/>
          <a:lstStyle/>
          <a:p>
            <a:pPr algn="l" indent="0" marL="0">
              <a:buNone/>
            </a:pPr>
            <a:r>
              <a:rPr lang="en-US" sz="1400" b="1" dirty="0">
                <a:solidFill>
                  <a:srgbClr val="2F5FD0"/>
                </a:solidFill>
                <a:latin typeface="Calibri" pitchFamily="34" charset="0"/>
                <a:ea typeface="Calibri" pitchFamily="34" charset="-122"/>
                <a:cs typeface="Calibri" pitchFamily="34" charset="-120"/>
              </a:rPr>
              <a:t>2 · Ý tưởng, giải pháp và công cụ AI</a:t>
            </a:r>
            <a:endParaRPr lang="en-US" sz="1400" dirty="0"/>
          </a:p>
        </p:txBody>
      </p:sp>
      <p:sp>
        <p:nvSpPr>
          <p:cNvPr id="3" name="Text 0"/>
          <p:cNvSpPr/>
          <p:nvPr>
            <p:ph idx="100" type="title" hasCustomPrompt="1"/>
          </p:nvPr>
        </p:nvSpPr>
        <p:spPr>
          <a:xfrm>
            <a:off x="548640" y="457200"/>
            <a:ext cx="11091672" cy="868680"/>
          </a:xfrm>
          <a:prstGeom prst="rect">
            <a:avLst/>
          </a:prstGeom>
          <a:noFill/>
          <a:ln/>
        </p:spPr>
        <p:txBody>
          <a:bodyPr wrap="square" lIns="0" tIns="0" rIns="0" bIns="0" rtlCol="0" anchor="ctr"/>
          <a:lstStyle/>
          <a:p>
            <a:pPr indent="0" marL="0">
              <a:buNone/>
            </a:pPr>
            <a:r>
              <a:rPr lang="en-US" sz="3600" b="1" dirty="0">
                <a:solidFill>
                  <a:srgbClr val="17243F"/>
                </a:solidFill>
                <a:latin typeface="Cambria" pitchFamily="34" charset="0"/>
                <a:ea typeface="Cambria" pitchFamily="34" charset="-122"/>
                <a:cs typeface="Cambria" pitchFamily="34" charset="-120"/>
              </a:rPr>
              <a:t>AI hỗ trợ giáo viên xây dựng sản phẩm</a:t>
            </a:r>
            <a:endParaRPr lang="en-US" sz="3600" dirty="0"/>
          </a:p>
        </p:txBody>
      </p:sp>
      <p:sp>
        <p:nvSpPr>
          <p:cNvPr id="4" name="Shape 2"/>
          <p:cNvSpPr/>
          <p:nvPr/>
        </p:nvSpPr>
        <p:spPr>
          <a:xfrm>
            <a:off x="612648" y="1572768"/>
            <a:ext cx="5440680" cy="1874520"/>
          </a:xfrm>
          <a:prstGeom prst="roundRect">
            <a:avLst>
              <a:gd name="adj" fmla="val 7805"/>
            </a:avLst>
          </a:prstGeom>
          <a:solidFill>
            <a:srgbClr val="17243F"/>
          </a:solidFill>
          <a:ln/>
        </p:spPr>
      </p:sp>
      <p:sp>
        <p:nvSpPr>
          <p:cNvPr id="5" name="Shape 3"/>
          <p:cNvSpPr/>
          <p:nvPr/>
        </p:nvSpPr>
        <p:spPr>
          <a:xfrm>
            <a:off x="548640" y="1508760"/>
            <a:ext cx="5440680" cy="1874520"/>
          </a:xfrm>
          <a:prstGeom prst="roundRect">
            <a:avLst>
              <a:gd name="adj" fmla="val 7805"/>
            </a:avLst>
          </a:prstGeom>
          <a:solidFill>
            <a:srgbClr val="FFFFFF"/>
          </a:solidFill>
          <a:ln w="22225">
            <a:solidFill>
              <a:srgbClr val="17243F"/>
            </a:solidFill>
            <a:prstDash val="solid"/>
          </a:ln>
        </p:spPr>
      </p:sp>
      <p:sp>
        <p:nvSpPr>
          <p:cNvPr id="6" name="Shape 4"/>
          <p:cNvSpPr/>
          <p:nvPr/>
        </p:nvSpPr>
        <p:spPr>
          <a:xfrm>
            <a:off x="822960" y="1783080"/>
            <a:ext cx="822960" cy="822960"/>
          </a:xfrm>
          <a:prstGeom prst="ellipse">
            <a:avLst/>
          </a:prstGeom>
          <a:solidFill>
            <a:srgbClr val="E5DFF7"/>
          </a:solidFill>
          <a:ln w="19050">
            <a:solidFill>
              <a:srgbClr val="7A5BD0"/>
            </a:solidFill>
            <a:prstDash val="solid"/>
          </a:ln>
        </p:spPr>
      </p:sp>
      <p:pic>
        <p:nvPicPr>
          <p:cNvPr id="7" name="Image 0" descr="Ảnh chụp giao diện Siêu Sao Toán 4">    </p:cNvPr>
          <p:cNvPicPr>
            <a:picLocks noChangeAspect="1"/>
          </p:cNvPicPr>
          <p:nvPr/>
        </p:nvPicPr>
        <p:blipFill>
          <a:blip r:embed="rId1"/>
          <a:stretch>
            <a:fillRect/>
          </a:stretch>
        </p:blipFill>
        <p:spPr>
          <a:xfrm>
            <a:off x="1028700" y="1988820"/>
            <a:ext cx="411480" cy="411480"/>
          </a:xfrm>
          <a:prstGeom prst="rect">
            <a:avLst/>
          </a:prstGeom>
        </p:spPr>
      </p:pic>
      <p:sp>
        <p:nvSpPr>
          <p:cNvPr id="8" name="Text 5"/>
          <p:cNvSpPr txBox="1"/>
          <p:nvPr/>
        </p:nvSpPr>
        <p:spPr>
          <a:xfrm>
            <a:off x="1920240" y="1709928"/>
            <a:ext cx="3886200" cy="411480"/>
          </a:xfrm>
          <a:prstGeom prst="rect">
            <a:avLst/>
          </a:prstGeom>
          <a:noFill/>
          <a:ln/>
        </p:spPr>
        <p:txBody>
          <a:bodyPr wrap="square" lIns="0" tIns="0" rIns="0" bIns="0" rtlCol="0" anchor="t"/>
          <a:lstStyle/>
          <a:p>
            <a:pPr algn="l" indent="0" marL="0">
              <a:buNone/>
            </a:pPr>
            <a:r>
              <a:rPr lang="en-US" sz="2000" b="1" dirty="0">
                <a:solidFill>
                  <a:srgbClr val="17243F"/>
                </a:solidFill>
                <a:latin typeface="Cambria" pitchFamily="34" charset="0"/>
                <a:ea typeface="Cambria" pitchFamily="34" charset="-122"/>
                <a:cs typeface="Cambria" pitchFamily="34" charset="-120"/>
              </a:rPr>
              <a:t>Claude Code hỗ trợ lập trình</a:t>
            </a:r>
            <a:endParaRPr lang="en-US" sz="2000" dirty="0"/>
          </a:p>
        </p:txBody>
      </p:sp>
      <p:sp>
        <p:nvSpPr>
          <p:cNvPr id="9" name="Text 6"/>
          <p:cNvSpPr txBox="1"/>
          <p:nvPr/>
        </p:nvSpPr>
        <p:spPr>
          <a:xfrm>
            <a:off x="1920240" y="2167128"/>
            <a:ext cx="3886200" cy="1143000"/>
          </a:xfrm>
          <a:prstGeom prst="rect">
            <a:avLst/>
          </a:prstGeom>
          <a:noFill/>
          <a:ln/>
        </p:spPr>
        <p:txBody>
          <a:bodyPr wrap="square" lIns="0" tIns="0" rIns="0" bIns="0" rtlCol="0" anchor="t"/>
          <a:lstStyle/>
          <a:p>
            <a:pPr algn="l" indent="0" marL="0">
              <a:buNone/>
            </a:pPr>
            <a:r>
              <a:rPr lang="en-US" sz="1500" dirty="0">
                <a:solidFill>
                  <a:srgbClr val="4A5A78"/>
                </a:solidFill>
                <a:latin typeface="Calibri" pitchFamily="34" charset="0"/>
                <a:ea typeface="Calibri" pitchFamily="34" charset="-122"/>
                <a:cs typeface="Calibri" pitchFamily="34" charset="-120"/>
              </a:rPr>
              <a:t>Công cụ AI của Anthropic giúp viết mã ứng dụng web: đăng nhập, chấm điểm, xếp hạng, trang quản lý và xuất Excel.</a:t>
            </a:r>
            <a:endParaRPr lang="en-US" sz="1500" dirty="0"/>
          </a:p>
        </p:txBody>
      </p:sp>
      <p:sp>
        <p:nvSpPr>
          <p:cNvPr id="10" name="Shape 7"/>
          <p:cNvSpPr/>
          <p:nvPr/>
        </p:nvSpPr>
        <p:spPr>
          <a:xfrm>
            <a:off x="6263640" y="1572768"/>
            <a:ext cx="5440680" cy="1874520"/>
          </a:xfrm>
          <a:prstGeom prst="roundRect">
            <a:avLst>
              <a:gd name="adj" fmla="val 7805"/>
            </a:avLst>
          </a:prstGeom>
          <a:solidFill>
            <a:srgbClr val="17243F"/>
          </a:solidFill>
          <a:ln/>
        </p:spPr>
      </p:sp>
      <p:sp>
        <p:nvSpPr>
          <p:cNvPr id="11" name="Shape 8"/>
          <p:cNvSpPr/>
          <p:nvPr/>
        </p:nvSpPr>
        <p:spPr>
          <a:xfrm>
            <a:off x="6199632" y="1508760"/>
            <a:ext cx="5440680" cy="1874520"/>
          </a:xfrm>
          <a:prstGeom prst="roundRect">
            <a:avLst>
              <a:gd name="adj" fmla="val 7805"/>
            </a:avLst>
          </a:prstGeom>
          <a:solidFill>
            <a:srgbClr val="FFFFFF"/>
          </a:solidFill>
          <a:ln w="22225">
            <a:solidFill>
              <a:srgbClr val="17243F"/>
            </a:solidFill>
            <a:prstDash val="solid"/>
          </a:ln>
        </p:spPr>
      </p:sp>
      <p:sp>
        <p:nvSpPr>
          <p:cNvPr id="12" name="Shape 9"/>
          <p:cNvSpPr/>
          <p:nvPr/>
        </p:nvSpPr>
        <p:spPr>
          <a:xfrm>
            <a:off x="6473952" y="1783080"/>
            <a:ext cx="822960" cy="822960"/>
          </a:xfrm>
          <a:prstGeom prst="ellipse">
            <a:avLst/>
          </a:prstGeom>
          <a:solidFill>
            <a:srgbClr val="DCE6FA"/>
          </a:solidFill>
          <a:ln w="19050">
            <a:solidFill>
              <a:srgbClr val="2F5FD0"/>
            </a:solidFill>
            <a:prstDash val="solid"/>
          </a:ln>
        </p:spPr>
      </p:sp>
      <p:pic>
        <p:nvPicPr>
          <p:cNvPr id="13" name="Image 1" descr="Ảnh chụp giao diện Siêu Sao Toán 4">    </p:cNvPr>
          <p:cNvPicPr>
            <a:picLocks noChangeAspect="1"/>
          </p:cNvPicPr>
          <p:nvPr/>
        </p:nvPicPr>
        <p:blipFill>
          <a:blip r:embed="rId2"/>
          <a:stretch>
            <a:fillRect/>
          </a:stretch>
        </p:blipFill>
        <p:spPr>
          <a:xfrm>
            <a:off x="6679692" y="1988820"/>
            <a:ext cx="411480" cy="411480"/>
          </a:xfrm>
          <a:prstGeom prst="rect">
            <a:avLst/>
          </a:prstGeom>
        </p:spPr>
      </p:pic>
      <p:sp>
        <p:nvSpPr>
          <p:cNvPr id="14" name="Text 10"/>
          <p:cNvSpPr txBox="1"/>
          <p:nvPr/>
        </p:nvSpPr>
        <p:spPr>
          <a:xfrm>
            <a:off x="7571232" y="1709928"/>
            <a:ext cx="3886200" cy="411480"/>
          </a:xfrm>
          <a:prstGeom prst="rect">
            <a:avLst/>
          </a:prstGeom>
          <a:noFill/>
          <a:ln/>
        </p:spPr>
        <p:txBody>
          <a:bodyPr wrap="square" lIns="0" tIns="0" rIns="0" bIns="0" rtlCol="0" anchor="t"/>
          <a:lstStyle/>
          <a:p>
            <a:pPr algn="l" indent="0" marL="0">
              <a:buNone/>
            </a:pPr>
            <a:r>
              <a:rPr lang="en-US" sz="2000" b="1" dirty="0">
                <a:solidFill>
                  <a:srgbClr val="17243F"/>
                </a:solidFill>
                <a:latin typeface="Cambria" pitchFamily="34" charset="0"/>
                <a:ea typeface="Cambria" pitchFamily="34" charset="-122"/>
                <a:cs typeface="Cambria" pitchFamily="34" charset="-120"/>
              </a:rPr>
              <a:t>AI hỗ trợ soạn câu hỏi</a:t>
            </a:r>
            <a:endParaRPr lang="en-US" sz="2000" dirty="0"/>
          </a:p>
        </p:txBody>
      </p:sp>
      <p:sp>
        <p:nvSpPr>
          <p:cNvPr id="15" name="Text 11"/>
          <p:cNvSpPr txBox="1"/>
          <p:nvPr/>
        </p:nvSpPr>
        <p:spPr>
          <a:xfrm>
            <a:off x="7571232" y="2167128"/>
            <a:ext cx="3886200" cy="1143000"/>
          </a:xfrm>
          <a:prstGeom prst="rect">
            <a:avLst/>
          </a:prstGeom>
          <a:noFill/>
          <a:ln/>
        </p:spPr>
        <p:txBody>
          <a:bodyPr wrap="square" lIns="0" tIns="0" rIns="0" bIns="0" rtlCol="0" anchor="t"/>
          <a:lstStyle/>
          <a:p>
            <a:pPr algn="l" indent="0" marL="0">
              <a:buNone/>
            </a:pPr>
            <a:r>
              <a:rPr lang="en-US" sz="1500" dirty="0">
                <a:solidFill>
                  <a:srgbClr val="4A5A78"/>
                </a:solidFill>
                <a:latin typeface="Calibri" pitchFamily="34" charset="0"/>
                <a:ea typeface="Calibri" pitchFamily="34" charset="-122"/>
                <a:cs typeface="Calibri" pitchFamily="34" charset="-120"/>
              </a:rPr>
              <a:t>Soạn lại câu hỏi bám theo bài tập của từng bài trong sách, ra dạng tương tự và khó hơn một chút, có đáp án và gợi ý.</a:t>
            </a:r>
            <a:endParaRPr lang="en-US" sz="1500" dirty="0"/>
          </a:p>
        </p:txBody>
      </p:sp>
      <p:sp>
        <p:nvSpPr>
          <p:cNvPr id="16" name="Shape 12"/>
          <p:cNvSpPr/>
          <p:nvPr/>
        </p:nvSpPr>
        <p:spPr>
          <a:xfrm>
            <a:off x="612648" y="3630168"/>
            <a:ext cx="5440680" cy="1874520"/>
          </a:xfrm>
          <a:prstGeom prst="roundRect">
            <a:avLst>
              <a:gd name="adj" fmla="val 7805"/>
            </a:avLst>
          </a:prstGeom>
          <a:solidFill>
            <a:srgbClr val="17243F"/>
          </a:solidFill>
          <a:ln/>
        </p:spPr>
      </p:sp>
      <p:sp>
        <p:nvSpPr>
          <p:cNvPr id="17" name="Shape 13"/>
          <p:cNvSpPr/>
          <p:nvPr/>
        </p:nvSpPr>
        <p:spPr>
          <a:xfrm>
            <a:off x="548640" y="3566160"/>
            <a:ext cx="5440680" cy="1874520"/>
          </a:xfrm>
          <a:prstGeom prst="roundRect">
            <a:avLst>
              <a:gd name="adj" fmla="val 7805"/>
            </a:avLst>
          </a:prstGeom>
          <a:solidFill>
            <a:srgbClr val="FFFFFF"/>
          </a:solidFill>
          <a:ln w="22225">
            <a:solidFill>
              <a:srgbClr val="17243F"/>
            </a:solidFill>
            <a:prstDash val="solid"/>
          </a:ln>
        </p:spPr>
      </p:sp>
      <p:sp>
        <p:nvSpPr>
          <p:cNvPr id="18" name="Shape 14"/>
          <p:cNvSpPr/>
          <p:nvPr/>
        </p:nvSpPr>
        <p:spPr>
          <a:xfrm>
            <a:off x="822960" y="3840480"/>
            <a:ext cx="822960" cy="822960"/>
          </a:xfrm>
          <a:prstGeom prst="ellipse">
            <a:avLst/>
          </a:prstGeom>
          <a:solidFill>
            <a:srgbClr val="D9F2E6"/>
          </a:solidFill>
          <a:ln w="19050">
            <a:solidFill>
              <a:srgbClr val="1F9D62"/>
            </a:solidFill>
            <a:prstDash val="solid"/>
          </a:ln>
        </p:spPr>
      </p:sp>
      <p:pic>
        <p:nvPicPr>
          <p:cNvPr id="19" name="Image 2" descr="Ảnh chụp giao diện Siêu Sao Toán 4">    </p:cNvPr>
          <p:cNvPicPr>
            <a:picLocks noChangeAspect="1"/>
          </p:cNvPicPr>
          <p:nvPr/>
        </p:nvPicPr>
        <p:blipFill>
          <a:blip r:embed="rId3"/>
          <a:stretch>
            <a:fillRect/>
          </a:stretch>
        </p:blipFill>
        <p:spPr>
          <a:xfrm>
            <a:off x="1028700" y="4046220"/>
            <a:ext cx="411480" cy="411480"/>
          </a:xfrm>
          <a:prstGeom prst="rect">
            <a:avLst/>
          </a:prstGeom>
        </p:spPr>
      </p:pic>
      <p:sp>
        <p:nvSpPr>
          <p:cNvPr id="20" name="Text 15"/>
          <p:cNvSpPr txBox="1"/>
          <p:nvPr/>
        </p:nvSpPr>
        <p:spPr>
          <a:xfrm>
            <a:off x="1920240" y="3767328"/>
            <a:ext cx="3886200" cy="411480"/>
          </a:xfrm>
          <a:prstGeom prst="rect">
            <a:avLst/>
          </a:prstGeom>
          <a:noFill/>
          <a:ln/>
        </p:spPr>
        <p:txBody>
          <a:bodyPr wrap="square" lIns="0" tIns="0" rIns="0" bIns="0" rtlCol="0" anchor="t"/>
          <a:lstStyle/>
          <a:p>
            <a:pPr algn="l" indent="0" marL="0">
              <a:buNone/>
            </a:pPr>
            <a:r>
              <a:rPr lang="en-US" sz="2000" b="1" dirty="0">
                <a:solidFill>
                  <a:srgbClr val="17243F"/>
                </a:solidFill>
                <a:latin typeface="Cambria" pitchFamily="34" charset="0"/>
                <a:ea typeface="Cambria" pitchFamily="34" charset="-122"/>
                <a:cs typeface="Cambria" pitchFamily="34" charset="-120"/>
              </a:rPr>
              <a:t>Kiểm tra tự động</a:t>
            </a:r>
            <a:endParaRPr lang="en-US" sz="2000" dirty="0"/>
          </a:p>
        </p:txBody>
      </p:sp>
      <p:sp>
        <p:nvSpPr>
          <p:cNvPr id="21" name="Text 16"/>
          <p:cNvSpPr txBox="1"/>
          <p:nvPr/>
        </p:nvSpPr>
        <p:spPr>
          <a:xfrm>
            <a:off x="1920240" y="4224528"/>
            <a:ext cx="3886200" cy="1143000"/>
          </a:xfrm>
          <a:prstGeom prst="rect">
            <a:avLst/>
          </a:prstGeom>
          <a:noFill/>
          <a:ln/>
        </p:spPr>
        <p:txBody>
          <a:bodyPr wrap="square" lIns="0" tIns="0" rIns="0" bIns="0" rtlCol="0" anchor="t"/>
          <a:lstStyle/>
          <a:p>
            <a:pPr algn="l" indent="0" marL="0">
              <a:buNone/>
            </a:pPr>
            <a:r>
              <a:rPr lang="en-US" sz="1500" dirty="0">
                <a:solidFill>
                  <a:srgbClr val="4A5A78"/>
                </a:solidFill>
                <a:latin typeface="Calibri" pitchFamily="34" charset="0"/>
                <a:ea typeface="Calibri" pitchFamily="34" charset="-122"/>
                <a:cs typeface="Calibri" pitchFamily="34" charset="-120"/>
              </a:rPr>
              <a:t>Mỗi câu có đáp án hợp lệ, không trùng đề trong bài; các phép tính dạng “… = ?” được máy tính lại.</a:t>
            </a:r>
            <a:endParaRPr lang="en-US" sz="1500" dirty="0"/>
          </a:p>
        </p:txBody>
      </p:sp>
      <p:sp>
        <p:nvSpPr>
          <p:cNvPr id="22" name="Shape 17"/>
          <p:cNvSpPr/>
          <p:nvPr/>
        </p:nvSpPr>
        <p:spPr>
          <a:xfrm>
            <a:off x="6263640" y="3630168"/>
            <a:ext cx="5440680" cy="1874520"/>
          </a:xfrm>
          <a:prstGeom prst="roundRect">
            <a:avLst>
              <a:gd name="adj" fmla="val 7805"/>
            </a:avLst>
          </a:prstGeom>
          <a:solidFill>
            <a:srgbClr val="17243F"/>
          </a:solidFill>
          <a:ln/>
        </p:spPr>
      </p:sp>
      <p:sp>
        <p:nvSpPr>
          <p:cNvPr id="23" name="Shape 18"/>
          <p:cNvSpPr/>
          <p:nvPr/>
        </p:nvSpPr>
        <p:spPr>
          <a:xfrm>
            <a:off x="6199632" y="3566160"/>
            <a:ext cx="5440680" cy="1874520"/>
          </a:xfrm>
          <a:prstGeom prst="roundRect">
            <a:avLst>
              <a:gd name="adj" fmla="val 7805"/>
            </a:avLst>
          </a:prstGeom>
          <a:solidFill>
            <a:srgbClr val="FFFFFF"/>
          </a:solidFill>
          <a:ln w="22225">
            <a:solidFill>
              <a:srgbClr val="17243F"/>
            </a:solidFill>
            <a:prstDash val="solid"/>
          </a:ln>
        </p:spPr>
      </p:sp>
      <p:sp>
        <p:nvSpPr>
          <p:cNvPr id="24" name="Shape 19"/>
          <p:cNvSpPr/>
          <p:nvPr/>
        </p:nvSpPr>
        <p:spPr>
          <a:xfrm>
            <a:off x="6473952" y="3840480"/>
            <a:ext cx="822960" cy="822960"/>
          </a:xfrm>
          <a:prstGeom prst="ellipse">
            <a:avLst/>
          </a:prstGeom>
          <a:solidFill>
            <a:srgbClr val="FBDEDF"/>
          </a:solidFill>
          <a:ln w="19050">
            <a:solidFill>
              <a:srgbClr val="E4474D"/>
            </a:solidFill>
            <a:prstDash val="solid"/>
          </a:ln>
        </p:spPr>
      </p:sp>
      <p:pic>
        <p:nvPicPr>
          <p:cNvPr id="25" name="Image 3" descr="Ảnh chụp giao diện Siêu Sao Toán 4">    </p:cNvPr>
          <p:cNvPicPr>
            <a:picLocks noChangeAspect="1"/>
          </p:cNvPicPr>
          <p:nvPr/>
        </p:nvPicPr>
        <p:blipFill>
          <a:blip r:embed="rId4"/>
          <a:stretch>
            <a:fillRect/>
          </a:stretch>
        </p:blipFill>
        <p:spPr>
          <a:xfrm>
            <a:off x="6679692" y="4046220"/>
            <a:ext cx="411480" cy="411480"/>
          </a:xfrm>
          <a:prstGeom prst="rect">
            <a:avLst/>
          </a:prstGeom>
        </p:spPr>
      </p:pic>
      <p:sp>
        <p:nvSpPr>
          <p:cNvPr id="26" name="Text 20"/>
          <p:cNvSpPr txBox="1"/>
          <p:nvPr/>
        </p:nvSpPr>
        <p:spPr>
          <a:xfrm>
            <a:off x="7571232" y="3767328"/>
            <a:ext cx="3886200" cy="411480"/>
          </a:xfrm>
          <a:prstGeom prst="rect">
            <a:avLst/>
          </a:prstGeom>
          <a:noFill/>
          <a:ln/>
        </p:spPr>
        <p:txBody>
          <a:bodyPr wrap="square" lIns="0" tIns="0" rIns="0" bIns="0" rtlCol="0" anchor="t"/>
          <a:lstStyle/>
          <a:p>
            <a:pPr algn="l" indent="0" marL="0">
              <a:buNone/>
            </a:pPr>
            <a:r>
              <a:rPr lang="en-US" sz="2000" b="1" dirty="0">
                <a:solidFill>
                  <a:srgbClr val="17243F"/>
                </a:solidFill>
                <a:latin typeface="Cambria" pitchFamily="34" charset="0"/>
                <a:ea typeface="Cambria" pitchFamily="34" charset="-122"/>
                <a:cs typeface="Cambria" pitchFamily="34" charset="-120"/>
              </a:rPr>
              <a:t>Giáo viên định hướng và duyệt</a:t>
            </a:r>
            <a:endParaRPr lang="en-US" sz="2000" dirty="0"/>
          </a:p>
        </p:txBody>
      </p:sp>
      <p:sp>
        <p:nvSpPr>
          <p:cNvPr id="27" name="Text 21"/>
          <p:cNvSpPr txBox="1"/>
          <p:nvPr/>
        </p:nvSpPr>
        <p:spPr>
          <a:xfrm>
            <a:off x="7571232" y="4224528"/>
            <a:ext cx="3886200" cy="1143000"/>
          </a:xfrm>
          <a:prstGeom prst="rect">
            <a:avLst/>
          </a:prstGeom>
          <a:noFill/>
          <a:ln/>
        </p:spPr>
        <p:txBody>
          <a:bodyPr wrap="square" lIns="0" tIns="0" rIns="0" bIns="0" rtlCol="0" anchor="t"/>
          <a:lstStyle/>
          <a:p>
            <a:pPr algn="l" indent="0" marL="0">
              <a:buNone/>
            </a:pPr>
            <a:r>
              <a:rPr lang="en-US" sz="1500" dirty="0">
                <a:solidFill>
                  <a:srgbClr val="4A5A78"/>
                </a:solidFill>
                <a:latin typeface="Calibri" pitchFamily="34" charset="0"/>
                <a:ea typeface="Calibri" pitchFamily="34" charset="-122"/>
                <a:cs typeface="Calibri" pitchFamily="34" charset="-120"/>
              </a:rPr>
              <a:t>Giáo viên chọn bài, đặt yêu cầu, rà đáp án và theo dõi kết quả. AI chỉ là công cụ hỗ trợ.</a:t>
            </a:r>
            <a:endParaRPr lang="en-US" sz="1500" dirty="0"/>
          </a:p>
        </p:txBody>
      </p:sp>
      <p:sp>
        <p:nvSpPr>
          <p:cNvPr id="28" name="Shape 22"/>
          <p:cNvSpPr/>
          <p:nvPr/>
        </p:nvSpPr>
        <p:spPr>
          <a:xfrm>
            <a:off x="548640" y="5715000"/>
            <a:ext cx="11091672" cy="548640"/>
          </a:xfrm>
          <a:prstGeom prst="roundRect">
            <a:avLst>
              <a:gd name="adj" fmla="val 20000"/>
            </a:avLst>
          </a:prstGeom>
          <a:solidFill>
            <a:srgbClr val="FFF0B5"/>
          </a:solidFill>
          <a:ln w="19050">
            <a:solidFill>
              <a:srgbClr val="17243F"/>
            </a:solidFill>
            <a:prstDash val="solid"/>
          </a:ln>
        </p:spPr>
      </p:sp>
      <p:sp>
        <p:nvSpPr>
          <p:cNvPr id="29" name="Text 23"/>
          <p:cNvSpPr txBox="1"/>
          <p:nvPr/>
        </p:nvSpPr>
        <p:spPr>
          <a:xfrm>
            <a:off x="822960" y="5715000"/>
            <a:ext cx="10543032" cy="548640"/>
          </a:xfrm>
          <a:prstGeom prst="rect">
            <a:avLst/>
          </a:prstGeom>
          <a:noFill/>
          <a:ln/>
        </p:spPr>
        <p:txBody>
          <a:bodyPr wrap="square" lIns="0" tIns="0" rIns="0" bIns="0" rtlCol="0" anchor="ctr"/>
          <a:lstStyle/>
          <a:p>
            <a:pPr algn="l" indent="0" marL="0">
              <a:buNone/>
            </a:pPr>
            <a:r>
              <a:rPr lang="en-US" sz="1500" b="1" dirty="0">
                <a:solidFill>
                  <a:srgbClr val="17243F"/>
                </a:solidFill>
                <a:latin typeface="Calibri" pitchFamily="34" charset="0"/>
                <a:ea typeface="Calibri" pitchFamily="34" charset="-122"/>
                <a:cs typeface="Calibri" pitchFamily="34" charset="-120"/>
              </a:rPr>
              <a:t>Giáo viên chịu trách nhiệm về nội dung: đáp án cần được rà soát trước khi dùng chính thức với học sinh.</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9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46888"/>
            <a:ext cx="8229600" cy="274320"/>
          </a:xfrm>
          <a:prstGeom prst="rect">
            <a:avLst/>
          </a:prstGeom>
          <a:noFill/>
          <a:ln/>
        </p:spPr>
        <p:txBody>
          <a:bodyPr wrap="square" lIns="0" tIns="0" rIns="0" bIns="0" rtlCol="0" anchor="t"/>
          <a:lstStyle/>
          <a:p>
            <a:pPr algn="l" indent="0" marL="0">
              <a:buNone/>
            </a:pPr>
            <a:r>
              <a:rPr lang="en-US" sz="1400" b="1" dirty="0">
                <a:solidFill>
                  <a:srgbClr val="2F5FD0"/>
                </a:solidFill>
                <a:latin typeface="Calibri" pitchFamily="34" charset="0"/>
                <a:ea typeface="Calibri" pitchFamily="34" charset="-122"/>
                <a:cs typeface="Calibri" pitchFamily="34" charset="-120"/>
              </a:rPr>
              <a:t>3 · Triển khai trong thực tế</a:t>
            </a:r>
            <a:endParaRPr lang="en-US" sz="1400" dirty="0"/>
          </a:p>
        </p:txBody>
      </p:sp>
      <p:sp>
        <p:nvSpPr>
          <p:cNvPr id="3" name="Text 0"/>
          <p:cNvSpPr/>
          <p:nvPr>
            <p:ph idx="100" type="title" hasCustomPrompt="1"/>
          </p:nvPr>
        </p:nvSpPr>
        <p:spPr>
          <a:xfrm>
            <a:off x="548640" y="457200"/>
            <a:ext cx="11091672" cy="868680"/>
          </a:xfrm>
          <a:prstGeom prst="rect">
            <a:avLst/>
          </a:prstGeom>
          <a:noFill/>
          <a:ln/>
        </p:spPr>
        <p:txBody>
          <a:bodyPr wrap="square" lIns="0" tIns="0" rIns="0" bIns="0" rtlCol="0" anchor="ctr"/>
          <a:lstStyle/>
          <a:p>
            <a:pPr indent="0" marL="0">
              <a:buNone/>
            </a:pPr>
            <a:r>
              <a:rPr lang="en-US" sz="3600" b="1" dirty="0">
                <a:solidFill>
                  <a:srgbClr val="17243F"/>
                </a:solidFill>
                <a:latin typeface="Cambria" pitchFamily="34" charset="0"/>
                <a:ea typeface="Cambria" pitchFamily="34" charset="-122"/>
                <a:cs typeface="Cambria" pitchFamily="34" charset="-120"/>
              </a:rPr>
              <a:t>Đúng thì khen, sai thì động viên</a:t>
            </a:r>
            <a:endParaRPr lang="en-US" sz="3600" dirty="0"/>
          </a:p>
        </p:txBody>
      </p:sp>
      <p:sp>
        <p:nvSpPr>
          <p:cNvPr id="4" name="Shape 2"/>
          <p:cNvSpPr/>
          <p:nvPr/>
        </p:nvSpPr>
        <p:spPr>
          <a:xfrm>
            <a:off x="612648" y="1527048"/>
            <a:ext cx="3977640" cy="2981106"/>
          </a:xfrm>
          <a:prstGeom prst="roundRect">
            <a:avLst>
              <a:gd name="adj" fmla="val 4294"/>
            </a:avLst>
          </a:prstGeom>
          <a:solidFill>
            <a:srgbClr val="17243F"/>
          </a:solidFill>
          <a:ln/>
        </p:spPr>
      </p:sp>
      <p:sp>
        <p:nvSpPr>
          <p:cNvPr id="5" name="Shape 3"/>
          <p:cNvSpPr/>
          <p:nvPr/>
        </p:nvSpPr>
        <p:spPr>
          <a:xfrm>
            <a:off x="548640" y="1463040"/>
            <a:ext cx="3977640" cy="2981106"/>
          </a:xfrm>
          <a:prstGeom prst="roundRect">
            <a:avLst>
              <a:gd name="adj" fmla="val 4294"/>
            </a:avLst>
          </a:prstGeom>
          <a:solidFill>
            <a:srgbClr val="FFFFFF"/>
          </a:solidFill>
          <a:ln w="22225">
            <a:solidFill>
              <a:srgbClr val="17243F"/>
            </a:solidFill>
            <a:prstDash val="solid"/>
          </a:ln>
        </p:spPr>
      </p:sp>
      <p:pic>
        <p:nvPicPr>
          <p:cNvPr id="6" name="Image 0" descr="Ảnh chụp giao diện Siêu Sao Toán 4">    </p:cNvPr>
          <p:cNvPicPr>
            <a:picLocks noChangeAspect="1"/>
          </p:cNvPicPr>
          <p:nvPr/>
        </p:nvPicPr>
        <p:blipFill>
          <a:blip r:embed="rId1"/>
          <a:stretch>
            <a:fillRect/>
          </a:stretch>
        </p:blipFill>
        <p:spPr>
          <a:xfrm>
            <a:off x="621792" y="1536192"/>
            <a:ext cx="3831336" cy="2834802"/>
          </a:xfrm>
          <a:prstGeom prst="rect">
            <a:avLst/>
          </a:prstGeom>
        </p:spPr>
      </p:pic>
      <p:sp>
        <p:nvSpPr>
          <p:cNvPr id="7" name="Shape 4"/>
          <p:cNvSpPr/>
          <p:nvPr/>
        </p:nvSpPr>
        <p:spPr>
          <a:xfrm>
            <a:off x="4727448" y="1527048"/>
            <a:ext cx="3977640" cy="2995618"/>
          </a:xfrm>
          <a:prstGeom prst="roundRect">
            <a:avLst>
              <a:gd name="adj" fmla="val 4273"/>
            </a:avLst>
          </a:prstGeom>
          <a:solidFill>
            <a:srgbClr val="17243F"/>
          </a:solidFill>
          <a:ln/>
        </p:spPr>
      </p:sp>
      <p:sp>
        <p:nvSpPr>
          <p:cNvPr id="8" name="Shape 5"/>
          <p:cNvSpPr/>
          <p:nvPr/>
        </p:nvSpPr>
        <p:spPr>
          <a:xfrm>
            <a:off x="4663440" y="1463040"/>
            <a:ext cx="3977640" cy="2995618"/>
          </a:xfrm>
          <a:prstGeom prst="roundRect">
            <a:avLst>
              <a:gd name="adj" fmla="val 4273"/>
            </a:avLst>
          </a:prstGeom>
          <a:solidFill>
            <a:srgbClr val="FFFFFF"/>
          </a:solidFill>
          <a:ln w="22225">
            <a:solidFill>
              <a:srgbClr val="17243F"/>
            </a:solidFill>
            <a:prstDash val="solid"/>
          </a:ln>
        </p:spPr>
      </p:sp>
      <p:pic>
        <p:nvPicPr>
          <p:cNvPr id="9" name="Image 1" descr="Ảnh chụp giao diện Siêu Sao Toán 4">    </p:cNvPr>
          <p:cNvPicPr>
            <a:picLocks noChangeAspect="1"/>
          </p:cNvPicPr>
          <p:nvPr/>
        </p:nvPicPr>
        <p:blipFill>
          <a:blip r:embed="rId2"/>
          <a:stretch>
            <a:fillRect/>
          </a:stretch>
        </p:blipFill>
        <p:spPr>
          <a:xfrm>
            <a:off x="4736592" y="1536192"/>
            <a:ext cx="3831336" cy="2849314"/>
          </a:xfrm>
          <a:prstGeom prst="rect">
            <a:avLst/>
          </a:prstGeom>
        </p:spPr>
      </p:pic>
      <p:sp>
        <p:nvSpPr>
          <p:cNvPr id="10" name="Shape 6"/>
          <p:cNvSpPr/>
          <p:nvPr/>
        </p:nvSpPr>
        <p:spPr>
          <a:xfrm>
            <a:off x="9390888" y="1527048"/>
            <a:ext cx="2057400" cy="3282462"/>
          </a:xfrm>
          <a:prstGeom prst="roundRect">
            <a:avLst>
              <a:gd name="adj" fmla="val 6222"/>
            </a:avLst>
          </a:prstGeom>
          <a:solidFill>
            <a:srgbClr val="17243F"/>
          </a:solidFill>
          <a:ln/>
        </p:spPr>
      </p:sp>
      <p:sp>
        <p:nvSpPr>
          <p:cNvPr id="11" name="Shape 7"/>
          <p:cNvSpPr/>
          <p:nvPr/>
        </p:nvSpPr>
        <p:spPr>
          <a:xfrm>
            <a:off x="9326880" y="1463040"/>
            <a:ext cx="2057400" cy="3282462"/>
          </a:xfrm>
          <a:prstGeom prst="roundRect">
            <a:avLst>
              <a:gd name="adj" fmla="val 6222"/>
            </a:avLst>
          </a:prstGeom>
          <a:solidFill>
            <a:srgbClr val="FFFFFF"/>
          </a:solidFill>
          <a:ln w="22225">
            <a:solidFill>
              <a:srgbClr val="17243F"/>
            </a:solidFill>
            <a:prstDash val="solid"/>
          </a:ln>
        </p:spPr>
      </p:sp>
      <p:pic>
        <p:nvPicPr>
          <p:cNvPr id="12" name="Image 2" descr="Ảnh chụp giao diện Siêu Sao Toán 4">    </p:cNvPr>
          <p:cNvPicPr>
            <a:picLocks noChangeAspect="1"/>
          </p:cNvPicPr>
          <p:nvPr/>
        </p:nvPicPr>
        <p:blipFill>
          <a:blip r:embed="rId3"/>
          <a:stretch>
            <a:fillRect/>
          </a:stretch>
        </p:blipFill>
        <p:spPr>
          <a:xfrm>
            <a:off x="9400032" y="1536192"/>
            <a:ext cx="1911096" cy="3136158"/>
          </a:xfrm>
          <a:prstGeom prst="rect">
            <a:avLst/>
          </a:prstGeom>
        </p:spPr>
      </p:pic>
      <p:sp>
        <p:nvSpPr>
          <p:cNvPr id="13" name="Shape 8"/>
          <p:cNvSpPr/>
          <p:nvPr/>
        </p:nvSpPr>
        <p:spPr>
          <a:xfrm>
            <a:off x="548640" y="5257800"/>
            <a:ext cx="566928" cy="566928"/>
          </a:xfrm>
          <a:prstGeom prst="ellipse">
            <a:avLst/>
          </a:prstGeom>
          <a:solidFill>
            <a:srgbClr val="D9F2E6"/>
          </a:solidFill>
          <a:ln w="19050">
            <a:solidFill>
              <a:srgbClr val="1F9D62"/>
            </a:solidFill>
            <a:prstDash val="solid"/>
          </a:ln>
        </p:spPr>
      </p:sp>
      <p:pic>
        <p:nvPicPr>
          <p:cNvPr id="14" name="Image 3" descr="Ảnh chụp giao diện Siêu Sao Toán 4">    </p:cNvPr>
          <p:cNvPicPr>
            <a:picLocks noChangeAspect="1"/>
          </p:cNvPicPr>
          <p:nvPr/>
        </p:nvPicPr>
        <p:blipFill>
          <a:blip r:embed="rId4"/>
          <a:stretch>
            <a:fillRect/>
          </a:stretch>
        </p:blipFill>
        <p:spPr>
          <a:xfrm>
            <a:off x="690372" y="5399532"/>
            <a:ext cx="283464" cy="283464"/>
          </a:xfrm>
          <a:prstGeom prst="rect">
            <a:avLst/>
          </a:prstGeom>
        </p:spPr>
      </p:pic>
      <p:sp>
        <p:nvSpPr>
          <p:cNvPr id="15" name="Text 9"/>
          <p:cNvSpPr txBox="1"/>
          <p:nvPr/>
        </p:nvSpPr>
        <p:spPr>
          <a:xfrm>
            <a:off x="1353312" y="5239512"/>
            <a:ext cx="2761488" cy="310896"/>
          </a:xfrm>
          <a:prstGeom prst="rect">
            <a:avLst/>
          </a:prstGeom>
          <a:noFill/>
          <a:ln/>
        </p:spPr>
        <p:txBody>
          <a:bodyPr wrap="square" lIns="0" tIns="0" rIns="0" bIns="0" rtlCol="0" anchor="t"/>
          <a:lstStyle/>
          <a:p>
            <a:pPr algn="l" indent="0" marL="0">
              <a:buNone/>
            </a:pPr>
            <a:r>
              <a:rPr lang="en-US" sz="1700" b="1" dirty="0">
                <a:solidFill>
                  <a:srgbClr val="17243F"/>
                </a:solidFill>
                <a:latin typeface="Calibri" pitchFamily="34" charset="0"/>
                <a:ea typeface="Calibri" pitchFamily="34" charset="-122"/>
                <a:cs typeface="Calibri" pitchFamily="34" charset="-120"/>
              </a:rPr>
              <a:t>Làm đúng: tô xanh, khen ngay</a:t>
            </a:r>
            <a:endParaRPr lang="en-US" sz="1700" dirty="0"/>
          </a:p>
        </p:txBody>
      </p:sp>
      <p:sp>
        <p:nvSpPr>
          <p:cNvPr id="16" name="Text 10"/>
          <p:cNvSpPr txBox="1"/>
          <p:nvPr/>
        </p:nvSpPr>
        <p:spPr>
          <a:xfrm>
            <a:off x="1353312" y="5568696"/>
            <a:ext cx="2761488" cy="77724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8 lời khen ngẫu nhiên và tiếng “ting” vui tai.</a:t>
            </a:r>
            <a:endParaRPr lang="en-US" sz="1400" dirty="0"/>
          </a:p>
        </p:txBody>
      </p:sp>
      <p:sp>
        <p:nvSpPr>
          <p:cNvPr id="17" name="Shape 11"/>
          <p:cNvSpPr/>
          <p:nvPr/>
        </p:nvSpPr>
        <p:spPr>
          <a:xfrm>
            <a:off x="4334256" y="5257800"/>
            <a:ext cx="566928" cy="566928"/>
          </a:xfrm>
          <a:prstGeom prst="ellipse">
            <a:avLst/>
          </a:prstGeom>
          <a:solidFill>
            <a:srgbClr val="FFF0B5"/>
          </a:solidFill>
          <a:ln w="19050">
            <a:solidFill>
              <a:srgbClr val="FFC83D"/>
            </a:solidFill>
            <a:prstDash val="solid"/>
          </a:ln>
        </p:spPr>
      </p:sp>
      <p:pic>
        <p:nvPicPr>
          <p:cNvPr id="18" name="Image 4" descr="Ảnh chụp giao diện Siêu Sao Toán 4">    </p:cNvPr>
          <p:cNvPicPr>
            <a:picLocks noChangeAspect="1"/>
          </p:cNvPicPr>
          <p:nvPr/>
        </p:nvPicPr>
        <p:blipFill>
          <a:blip r:embed="rId5"/>
          <a:stretch>
            <a:fillRect/>
          </a:stretch>
        </p:blipFill>
        <p:spPr>
          <a:xfrm>
            <a:off x="4475988" y="5399532"/>
            <a:ext cx="283464" cy="283464"/>
          </a:xfrm>
          <a:prstGeom prst="rect">
            <a:avLst/>
          </a:prstGeom>
        </p:spPr>
      </p:pic>
      <p:sp>
        <p:nvSpPr>
          <p:cNvPr id="19" name="Text 12"/>
          <p:cNvSpPr txBox="1"/>
          <p:nvPr/>
        </p:nvSpPr>
        <p:spPr>
          <a:xfrm>
            <a:off x="5138928" y="5239512"/>
            <a:ext cx="2761488" cy="310896"/>
          </a:xfrm>
          <a:prstGeom prst="rect">
            <a:avLst/>
          </a:prstGeom>
          <a:noFill/>
          <a:ln/>
        </p:spPr>
        <p:txBody>
          <a:bodyPr wrap="square" lIns="0" tIns="0" rIns="0" bIns="0" rtlCol="0" anchor="t"/>
          <a:lstStyle/>
          <a:p>
            <a:pPr algn="l" indent="0" marL="0">
              <a:buNone/>
            </a:pPr>
            <a:r>
              <a:rPr lang="en-US" sz="1700" b="1" dirty="0">
                <a:solidFill>
                  <a:srgbClr val="17243F"/>
                </a:solidFill>
                <a:latin typeface="Calibri" pitchFamily="34" charset="0"/>
                <a:ea typeface="Calibri" pitchFamily="34" charset="-122"/>
                <a:cs typeface="Calibri" pitchFamily="34" charset="-120"/>
              </a:rPr>
              <a:t>Làm sai: động viên</a:t>
            </a:r>
            <a:endParaRPr lang="en-US" sz="1700" dirty="0"/>
          </a:p>
        </p:txBody>
      </p:sp>
      <p:sp>
        <p:nvSpPr>
          <p:cNvPr id="20" name="Text 13"/>
          <p:cNvSpPr txBox="1"/>
          <p:nvPr/>
        </p:nvSpPr>
        <p:spPr>
          <a:xfrm>
            <a:off x="5138928" y="5568696"/>
            <a:ext cx="2761488" cy="77724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6 lời an ủi nhẹ nhàng, hiện đáp án đúng và gợi ý.</a:t>
            </a:r>
            <a:endParaRPr lang="en-US" sz="1400" dirty="0"/>
          </a:p>
        </p:txBody>
      </p:sp>
      <p:sp>
        <p:nvSpPr>
          <p:cNvPr id="21" name="Shape 14"/>
          <p:cNvSpPr/>
          <p:nvPr/>
        </p:nvSpPr>
        <p:spPr>
          <a:xfrm>
            <a:off x="8119872" y="5257800"/>
            <a:ext cx="566928" cy="566928"/>
          </a:xfrm>
          <a:prstGeom prst="ellipse">
            <a:avLst/>
          </a:prstGeom>
          <a:solidFill>
            <a:srgbClr val="DCE6FA"/>
          </a:solidFill>
          <a:ln w="19050">
            <a:solidFill>
              <a:srgbClr val="2F5FD0"/>
            </a:solidFill>
            <a:prstDash val="solid"/>
          </a:ln>
        </p:spPr>
      </p:sp>
      <p:pic>
        <p:nvPicPr>
          <p:cNvPr id="22" name="Image 5" descr="Ảnh chụp giao diện Siêu Sao Toán 4">    </p:cNvPr>
          <p:cNvPicPr>
            <a:picLocks noChangeAspect="1"/>
          </p:cNvPicPr>
          <p:nvPr/>
        </p:nvPicPr>
        <p:blipFill>
          <a:blip r:embed="rId6"/>
          <a:stretch>
            <a:fillRect/>
          </a:stretch>
        </p:blipFill>
        <p:spPr>
          <a:xfrm>
            <a:off x="8261604" y="5399532"/>
            <a:ext cx="283464" cy="283464"/>
          </a:xfrm>
          <a:prstGeom prst="rect">
            <a:avLst/>
          </a:prstGeom>
        </p:spPr>
      </p:pic>
      <p:sp>
        <p:nvSpPr>
          <p:cNvPr id="23" name="Text 15"/>
          <p:cNvSpPr txBox="1"/>
          <p:nvPr/>
        </p:nvSpPr>
        <p:spPr>
          <a:xfrm>
            <a:off x="8924544" y="5239512"/>
            <a:ext cx="2761488" cy="310896"/>
          </a:xfrm>
          <a:prstGeom prst="rect">
            <a:avLst/>
          </a:prstGeom>
          <a:noFill/>
          <a:ln/>
        </p:spPr>
        <p:txBody>
          <a:bodyPr wrap="square" lIns="0" tIns="0" rIns="0" bIns="0" rtlCol="0" anchor="t"/>
          <a:lstStyle/>
          <a:p>
            <a:pPr algn="l" indent="0" marL="0">
              <a:buNone/>
            </a:pPr>
            <a:r>
              <a:rPr lang="en-US" sz="1700" b="1" dirty="0">
                <a:solidFill>
                  <a:srgbClr val="17243F"/>
                </a:solidFill>
                <a:latin typeface="Calibri" pitchFamily="34" charset="0"/>
                <a:ea typeface="Calibri" pitchFamily="34" charset="-122"/>
                <a:cs typeface="Calibri" pitchFamily="34" charset="-120"/>
              </a:rPr>
              <a:t>Có tiếng nói, tắt được</a:t>
            </a:r>
            <a:endParaRPr lang="en-US" sz="1700" dirty="0"/>
          </a:p>
        </p:txBody>
      </p:sp>
      <p:sp>
        <p:nvSpPr>
          <p:cNvPr id="24" name="Text 16"/>
          <p:cNvSpPr txBox="1"/>
          <p:nvPr/>
        </p:nvSpPr>
        <p:spPr>
          <a:xfrm>
            <a:off x="8924544" y="5568696"/>
            <a:ext cx="2761488" cy="77724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Đọc bằng giọng tiếng Việt có sẵn của thiết bị; có nút loa.</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9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46888"/>
            <a:ext cx="8229600" cy="274320"/>
          </a:xfrm>
          <a:prstGeom prst="rect">
            <a:avLst/>
          </a:prstGeom>
          <a:noFill/>
          <a:ln/>
        </p:spPr>
        <p:txBody>
          <a:bodyPr wrap="square" lIns="0" tIns="0" rIns="0" bIns="0" rtlCol="0" anchor="t"/>
          <a:lstStyle/>
          <a:p>
            <a:pPr algn="l" indent="0" marL="0">
              <a:buNone/>
            </a:pPr>
            <a:r>
              <a:rPr lang="en-US" sz="1400" b="1" dirty="0">
                <a:solidFill>
                  <a:srgbClr val="2F5FD0"/>
                </a:solidFill>
                <a:latin typeface="Calibri" pitchFamily="34" charset="0"/>
                <a:ea typeface="Calibri" pitchFamily="34" charset="-122"/>
                <a:cs typeface="Calibri" pitchFamily="34" charset="-120"/>
              </a:rPr>
              <a:t>3 · Triển khai trong thực tế</a:t>
            </a:r>
            <a:endParaRPr lang="en-US" sz="1400" dirty="0"/>
          </a:p>
        </p:txBody>
      </p:sp>
      <p:sp>
        <p:nvSpPr>
          <p:cNvPr id="3" name="Text 0"/>
          <p:cNvSpPr/>
          <p:nvPr>
            <p:ph idx="100" type="title" hasCustomPrompt="1"/>
          </p:nvPr>
        </p:nvSpPr>
        <p:spPr>
          <a:xfrm>
            <a:off x="548640" y="457200"/>
            <a:ext cx="11091672" cy="868680"/>
          </a:xfrm>
          <a:prstGeom prst="rect">
            <a:avLst/>
          </a:prstGeom>
          <a:noFill/>
          <a:ln/>
        </p:spPr>
        <p:txBody>
          <a:bodyPr wrap="square" lIns="0" tIns="0" rIns="0" bIns="0" rtlCol="0" anchor="ctr"/>
          <a:lstStyle/>
          <a:p>
            <a:pPr indent="0" marL="0">
              <a:buNone/>
            </a:pPr>
            <a:r>
              <a:rPr lang="en-US" sz="3600" b="1" dirty="0">
                <a:solidFill>
                  <a:srgbClr val="17243F"/>
                </a:solidFill>
                <a:latin typeface="Cambria" pitchFamily="34" charset="0"/>
                <a:ea typeface="Cambria" pitchFamily="34" charset="-122"/>
                <a:cs typeface="Cambria" pitchFamily="34" charset="-120"/>
              </a:rPr>
              <a:t>Kết quả, số sao và bảng xếp hạng</a:t>
            </a:r>
            <a:endParaRPr lang="en-US" sz="3600" dirty="0"/>
          </a:p>
        </p:txBody>
      </p:sp>
      <p:sp>
        <p:nvSpPr>
          <p:cNvPr id="4" name="Shape 2"/>
          <p:cNvSpPr/>
          <p:nvPr/>
        </p:nvSpPr>
        <p:spPr>
          <a:xfrm>
            <a:off x="612648" y="1527048"/>
            <a:ext cx="4206240" cy="3396303"/>
          </a:xfrm>
          <a:prstGeom prst="roundRect">
            <a:avLst>
              <a:gd name="adj" fmla="val 3769"/>
            </a:avLst>
          </a:prstGeom>
          <a:solidFill>
            <a:srgbClr val="17243F"/>
          </a:solidFill>
          <a:ln/>
        </p:spPr>
      </p:sp>
      <p:sp>
        <p:nvSpPr>
          <p:cNvPr id="5" name="Shape 3"/>
          <p:cNvSpPr/>
          <p:nvPr/>
        </p:nvSpPr>
        <p:spPr>
          <a:xfrm>
            <a:off x="548640" y="1463040"/>
            <a:ext cx="4206240" cy="3396303"/>
          </a:xfrm>
          <a:prstGeom prst="roundRect">
            <a:avLst>
              <a:gd name="adj" fmla="val 3769"/>
            </a:avLst>
          </a:prstGeom>
          <a:solidFill>
            <a:srgbClr val="FFFFFF"/>
          </a:solidFill>
          <a:ln w="22225">
            <a:solidFill>
              <a:srgbClr val="17243F"/>
            </a:solidFill>
            <a:prstDash val="solid"/>
          </a:ln>
        </p:spPr>
      </p:sp>
      <p:pic>
        <p:nvPicPr>
          <p:cNvPr id="6" name="Image 0" descr="Ảnh chụp giao diện Siêu Sao Toán 4">    </p:cNvPr>
          <p:cNvPicPr>
            <a:picLocks noChangeAspect="1"/>
          </p:cNvPicPr>
          <p:nvPr/>
        </p:nvPicPr>
        <p:blipFill>
          <a:blip r:embed="rId1"/>
          <a:stretch>
            <a:fillRect/>
          </a:stretch>
        </p:blipFill>
        <p:spPr>
          <a:xfrm>
            <a:off x="621792" y="1536192"/>
            <a:ext cx="4059936" cy="3249999"/>
          </a:xfrm>
          <a:prstGeom prst="rect">
            <a:avLst/>
          </a:prstGeom>
        </p:spPr>
      </p:pic>
      <p:sp>
        <p:nvSpPr>
          <p:cNvPr id="7" name="Shape 4"/>
          <p:cNvSpPr/>
          <p:nvPr/>
        </p:nvSpPr>
        <p:spPr>
          <a:xfrm>
            <a:off x="5029200" y="1527048"/>
            <a:ext cx="6675120" cy="3392424"/>
          </a:xfrm>
          <a:prstGeom prst="roundRect">
            <a:avLst>
              <a:gd name="adj" fmla="val 3774"/>
            </a:avLst>
          </a:prstGeom>
          <a:solidFill>
            <a:srgbClr val="17243F"/>
          </a:solidFill>
          <a:ln/>
        </p:spPr>
      </p:sp>
      <p:sp>
        <p:nvSpPr>
          <p:cNvPr id="8" name="Shape 5"/>
          <p:cNvSpPr/>
          <p:nvPr/>
        </p:nvSpPr>
        <p:spPr>
          <a:xfrm>
            <a:off x="4965192" y="1463040"/>
            <a:ext cx="6675120" cy="3392424"/>
          </a:xfrm>
          <a:prstGeom prst="roundRect">
            <a:avLst>
              <a:gd name="adj" fmla="val 3774"/>
            </a:avLst>
          </a:prstGeom>
          <a:solidFill>
            <a:srgbClr val="FFFFFF"/>
          </a:solidFill>
          <a:ln w="22225">
            <a:solidFill>
              <a:srgbClr val="17243F"/>
            </a:solidFill>
            <a:prstDash val="solid"/>
          </a:ln>
        </p:spPr>
      </p:sp>
      <p:pic>
        <p:nvPicPr>
          <p:cNvPr id="9" name="Image 1" descr="Ảnh chụp giao diện Siêu Sao Toán 4">    </p:cNvPr>
          <p:cNvPicPr>
            <a:picLocks noChangeAspect="1"/>
          </p:cNvPicPr>
          <p:nvPr/>
        </p:nvPicPr>
        <p:blipFill>
          <a:blip r:embed="rId2"/>
          <a:stretch>
            <a:fillRect/>
          </a:stretch>
        </p:blipFill>
        <p:spPr>
          <a:xfrm>
            <a:off x="5038344" y="1536192"/>
            <a:ext cx="6528816" cy="3246120"/>
          </a:xfrm>
          <a:prstGeom prst="rect">
            <a:avLst/>
          </a:prstGeom>
        </p:spPr>
      </p:pic>
      <p:sp>
        <p:nvSpPr>
          <p:cNvPr id="10" name="Shape 6"/>
          <p:cNvSpPr/>
          <p:nvPr/>
        </p:nvSpPr>
        <p:spPr>
          <a:xfrm>
            <a:off x="548640" y="5257800"/>
            <a:ext cx="530352" cy="530352"/>
          </a:xfrm>
          <a:prstGeom prst="ellipse">
            <a:avLst/>
          </a:prstGeom>
          <a:solidFill>
            <a:srgbClr val="DCE6FA"/>
          </a:solidFill>
          <a:ln w="19050">
            <a:solidFill>
              <a:srgbClr val="2F5FD0"/>
            </a:solidFill>
            <a:prstDash val="solid"/>
          </a:ln>
        </p:spPr>
      </p:sp>
      <p:pic>
        <p:nvPicPr>
          <p:cNvPr id="11" name="Image 2" descr="Ảnh chụp giao diện Siêu Sao Toán 4">    </p:cNvPr>
          <p:cNvPicPr>
            <a:picLocks noChangeAspect="1"/>
          </p:cNvPicPr>
          <p:nvPr/>
        </p:nvPicPr>
        <p:blipFill>
          <a:blip r:embed="rId3"/>
          <a:stretch>
            <a:fillRect/>
          </a:stretch>
        </p:blipFill>
        <p:spPr>
          <a:xfrm>
            <a:off x="681228" y="5390388"/>
            <a:ext cx="265176" cy="265176"/>
          </a:xfrm>
          <a:prstGeom prst="rect">
            <a:avLst/>
          </a:prstGeom>
        </p:spPr>
      </p:pic>
      <p:sp>
        <p:nvSpPr>
          <p:cNvPr id="12" name="Text 7"/>
          <p:cNvSpPr txBox="1"/>
          <p:nvPr/>
        </p:nvSpPr>
        <p:spPr>
          <a:xfrm>
            <a:off x="1316736" y="5239512"/>
            <a:ext cx="1929384" cy="310896"/>
          </a:xfrm>
          <a:prstGeom prst="rect">
            <a:avLst/>
          </a:prstGeom>
          <a:noFill/>
          <a:ln/>
        </p:spPr>
        <p:txBody>
          <a:bodyPr wrap="square" lIns="0" tIns="0" rIns="0" bIns="0" rtlCol="0" anchor="t"/>
          <a:lstStyle/>
          <a:p>
            <a:pPr algn="l" indent="0" marL="0">
              <a:buNone/>
            </a:pPr>
            <a:r>
              <a:rPr lang="en-US" sz="1600" b="1" dirty="0">
                <a:solidFill>
                  <a:srgbClr val="17243F"/>
                </a:solidFill>
                <a:latin typeface="Calibri" pitchFamily="34" charset="0"/>
                <a:ea typeface="Calibri" pitchFamily="34" charset="-122"/>
                <a:cs typeface="Calibri" pitchFamily="34" charset="-120"/>
              </a:rPr>
              <a:t>Điểm thang 10</a:t>
            </a:r>
            <a:endParaRPr lang="en-US" sz="1600" dirty="0"/>
          </a:p>
        </p:txBody>
      </p:sp>
      <p:sp>
        <p:nvSpPr>
          <p:cNvPr id="13" name="Text 8"/>
          <p:cNvSpPr txBox="1"/>
          <p:nvPr/>
        </p:nvSpPr>
        <p:spPr>
          <a:xfrm>
            <a:off x="1316736" y="5568696"/>
            <a:ext cx="1929384" cy="77724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Đúng 9 trên 10 câu thì được 9 điểm.</a:t>
            </a:r>
            <a:endParaRPr lang="en-US" sz="1400" dirty="0"/>
          </a:p>
        </p:txBody>
      </p:sp>
      <p:sp>
        <p:nvSpPr>
          <p:cNvPr id="14" name="Shape 9"/>
          <p:cNvSpPr/>
          <p:nvPr/>
        </p:nvSpPr>
        <p:spPr>
          <a:xfrm>
            <a:off x="3383280" y="5257800"/>
            <a:ext cx="530352" cy="530352"/>
          </a:xfrm>
          <a:prstGeom prst="ellipse">
            <a:avLst/>
          </a:prstGeom>
          <a:solidFill>
            <a:srgbClr val="FFF0B5"/>
          </a:solidFill>
          <a:ln w="19050">
            <a:solidFill>
              <a:srgbClr val="FFC83D"/>
            </a:solidFill>
            <a:prstDash val="solid"/>
          </a:ln>
        </p:spPr>
      </p:sp>
      <p:pic>
        <p:nvPicPr>
          <p:cNvPr id="15" name="Image 3" descr="Ảnh chụp giao diện Siêu Sao Toán 4">    </p:cNvPr>
          <p:cNvPicPr>
            <a:picLocks noChangeAspect="1"/>
          </p:cNvPicPr>
          <p:nvPr/>
        </p:nvPicPr>
        <p:blipFill>
          <a:blip r:embed="rId4"/>
          <a:stretch>
            <a:fillRect/>
          </a:stretch>
        </p:blipFill>
        <p:spPr>
          <a:xfrm>
            <a:off x="3515868" y="5390388"/>
            <a:ext cx="265176" cy="265176"/>
          </a:xfrm>
          <a:prstGeom prst="rect">
            <a:avLst/>
          </a:prstGeom>
        </p:spPr>
      </p:pic>
      <p:sp>
        <p:nvSpPr>
          <p:cNvPr id="16" name="Text 10"/>
          <p:cNvSpPr txBox="1"/>
          <p:nvPr/>
        </p:nvSpPr>
        <p:spPr>
          <a:xfrm>
            <a:off x="4151376" y="5239512"/>
            <a:ext cx="1929384" cy="310896"/>
          </a:xfrm>
          <a:prstGeom prst="rect">
            <a:avLst/>
          </a:prstGeom>
          <a:noFill/>
          <a:ln/>
        </p:spPr>
        <p:txBody>
          <a:bodyPr wrap="square" lIns="0" tIns="0" rIns="0" bIns="0" rtlCol="0" anchor="t"/>
          <a:lstStyle/>
          <a:p>
            <a:pPr algn="l" indent="0" marL="0">
              <a:buNone/>
            </a:pPr>
            <a:r>
              <a:rPr lang="en-US" sz="1600" b="1" dirty="0">
                <a:solidFill>
                  <a:srgbClr val="17243F"/>
                </a:solidFill>
                <a:latin typeface="Calibri" pitchFamily="34" charset="0"/>
                <a:ea typeface="Calibri" pitchFamily="34" charset="-122"/>
                <a:cs typeface="Calibri" pitchFamily="34" charset="-120"/>
              </a:rPr>
              <a:t>Ba mức sao</a:t>
            </a:r>
            <a:endParaRPr lang="en-US" sz="1600" dirty="0"/>
          </a:p>
        </p:txBody>
      </p:sp>
      <p:sp>
        <p:nvSpPr>
          <p:cNvPr id="17" name="Text 11"/>
          <p:cNvSpPr txBox="1"/>
          <p:nvPr/>
        </p:nvSpPr>
        <p:spPr>
          <a:xfrm>
            <a:off x="4151376" y="5568696"/>
            <a:ext cx="1929384" cy="77724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5 điểm 1 sao, 7 điểm 2 sao, 9 điểm 3 sao.</a:t>
            </a:r>
            <a:endParaRPr lang="en-US" sz="1400" dirty="0"/>
          </a:p>
        </p:txBody>
      </p:sp>
      <p:sp>
        <p:nvSpPr>
          <p:cNvPr id="18" name="Shape 12"/>
          <p:cNvSpPr/>
          <p:nvPr/>
        </p:nvSpPr>
        <p:spPr>
          <a:xfrm>
            <a:off x="6217920" y="5257800"/>
            <a:ext cx="530352" cy="530352"/>
          </a:xfrm>
          <a:prstGeom prst="ellipse">
            <a:avLst/>
          </a:prstGeom>
          <a:solidFill>
            <a:srgbClr val="FBDEDF"/>
          </a:solidFill>
          <a:ln w="19050">
            <a:solidFill>
              <a:srgbClr val="E4474D"/>
            </a:solidFill>
            <a:prstDash val="solid"/>
          </a:ln>
        </p:spPr>
      </p:sp>
      <p:pic>
        <p:nvPicPr>
          <p:cNvPr id="19" name="Image 4" descr="Ảnh chụp giao diện Siêu Sao Toán 4">    </p:cNvPr>
          <p:cNvPicPr>
            <a:picLocks noChangeAspect="1"/>
          </p:cNvPicPr>
          <p:nvPr/>
        </p:nvPicPr>
        <p:blipFill>
          <a:blip r:embed="rId5"/>
          <a:stretch>
            <a:fillRect/>
          </a:stretch>
        </p:blipFill>
        <p:spPr>
          <a:xfrm>
            <a:off x="6350508" y="5390388"/>
            <a:ext cx="265176" cy="265176"/>
          </a:xfrm>
          <a:prstGeom prst="rect">
            <a:avLst/>
          </a:prstGeom>
        </p:spPr>
      </p:pic>
      <p:sp>
        <p:nvSpPr>
          <p:cNvPr id="20" name="Text 13"/>
          <p:cNvSpPr txBox="1"/>
          <p:nvPr/>
        </p:nvSpPr>
        <p:spPr>
          <a:xfrm>
            <a:off x="6986016" y="5239512"/>
            <a:ext cx="1929384" cy="310896"/>
          </a:xfrm>
          <a:prstGeom prst="rect">
            <a:avLst/>
          </a:prstGeom>
          <a:noFill/>
          <a:ln/>
        </p:spPr>
        <p:txBody>
          <a:bodyPr wrap="square" lIns="0" tIns="0" rIns="0" bIns="0" rtlCol="0" anchor="t"/>
          <a:lstStyle/>
          <a:p>
            <a:pPr algn="l" indent="0" marL="0">
              <a:buNone/>
            </a:pPr>
            <a:r>
              <a:rPr lang="en-US" sz="1600" b="1" dirty="0">
                <a:solidFill>
                  <a:srgbClr val="17243F"/>
                </a:solidFill>
                <a:latin typeface="Calibri" pitchFamily="34" charset="0"/>
                <a:ea typeface="Calibri" pitchFamily="34" charset="-122"/>
                <a:cs typeface="Calibri" pitchFamily="34" charset="-120"/>
              </a:rPr>
              <a:t>Xem lại câu đã sai</a:t>
            </a:r>
            <a:endParaRPr lang="en-US" sz="1600" dirty="0"/>
          </a:p>
        </p:txBody>
      </p:sp>
      <p:sp>
        <p:nvSpPr>
          <p:cNvPr id="21" name="Text 14"/>
          <p:cNvSpPr txBox="1"/>
          <p:nvPr/>
        </p:nvSpPr>
        <p:spPr>
          <a:xfrm>
            <a:off x="6986016" y="5568696"/>
            <a:ext cx="1929384" cy="77724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Có đáp án đúng và gợi ý để tự sửa.</a:t>
            </a:r>
            <a:endParaRPr lang="en-US" sz="1400" dirty="0"/>
          </a:p>
        </p:txBody>
      </p:sp>
      <p:sp>
        <p:nvSpPr>
          <p:cNvPr id="22" name="Shape 15"/>
          <p:cNvSpPr/>
          <p:nvPr/>
        </p:nvSpPr>
        <p:spPr>
          <a:xfrm>
            <a:off x="9052560" y="5257800"/>
            <a:ext cx="530352" cy="530352"/>
          </a:xfrm>
          <a:prstGeom prst="ellipse">
            <a:avLst/>
          </a:prstGeom>
          <a:solidFill>
            <a:srgbClr val="E5DFF7"/>
          </a:solidFill>
          <a:ln w="19050">
            <a:solidFill>
              <a:srgbClr val="7A5BD0"/>
            </a:solidFill>
            <a:prstDash val="solid"/>
          </a:ln>
        </p:spPr>
      </p:sp>
      <p:pic>
        <p:nvPicPr>
          <p:cNvPr id="23" name="Image 5" descr="Ảnh chụp giao diện Siêu Sao Toán 4">    </p:cNvPr>
          <p:cNvPicPr>
            <a:picLocks noChangeAspect="1"/>
          </p:cNvPicPr>
          <p:nvPr/>
        </p:nvPicPr>
        <p:blipFill>
          <a:blip r:embed="rId6"/>
          <a:stretch>
            <a:fillRect/>
          </a:stretch>
        </p:blipFill>
        <p:spPr>
          <a:xfrm>
            <a:off x="9185148" y="5390388"/>
            <a:ext cx="265176" cy="265176"/>
          </a:xfrm>
          <a:prstGeom prst="rect">
            <a:avLst/>
          </a:prstGeom>
        </p:spPr>
      </p:pic>
      <p:sp>
        <p:nvSpPr>
          <p:cNvPr id="24" name="Text 16"/>
          <p:cNvSpPr txBox="1"/>
          <p:nvPr/>
        </p:nvSpPr>
        <p:spPr>
          <a:xfrm>
            <a:off x="9820656" y="5239512"/>
            <a:ext cx="1929384" cy="310896"/>
          </a:xfrm>
          <a:prstGeom prst="rect">
            <a:avLst/>
          </a:prstGeom>
          <a:noFill/>
          <a:ln/>
        </p:spPr>
        <p:txBody>
          <a:bodyPr wrap="square" lIns="0" tIns="0" rIns="0" bIns="0" rtlCol="0" anchor="t"/>
          <a:lstStyle/>
          <a:p>
            <a:pPr algn="l" indent="0" marL="0">
              <a:buNone/>
            </a:pPr>
            <a:r>
              <a:rPr lang="en-US" sz="1600" b="1" dirty="0">
                <a:solidFill>
                  <a:srgbClr val="17243F"/>
                </a:solidFill>
                <a:latin typeface="Calibri" pitchFamily="34" charset="0"/>
                <a:ea typeface="Calibri" pitchFamily="34" charset="-122"/>
                <a:cs typeface="Calibri" pitchFamily="34" charset="-120"/>
              </a:rPr>
              <a:t>Xếp hạng cả lớp</a:t>
            </a:r>
            <a:endParaRPr lang="en-US" sz="1600" dirty="0"/>
          </a:p>
        </p:txBody>
      </p:sp>
      <p:sp>
        <p:nvSpPr>
          <p:cNvPr id="25" name="Text 17"/>
          <p:cNvSpPr txBox="1"/>
          <p:nvPr/>
        </p:nvSpPr>
        <p:spPr>
          <a:xfrm>
            <a:off x="9820656" y="5568696"/>
            <a:ext cx="1929384" cy="77724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Cộng điểm cao nhất mỗi bài và điểm thử thách.</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9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46888"/>
            <a:ext cx="8229600" cy="274320"/>
          </a:xfrm>
          <a:prstGeom prst="rect">
            <a:avLst/>
          </a:prstGeom>
          <a:noFill/>
          <a:ln/>
        </p:spPr>
        <p:txBody>
          <a:bodyPr wrap="square" lIns="0" tIns="0" rIns="0" bIns="0" rtlCol="0" anchor="t"/>
          <a:lstStyle/>
          <a:p>
            <a:pPr algn="l" indent="0" marL="0">
              <a:buNone/>
            </a:pPr>
            <a:r>
              <a:rPr lang="en-US" sz="1400" b="1" dirty="0">
                <a:solidFill>
                  <a:srgbClr val="2F5FD0"/>
                </a:solidFill>
                <a:latin typeface="Calibri" pitchFamily="34" charset="0"/>
                <a:ea typeface="Calibri" pitchFamily="34" charset="-122"/>
                <a:cs typeface="Calibri" pitchFamily="34" charset="-120"/>
              </a:rPr>
              <a:t>3 · Triển khai trong thực tế</a:t>
            </a:r>
            <a:endParaRPr lang="en-US" sz="1400" dirty="0"/>
          </a:p>
        </p:txBody>
      </p:sp>
      <p:sp>
        <p:nvSpPr>
          <p:cNvPr id="3" name="Text 0"/>
          <p:cNvSpPr/>
          <p:nvPr>
            <p:ph idx="100" type="title" hasCustomPrompt="1"/>
          </p:nvPr>
        </p:nvSpPr>
        <p:spPr>
          <a:xfrm>
            <a:off x="548640" y="457200"/>
            <a:ext cx="11091672" cy="868680"/>
          </a:xfrm>
          <a:prstGeom prst="rect">
            <a:avLst/>
          </a:prstGeom>
          <a:noFill/>
          <a:ln/>
        </p:spPr>
        <p:txBody>
          <a:bodyPr wrap="square" lIns="0" tIns="0" rIns="0" bIns="0" rtlCol="0" anchor="ctr"/>
          <a:lstStyle/>
          <a:p>
            <a:pPr indent="0" marL="0">
              <a:buNone/>
            </a:pPr>
            <a:r>
              <a:rPr lang="en-US" sz="3600" b="1" dirty="0">
                <a:solidFill>
                  <a:srgbClr val="17243F"/>
                </a:solidFill>
                <a:latin typeface="Cambria" pitchFamily="34" charset="0"/>
                <a:ea typeface="Cambria" pitchFamily="34" charset="-122"/>
                <a:cs typeface="Cambria" pitchFamily="34" charset="-120"/>
              </a:rPr>
              <a:t>Giáo viên thấy điểm, từng câu trả lời và tải Excel</a:t>
            </a:r>
            <a:endParaRPr lang="en-US" sz="3600" dirty="0"/>
          </a:p>
        </p:txBody>
      </p:sp>
      <p:sp>
        <p:nvSpPr>
          <p:cNvPr id="4" name="Shape 2"/>
          <p:cNvSpPr/>
          <p:nvPr/>
        </p:nvSpPr>
        <p:spPr>
          <a:xfrm>
            <a:off x="612648" y="1527048"/>
            <a:ext cx="5440680" cy="2194560"/>
          </a:xfrm>
          <a:prstGeom prst="roundRect">
            <a:avLst>
              <a:gd name="adj" fmla="val 5833"/>
            </a:avLst>
          </a:prstGeom>
          <a:solidFill>
            <a:srgbClr val="17243F"/>
          </a:solidFill>
          <a:ln/>
        </p:spPr>
      </p:sp>
      <p:sp>
        <p:nvSpPr>
          <p:cNvPr id="5" name="Shape 3"/>
          <p:cNvSpPr/>
          <p:nvPr/>
        </p:nvSpPr>
        <p:spPr>
          <a:xfrm>
            <a:off x="548640" y="1463040"/>
            <a:ext cx="5440680" cy="2194560"/>
          </a:xfrm>
          <a:prstGeom prst="roundRect">
            <a:avLst>
              <a:gd name="adj" fmla="val 5833"/>
            </a:avLst>
          </a:prstGeom>
          <a:solidFill>
            <a:srgbClr val="FFFFFF"/>
          </a:solidFill>
          <a:ln w="22225">
            <a:solidFill>
              <a:srgbClr val="17243F"/>
            </a:solidFill>
            <a:prstDash val="solid"/>
          </a:ln>
        </p:spPr>
      </p:sp>
      <p:pic>
        <p:nvPicPr>
          <p:cNvPr id="6" name="Image 0" descr="Ảnh chụp giao diện Siêu Sao Toán 4">    </p:cNvPr>
          <p:cNvPicPr>
            <a:picLocks noChangeAspect="1"/>
          </p:cNvPicPr>
          <p:nvPr/>
        </p:nvPicPr>
        <p:blipFill>
          <a:blip r:embed="rId1"/>
          <a:stretch>
            <a:fillRect/>
          </a:stretch>
        </p:blipFill>
        <p:spPr>
          <a:xfrm>
            <a:off x="621792" y="1536192"/>
            <a:ext cx="5294376" cy="2048256"/>
          </a:xfrm>
          <a:prstGeom prst="rect">
            <a:avLst/>
          </a:prstGeom>
        </p:spPr>
      </p:pic>
      <p:sp>
        <p:nvSpPr>
          <p:cNvPr id="7" name="Shape 4"/>
          <p:cNvSpPr/>
          <p:nvPr/>
        </p:nvSpPr>
        <p:spPr>
          <a:xfrm>
            <a:off x="6263640" y="1527048"/>
            <a:ext cx="5440680" cy="2194560"/>
          </a:xfrm>
          <a:prstGeom prst="roundRect">
            <a:avLst>
              <a:gd name="adj" fmla="val 5833"/>
            </a:avLst>
          </a:prstGeom>
          <a:solidFill>
            <a:srgbClr val="17243F"/>
          </a:solidFill>
          <a:ln/>
        </p:spPr>
      </p:sp>
      <p:sp>
        <p:nvSpPr>
          <p:cNvPr id="8" name="Shape 5"/>
          <p:cNvSpPr/>
          <p:nvPr/>
        </p:nvSpPr>
        <p:spPr>
          <a:xfrm>
            <a:off x="6199632" y="1463040"/>
            <a:ext cx="5440680" cy="2194560"/>
          </a:xfrm>
          <a:prstGeom prst="roundRect">
            <a:avLst>
              <a:gd name="adj" fmla="val 5833"/>
            </a:avLst>
          </a:prstGeom>
          <a:solidFill>
            <a:srgbClr val="FFFFFF"/>
          </a:solidFill>
          <a:ln w="22225">
            <a:solidFill>
              <a:srgbClr val="17243F"/>
            </a:solidFill>
            <a:prstDash val="solid"/>
          </a:ln>
        </p:spPr>
      </p:sp>
      <p:pic>
        <p:nvPicPr>
          <p:cNvPr id="9" name="Image 1" descr="Ảnh chụp giao diện Siêu Sao Toán 4">    </p:cNvPr>
          <p:cNvPicPr>
            <a:picLocks noChangeAspect="1"/>
          </p:cNvPicPr>
          <p:nvPr/>
        </p:nvPicPr>
        <p:blipFill>
          <a:blip r:embed="rId2"/>
          <a:stretch>
            <a:fillRect/>
          </a:stretch>
        </p:blipFill>
        <p:spPr>
          <a:xfrm>
            <a:off x="6272784" y="1536192"/>
            <a:ext cx="5294376" cy="2048256"/>
          </a:xfrm>
          <a:prstGeom prst="rect">
            <a:avLst/>
          </a:prstGeom>
        </p:spPr>
      </p:pic>
      <p:sp>
        <p:nvSpPr>
          <p:cNvPr id="10" name="Text 6"/>
          <p:cNvSpPr txBox="1"/>
          <p:nvPr/>
        </p:nvSpPr>
        <p:spPr>
          <a:xfrm>
            <a:off x="548640" y="3749040"/>
            <a:ext cx="5440680" cy="292608"/>
          </a:xfrm>
          <a:prstGeom prst="rect">
            <a:avLst/>
          </a:prstGeom>
          <a:noFill/>
          <a:ln/>
        </p:spPr>
        <p:txBody>
          <a:bodyPr wrap="square" lIns="0" tIns="0" rIns="0" bIns="0" rtlCol="0" anchor="t"/>
          <a:lstStyle/>
          <a:p>
            <a:pPr algn="l" indent="0" marL="0">
              <a:buNone/>
            </a:pPr>
            <a:r>
              <a:rPr lang="en-US" sz="1400" b="1" dirty="0">
                <a:solidFill>
                  <a:srgbClr val="17243F"/>
                </a:solidFill>
                <a:latin typeface="Calibri" pitchFamily="34" charset="0"/>
                <a:ea typeface="Calibri" pitchFamily="34" charset="-122"/>
                <a:cs typeface="Calibri" pitchFamily="34" charset="-120"/>
              </a:rPr>
              <a:t>Tổng quan: điểm, số bài và điểm trung bình từng em</a:t>
            </a:r>
            <a:endParaRPr lang="en-US" sz="1400" dirty="0"/>
          </a:p>
        </p:txBody>
      </p:sp>
      <p:sp>
        <p:nvSpPr>
          <p:cNvPr id="11" name="Text 7"/>
          <p:cNvSpPr txBox="1"/>
          <p:nvPr/>
        </p:nvSpPr>
        <p:spPr>
          <a:xfrm>
            <a:off x="6199632" y="3749040"/>
            <a:ext cx="5440680" cy="292608"/>
          </a:xfrm>
          <a:prstGeom prst="rect">
            <a:avLst/>
          </a:prstGeom>
          <a:noFill/>
          <a:ln/>
        </p:spPr>
        <p:txBody>
          <a:bodyPr wrap="square" lIns="0" tIns="0" rIns="0" bIns="0" rtlCol="0" anchor="t"/>
          <a:lstStyle/>
          <a:p>
            <a:pPr algn="l" indent="0" marL="0">
              <a:buNone/>
            </a:pPr>
            <a:r>
              <a:rPr lang="en-US" sz="1400" b="1" dirty="0">
                <a:solidFill>
                  <a:srgbClr val="17243F"/>
                </a:solidFill>
                <a:latin typeface="Calibri" pitchFamily="34" charset="0"/>
                <a:ea typeface="Calibri" pitchFamily="34" charset="-122"/>
                <a:cs typeface="Calibri" pitchFamily="34" charset="-120"/>
              </a:rPr>
              <a:t>Bài đã làm: xem từng câu đúng, sai của học sinh</a:t>
            </a:r>
            <a:endParaRPr lang="en-US" sz="1400" dirty="0"/>
          </a:p>
        </p:txBody>
      </p:sp>
      <p:sp>
        <p:nvSpPr>
          <p:cNvPr id="12" name="Shape 8"/>
          <p:cNvSpPr/>
          <p:nvPr/>
        </p:nvSpPr>
        <p:spPr>
          <a:xfrm>
            <a:off x="612648" y="4224528"/>
            <a:ext cx="5760720" cy="2205471"/>
          </a:xfrm>
          <a:prstGeom prst="roundRect">
            <a:avLst>
              <a:gd name="adj" fmla="val 5804"/>
            </a:avLst>
          </a:prstGeom>
          <a:solidFill>
            <a:srgbClr val="17243F"/>
          </a:solidFill>
          <a:ln/>
        </p:spPr>
      </p:sp>
      <p:sp>
        <p:nvSpPr>
          <p:cNvPr id="13" name="Shape 9"/>
          <p:cNvSpPr/>
          <p:nvPr/>
        </p:nvSpPr>
        <p:spPr>
          <a:xfrm>
            <a:off x="548640" y="4160520"/>
            <a:ext cx="5760720" cy="2205471"/>
          </a:xfrm>
          <a:prstGeom prst="roundRect">
            <a:avLst>
              <a:gd name="adj" fmla="val 5804"/>
            </a:avLst>
          </a:prstGeom>
          <a:solidFill>
            <a:srgbClr val="FFFFFF"/>
          </a:solidFill>
          <a:ln w="22225">
            <a:solidFill>
              <a:srgbClr val="17243F"/>
            </a:solidFill>
            <a:prstDash val="solid"/>
          </a:ln>
        </p:spPr>
      </p:sp>
      <p:pic>
        <p:nvPicPr>
          <p:cNvPr id="14" name="Image 2" descr="Ảnh chụp giao diện Siêu Sao Toán 4">    </p:cNvPr>
          <p:cNvPicPr>
            <a:picLocks noChangeAspect="1"/>
          </p:cNvPicPr>
          <p:nvPr/>
        </p:nvPicPr>
        <p:blipFill>
          <a:blip r:embed="rId3"/>
          <a:stretch>
            <a:fillRect/>
          </a:stretch>
        </p:blipFill>
        <p:spPr>
          <a:xfrm>
            <a:off x="621792" y="4233672"/>
            <a:ext cx="5614416" cy="2059167"/>
          </a:xfrm>
          <a:prstGeom prst="rect">
            <a:avLst/>
          </a:prstGeom>
        </p:spPr>
      </p:pic>
      <p:sp>
        <p:nvSpPr>
          <p:cNvPr id="15" name="Shape 10"/>
          <p:cNvSpPr/>
          <p:nvPr/>
        </p:nvSpPr>
        <p:spPr>
          <a:xfrm>
            <a:off x="6675120" y="4389120"/>
            <a:ext cx="566928" cy="566928"/>
          </a:xfrm>
          <a:prstGeom prst="ellipse">
            <a:avLst/>
          </a:prstGeom>
          <a:solidFill>
            <a:srgbClr val="D9F2E6"/>
          </a:solidFill>
          <a:ln w="19050">
            <a:solidFill>
              <a:srgbClr val="1F9D62"/>
            </a:solidFill>
            <a:prstDash val="solid"/>
          </a:ln>
        </p:spPr>
      </p:sp>
      <p:pic>
        <p:nvPicPr>
          <p:cNvPr id="16" name="Image 3" descr="Ảnh chụp giao diện Siêu Sao Toán 4">    </p:cNvPr>
          <p:cNvPicPr>
            <a:picLocks noChangeAspect="1"/>
          </p:cNvPicPr>
          <p:nvPr/>
        </p:nvPicPr>
        <p:blipFill>
          <a:blip r:embed="rId4"/>
          <a:stretch>
            <a:fillRect/>
          </a:stretch>
        </p:blipFill>
        <p:spPr>
          <a:xfrm>
            <a:off x="6816852" y="4530852"/>
            <a:ext cx="283464" cy="283464"/>
          </a:xfrm>
          <a:prstGeom prst="rect">
            <a:avLst/>
          </a:prstGeom>
        </p:spPr>
      </p:pic>
      <p:sp>
        <p:nvSpPr>
          <p:cNvPr id="17" name="Text 11"/>
          <p:cNvSpPr txBox="1"/>
          <p:nvPr/>
        </p:nvSpPr>
        <p:spPr>
          <a:xfrm>
            <a:off x="7479792" y="4370832"/>
            <a:ext cx="4160520" cy="310896"/>
          </a:xfrm>
          <a:prstGeom prst="rect">
            <a:avLst/>
          </a:prstGeom>
          <a:noFill/>
          <a:ln/>
        </p:spPr>
        <p:txBody>
          <a:bodyPr wrap="square" lIns="0" tIns="0" rIns="0" bIns="0" rtlCol="0" anchor="t"/>
          <a:lstStyle/>
          <a:p>
            <a:pPr algn="l" indent="0" marL="0">
              <a:buNone/>
            </a:pPr>
            <a:r>
              <a:rPr lang="en-US" sz="1700" b="1" dirty="0">
                <a:solidFill>
                  <a:srgbClr val="17243F"/>
                </a:solidFill>
                <a:latin typeface="Calibri" pitchFamily="34" charset="0"/>
                <a:ea typeface="Calibri" pitchFamily="34" charset="-122"/>
                <a:cs typeface="Calibri" pitchFamily="34" charset="-120"/>
              </a:rPr>
              <a:t>Tải điểm về Excel</a:t>
            </a:r>
            <a:endParaRPr lang="en-US" sz="1700" dirty="0"/>
          </a:p>
        </p:txBody>
      </p:sp>
      <p:sp>
        <p:nvSpPr>
          <p:cNvPr id="18" name="Text 12"/>
          <p:cNvSpPr txBox="1"/>
          <p:nvPr/>
        </p:nvSpPr>
        <p:spPr>
          <a:xfrm>
            <a:off x="7479792" y="4700016"/>
            <a:ext cx="4160520" cy="118872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Lọc theo bài, lớp, trường; mỗi bài một trang tính. Thử thách nâng cao ra trang riêng.</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94"/>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46888"/>
            <a:ext cx="8229600" cy="274320"/>
          </a:xfrm>
          <a:prstGeom prst="rect">
            <a:avLst/>
          </a:prstGeom>
          <a:noFill/>
          <a:ln/>
        </p:spPr>
        <p:txBody>
          <a:bodyPr wrap="square" lIns="0" tIns="0" rIns="0" bIns="0" rtlCol="0" anchor="t"/>
          <a:lstStyle/>
          <a:p>
            <a:pPr algn="l" indent="0" marL="0">
              <a:buNone/>
            </a:pPr>
            <a:r>
              <a:rPr lang="en-US" sz="1400" b="1" dirty="0">
                <a:solidFill>
                  <a:srgbClr val="2F5FD0"/>
                </a:solidFill>
                <a:latin typeface="Calibri" pitchFamily="34" charset="0"/>
                <a:ea typeface="Calibri" pitchFamily="34" charset="-122"/>
                <a:cs typeface="Calibri" pitchFamily="34" charset="-120"/>
              </a:rPr>
              <a:t>4 · Kết quả và tác động</a:t>
            </a:r>
            <a:endParaRPr lang="en-US" sz="1400" dirty="0"/>
          </a:p>
        </p:txBody>
      </p:sp>
      <p:sp>
        <p:nvSpPr>
          <p:cNvPr id="3" name="Text 0"/>
          <p:cNvSpPr/>
          <p:nvPr>
            <p:ph idx="100" type="title" hasCustomPrompt="1"/>
          </p:nvPr>
        </p:nvSpPr>
        <p:spPr>
          <a:xfrm>
            <a:off x="548640" y="457200"/>
            <a:ext cx="11091672" cy="868680"/>
          </a:xfrm>
          <a:prstGeom prst="rect">
            <a:avLst/>
          </a:prstGeom>
          <a:noFill/>
          <a:ln/>
        </p:spPr>
        <p:txBody>
          <a:bodyPr wrap="square" lIns="0" tIns="0" rIns="0" bIns="0" rtlCol="0" anchor="ctr"/>
          <a:lstStyle/>
          <a:p>
            <a:pPr indent="0" marL="0">
              <a:buNone/>
            </a:pPr>
            <a:r>
              <a:rPr lang="en-US" sz="3600" b="1" dirty="0">
                <a:solidFill>
                  <a:srgbClr val="17243F"/>
                </a:solidFill>
                <a:latin typeface="Cambria" pitchFamily="34" charset="0"/>
                <a:ea typeface="Cambria" pitchFamily="34" charset="-122"/>
                <a:cs typeface="Cambria" pitchFamily="34" charset="-120"/>
              </a:rPr>
              <a:t>Kết quả: 1 356 câu hỏi cho 13 chủ đề</a:t>
            </a:r>
            <a:endParaRPr lang="en-US" sz="3600" dirty="0"/>
          </a:p>
        </p:txBody>
      </p:sp>
      <p:graphicFrame>
        <p:nvGraphicFramePr>
          <p:cNvPr id="4" name="Chart 0" descr=""/>
          <p:cNvGraphicFramePr/>
          <p:nvPr/>
        </p:nvGraphicFramePr>
        <p:xfrm>
          <a:off x="548640" y="1463040"/>
          <a:ext cx="6583680" cy="4251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98080" y="1600200"/>
            <a:ext cx="566928" cy="566928"/>
          </a:xfrm>
          <a:prstGeom prst="ellipse">
            <a:avLst/>
          </a:prstGeom>
          <a:solidFill>
            <a:srgbClr val="D9F2E6"/>
          </a:solidFill>
          <a:ln w="19050">
            <a:solidFill>
              <a:srgbClr val="1F9D62"/>
            </a:solidFill>
            <a:prstDash val="solid"/>
          </a:ln>
        </p:spPr>
      </p:sp>
      <p:pic>
        <p:nvPicPr>
          <p:cNvPr id="6" name="Image 0" descr="Ảnh chụp giao diện Siêu Sao Toán 4">    </p:cNvPr>
          <p:cNvPicPr>
            <a:picLocks noChangeAspect="1"/>
          </p:cNvPicPr>
          <p:nvPr/>
        </p:nvPicPr>
        <p:blipFill>
          <a:blip r:embed="rId2"/>
          <a:stretch>
            <a:fillRect/>
          </a:stretch>
        </p:blipFill>
        <p:spPr>
          <a:xfrm>
            <a:off x="7639812" y="1741932"/>
            <a:ext cx="283464" cy="283464"/>
          </a:xfrm>
          <a:prstGeom prst="rect">
            <a:avLst/>
          </a:prstGeom>
        </p:spPr>
      </p:pic>
      <p:sp>
        <p:nvSpPr>
          <p:cNvPr id="7" name="Text 3"/>
          <p:cNvSpPr txBox="1"/>
          <p:nvPr/>
        </p:nvSpPr>
        <p:spPr>
          <a:xfrm>
            <a:off x="8302752" y="1581912"/>
            <a:ext cx="3337560" cy="310896"/>
          </a:xfrm>
          <a:prstGeom prst="rect">
            <a:avLst/>
          </a:prstGeom>
          <a:noFill/>
          <a:ln/>
        </p:spPr>
        <p:txBody>
          <a:bodyPr wrap="square" lIns="0" tIns="0" rIns="0" bIns="0" rtlCol="0" anchor="t"/>
          <a:lstStyle/>
          <a:p>
            <a:pPr algn="l" indent="0" marL="0">
              <a:buNone/>
            </a:pPr>
            <a:r>
              <a:rPr lang="en-US" sz="1700" b="1" dirty="0">
                <a:solidFill>
                  <a:srgbClr val="17243F"/>
                </a:solidFill>
                <a:latin typeface="Calibri" pitchFamily="34" charset="0"/>
                <a:ea typeface="Calibri" pitchFamily="34" charset="-122"/>
                <a:cs typeface="Calibri" pitchFamily="34" charset="-120"/>
              </a:rPr>
              <a:t>Học sinh biết đúng sai ngay</a:t>
            </a:r>
            <a:endParaRPr lang="en-US" sz="1700" dirty="0"/>
          </a:p>
        </p:txBody>
      </p:sp>
      <p:sp>
        <p:nvSpPr>
          <p:cNvPr id="8" name="Text 4"/>
          <p:cNvSpPr txBox="1"/>
          <p:nvPr/>
        </p:nvSpPr>
        <p:spPr>
          <a:xfrm>
            <a:off x="8302752" y="1911096"/>
            <a:ext cx="3337560" cy="91440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Mỗi câu có khen hoặc động viên, đáp án đúng và gợi ý; làm lại không giới hạn.</a:t>
            </a:r>
            <a:endParaRPr lang="en-US" sz="1400" dirty="0"/>
          </a:p>
        </p:txBody>
      </p:sp>
      <p:sp>
        <p:nvSpPr>
          <p:cNvPr id="9" name="Shape 5"/>
          <p:cNvSpPr/>
          <p:nvPr/>
        </p:nvSpPr>
        <p:spPr>
          <a:xfrm>
            <a:off x="7498080" y="2971800"/>
            <a:ext cx="566928" cy="566928"/>
          </a:xfrm>
          <a:prstGeom prst="ellipse">
            <a:avLst/>
          </a:prstGeom>
          <a:solidFill>
            <a:srgbClr val="DCE6FA"/>
          </a:solidFill>
          <a:ln w="19050">
            <a:solidFill>
              <a:srgbClr val="2F5FD0"/>
            </a:solidFill>
            <a:prstDash val="solid"/>
          </a:ln>
        </p:spPr>
      </p:sp>
      <p:pic>
        <p:nvPicPr>
          <p:cNvPr id="10" name="Image 1" descr="Ảnh chụp giao diện Siêu Sao Toán 4">    </p:cNvPr>
          <p:cNvPicPr>
            <a:picLocks noChangeAspect="1"/>
          </p:cNvPicPr>
          <p:nvPr/>
        </p:nvPicPr>
        <p:blipFill>
          <a:blip r:embed="rId3"/>
          <a:stretch>
            <a:fillRect/>
          </a:stretch>
        </p:blipFill>
        <p:spPr>
          <a:xfrm>
            <a:off x="7639812" y="3113532"/>
            <a:ext cx="283464" cy="283464"/>
          </a:xfrm>
          <a:prstGeom prst="rect">
            <a:avLst/>
          </a:prstGeom>
        </p:spPr>
      </p:pic>
      <p:sp>
        <p:nvSpPr>
          <p:cNvPr id="11" name="Text 6"/>
          <p:cNvSpPr txBox="1"/>
          <p:nvPr/>
        </p:nvSpPr>
        <p:spPr>
          <a:xfrm>
            <a:off x="8302752" y="2953512"/>
            <a:ext cx="3337560" cy="310896"/>
          </a:xfrm>
          <a:prstGeom prst="rect">
            <a:avLst/>
          </a:prstGeom>
          <a:noFill/>
          <a:ln/>
        </p:spPr>
        <p:txBody>
          <a:bodyPr wrap="square" lIns="0" tIns="0" rIns="0" bIns="0" rtlCol="0" anchor="t"/>
          <a:lstStyle/>
          <a:p>
            <a:pPr algn="l" indent="0" marL="0">
              <a:buNone/>
            </a:pPr>
            <a:r>
              <a:rPr lang="en-US" sz="1700" b="1" dirty="0">
                <a:solidFill>
                  <a:srgbClr val="17243F"/>
                </a:solidFill>
                <a:latin typeface="Calibri" pitchFamily="34" charset="0"/>
                <a:ea typeface="Calibri" pitchFamily="34" charset="-122"/>
                <a:cs typeface="Calibri" pitchFamily="34" charset="-120"/>
              </a:rPr>
              <a:t>Giáo viên không phải chấm tay</a:t>
            </a:r>
            <a:endParaRPr lang="en-US" sz="1700" dirty="0"/>
          </a:p>
        </p:txBody>
      </p:sp>
      <p:sp>
        <p:nvSpPr>
          <p:cNvPr id="12" name="Text 7"/>
          <p:cNvSpPr txBox="1"/>
          <p:nvPr/>
        </p:nvSpPr>
        <p:spPr>
          <a:xfrm>
            <a:off x="8302752" y="3282696"/>
            <a:ext cx="3337560" cy="91440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Điểm cả lớp, từng lượt làm, từng câu trả lời; tải Excel theo bài, lớp, trường.</a:t>
            </a:r>
            <a:endParaRPr lang="en-US" sz="1400" dirty="0"/>
          </a:p>
        </p:txBody>
      </p:sp>
      <p:sp>
        <p:nvSpPr>
          <p:cNvPr id="13" name="Shape 8"/>
          <p:cNvSpPr/>
          <p:nvPr/>
        </p:nvSpPr>
        <p:spPr>
          <a:xfrm>
            <a:off x="7498080" y="4343400"/>
            <a:ext cx="566928" cy="566928"/>
          </a:xfrm>
          <a:prstGeom prst="ellipse">
            <a:avLst/>
          </a:prstGeom>
          <a:solidFill>
            <a:srgbClr val="E5DFF7"/>
          </a:solidFill>
          <a:ln w="19050">
            <a:solidFill>
              <a:srgbClr val="7A5BD0"/>
            </a:solidFill>
            <a:prstDash val="solid"/>
          </a:ln>
        </p:spPr>
      </p:sp>
      <p:pic>
        <p:nvPicPr>
          <p:cNvPr id="14" name="Image 2" descr="Ảnh chụp giao diện Siêu Sao Toán 4">    </p:cNvPr>
          <p:cNvPicPr>
            <a:picLocks noChangeAspect="1"/>
          </p:cNvPicPr>
          <p:nvPr/>
        </p:nvPicPr>
        <p:blipFill>
          <a:blip r:embed="rId4"/>
          <a:stretch>
            <a:fillRect/>
          </a:stretch>
        </p:blipFill>
        <p:spPr>
          <a:xfrm>
            <a:off x="7639812" y="4485132"/>
            <a:ext cx="283464" cy="283464"/>
          </a:xfrm>
          <a:prstGeom prst="rect">
            <a:avLst/>
          </a:prstGeom>
        </p:spPr>
      </p:pic>
      <p:sp>
        <p:nvSpPr>
          <p:cNvPr id="15" name="Text 9"/>
          <p:cNvSpPr txBox="1"/>
          <p:nvPr/>
        </p:nvSpPr>
        <p:spPr>
          <a:xfrm>
            <a:off x="8302752" y="4325112"/>
            <a:ext cx="3337560" cy="310896"/>
          </a:xfrm>
          <a:prstGeom prst="rect">
            <a:avLst/>
          </a:prstGeom>
          <a:noFill/>
          <a:ln/>
        </p:spPr>
        <p:txBody>
          <a:bodyPr wrap="square" lIns="0" tIns="0" rIns="0" bIns="0" rtlCol="0" anchor="t"/>
          <a:lstStyle/>
          <a:p>
            <a:pPr algn="l" indent="0" marL="0">
              <a:buNone/>
            </a:pPr>
            <a:r>
              <a:rPr lang="en-US" sz="1700" b="1" dirty="0">
                <a:solidFill>
                  <a:srgbClr val="17243F"/>
                </a:solidFill>
                <a:latin typeface="Calibri" pitchFamily="34" charset="0"/>
                <a:ea typeface="Calibri" pitchFamily="34" charset="-122"/>
                <a:cs typeface="Calibri" pitchFamily="34" charset="-120"/>
              </a:rPr>
              <a:t>Câu hỏi được kiểm tra</a:t>
            </a:r>
            <a:endParaRPr lang="en-US" sz="1700" dirty="0"/>
          </a:p>
        </p:txBody>
      </p:sp>
      <p:sp>
        <p:nvSpPr>
          <p:cNvPr id="16" name="Text 10"/>
          <p:cNvSpPr txBox="1"/>
          <p:nvPr/>
        </p:nvSpPr>
        <p:spPr>
          <a:xfrm>
            <a:off x="8302752" y="4654296"/>
            <a:ext cx="3337560" cy="91440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Kiểm tra tự động cấu trúc và phép tính; giáo viên rà đáp án trước khi dùng.</a:t>
            </a:r>
            <a:endParaRPr lang="en-US" sz="1400" dirty="0"/>
          </a:p>
        </p:txBody>
      </p:sp>
      <p:sp>
        <p:nvSpPr>
          <p:cNvPr id="17" name="Shape 11"/>
          <p:cNvSpPr/>
          <p:nvPr/>
        </p:nvSpPr>
        <p:spPr>
          <a:xfrm>
            <a:off x="548640" y="5852160"/>
            <a:ext cx="11091672" cy="566928"/>
          </a:xfrm>
          <a:prstGeom prst="roundRect">
            <a:avLst>
              <a:gd name="adj" fmla="val 19355"/>
            </a:avLst>
          </a:prstGeom>
          <a:solidFill>
            <a:srgbClr val="FFF0B5"/>
          </a:solidFill>
          <a:ln w="19050">
            <a:solidFill>
              <a:srgbClr val="17243F"/>
            </a:solidFill>
            <a:prstDash val="solid"/>
          </a:ln>
        </p:spPr>
      </p:sp>
      <p:sp>
        <p:nvSpPr>
          <p:cNvPr id="18" name="Text 12"/>
          <p:cNvSpPr txBox="1"/>
          <p:nvPr/>
        </p:nvSpPr>
        <p:spPr>
          <a:xfrm>
            <a:off x="822960" y="5852160"/>
            <a:ext cx="10543032" cy="566928"/>
          </a:xfrm>
          <a:prstGeom prst="rect">
            <a:avLst/>
          </a:prstGeom>
          <a:noFill/>
          <a:ln/>
        </p:spPr>
        <p:txBody>
          <a:bodyPr wrap="square" lIns="0" tIns="0" rIns="0" bIns="0" rtlCol="0" anchor="ctr"/>
          <a:lstStyle/>
          <a:p>
            <a:pPr algn="l" indent="0" marL="0">
              <a:buNone/>
            </a:pPr>
            <a:r>
              <a:rPr lang="en-US" sz="1600" b="1" dirty="0">
                <a:solidFill>
                  <a:srgbClr val="17243F"/>
                </a:solidFill>
                <a:latin typeface="Calibri" pitchFamily="34" charset="0"/>
                <a:ea typeface="Calibri" pitchFamily="34" charset="-122"/>
                <a:cs typeface="Calibri" pitchFamily="34" charset="-120"/>
              </a:rPr>
              <a:t>Bước đánh giá tiếp theo: chạy thử ở lớp học thật, thu điểm số và phản hồi của học sinh, giáo viên.</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94"/>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46888"/>
            <a:ext cx="8229600" cy="274320"/>
          </a:xfrm>
          <a:prstGeom prst="rect">
            <a:avLst/>
          </a:prstGeom>
          <a:noFill/>
          <a:ln/>
        </p:spPr>
        <p:txBody>
          <a:bodyPr wrap="square" lIns="0" tIns="0" rIns="0" bIns="0" rtlCol="0" anchor="t"/>
          <a:lstStyle/>
          <a:p>
            <a:pPr algn="l" indent="0" marL="0">
              <a:buNone/>
            </a:pPr>
            <a:r>
              <a:rPr lang="en-US" sz="1400" b="1" dirty="0">
                <a:solidFill>
                  <a:srgbClr val="2F5FD0"/>
                </a:solidFill>
                <a:latin typeface="Calibri" pitchFamily="34" charset="0"/>
                <a:ea typeface="Calibri" pitchFamily="34" charset="-122"/>
                <a:cs typeface="Calibri" pitchFamily="34" charset="-120"/>
              </a:rPr>
              <a:t>5 · Tính bền vững và khả năng nhân rộng</a:t>
            </a:r>
            <a:endParaRPr lang="en-US" sz="1400" dirty="0"/>
          </a:p>
        </p:txBody>
      </p:sp>
      <p:sp>
        <p:nvSpPr>
          <p:cNvPr id="3" name="Text 0"/>
          <p:cNvSpPr/>
          <p:nvPr>
            <p:ph idx="100" type="title" hasCustomPrompt="1"/>
          </p:nvPr>
        </p:nvSpPr>
        <p:spPr>
          <a:xfrm>
            <a:off x="548640" y="457200"/>
            <a:ext cx="11091672" cy="868680"/>
          </a:xfrm>
          <a:prstGeom prst="rect">
            <a:avLst/>
          </a:prstGeom>
          <a:noFill/>
          <a:ln/>
        </p:spPr>
        <p:txBody>
          <a:bodyPr wrap="square" lIns="0" tIns="0" rIns="0" bIns="0" rtlCol="0" anchor="ctr"/>
          <a:lstStyle/>
          <a:p>
            <a:pPr indent="0" marL="0">
              <a:buNone/>
            </a:pPr>
            <a:r>
              <a:rPr lang="en-US" sz="3600" b="1" dirty="0">
                <a:solidFill>
                  <a:srgbClr val="17243F"/>
                </a:solidFill>
                <a:latin typeface="Cambria" pitchFamily="34" charset="0"/>
                <a:ea typeface="Cambria" pitchFamily="34" charset="-122"/>
                <a:cs typeface="Cambria" pitchFamily="34" charset="-120"/>
              </a:rPr>
              <a:t>Ba lớp kỹ thuật và cách bảo vệ dữ liệu</a:t>
            </a:r>
            <a:endParaRPr lang="en-US" sz="3600" dirty="0"/>
          </a:p>
        </p:txBody>
      </p:sp>
      <p:sp>
        <p:nvSpPr>
          <p:cNvPr id="4" name="Shape 2"/>
          <p:cNvSpPr/>
          <p:nvPr/>
        </p:nvSpPr>
        <p:spPr>
          <a:xfrm>
            <a:off x="612648" y="1572768"/>
            <a:ext cx="3429000" cy="1828800"/>
          </a:xfrm>
          <a:prstGeom prst="roundRect">
            <a:avLst>
              <a:gd name="adj" fmla="val 8000"/>
            </a:avLst>
          </a:prstGeom>
          <a:solidFill>
            <a:srgbClr val="17243F"/>
          </a:solidFill>
          <a:ln/>
        </p:spPr>
      </p:sp>
      <p:sp>
        <p:nvSpPr>
          <p:cNvPr id="5" name="Shape 3"/>
          <p:cNvSpPr/>
          <p:nvPr/>
        </p:nvSpPr>
        <p:spPr>
          <a:xfrm>
            <a:off x="548640" y="1508760"/>
            <a:ext cx="3429000" cy="1828800"/>
          </a:xfrm>
          <a:prstGeom prst="roundRect">
            <a:avLst>
              <a:gd name="adj" fmla="val 8000"/>
            </a:avLst>
          </a:prstGeom>
          <a:solidFill>
            <a:srgbClr val="FFFFFF"/>
          </a:solidFill>
          <a:ln w="22225">
            <a:solidFill>
              <a:srgbClr val="17243F"/>
            </a:solidFill>
            <a:prstDash val="solid"/>
          </a:ln>
        </p:spPr>
      </p:sp>
      <p:sp>
        <p:nvSpPr>
          <p:cNvPr id="6" name="Shape 4"/>
          <p:cNvSpPr/>
          <p:nvPr/>
        </p:nvSpPr>
        <p:spPr>
          <a:xfrm>
            <a:off x="777240" y="1737360"/>
            <a:ext cx="640080" cy="640080"/>
          </a:xfrm>
          <a:prstGeom prst="ellipse">
            <a:avLst/>
          </a:prstGeom>
          <a:solidFill>
            <a:srgbClr val="DCE6FA"/>
          </a:solidFill>
          <a:ln w="19050">
            <a:solidFill>
              <a:srgbClr val="2F5FD0"/>
            </a:solidFill>
            <a:prstDash val="solid"/>
          </a:ln>
        </p:spPr>
      </p:sp>
      <p:pic>
        <p:nvPicPr>
          <p:cNvPr id="7" name="Image 0" descr="Ảnh chụp giao diện Siêu Sao Toán 4">    </p:cNvPr>
          <p:cNvPicPr>
            <a:picLocks noChangeAspect="1"/>
          </p:cNvPicPr>
          <p:nvPr/>
        </p:nvPicPr>
        <p:blipFill>
          <a:blip r:embed="rId1"/>
          <a:stretch>
            <a:fillRect/>
          </a:stretch>
        </p:blipFill>
        <p:spPr>
          <a:xfrm>
            <a:off x="937260" y="1897380"/>
            <a:ext cx="320040" cy="320040"/>
          </a:xfrm>
          <a:prstGeom prst="rect">
            <a:avLst/>
          </a:prstGeom>
        </p:spPr>
      </p:pic>
      <p:sp>
        <p:nvSpPr>
          <p:cNvPr id="8" name="Text 5"/>
          <p:cNvSpPr txBox="1"/>
          <p:nvPr/>
        </p:nvSpPr>
        <p:spPr>
          <a:xfrm>
            <a:off x="1600200" y="1783080"/>
            <a:ext cx="2240280" cy="548640"/>
          </a:xfrm>
          <a:prstGeom prst="rect">
            <a:avLst/>
          </a:prstGeom>
          <a:noFill/>
          <a:ln/>
        </p:spPr>
        <p:txBody>
          <a:bodyPr wrap="square" lIns="0" tIns="0" rIns="0" bIns="0" rtlCol="0" anchor="ctr"/>
          <a:lstStyle/>
          <a:p>
            <a:pPr algn="l" indent="0" marL="0">
              <a:buNone/>
            </a:pPr>
            <a:r>
              <a:rPr lang="en-US" sz="1900" b="1" dirty="0">
                <a:solidFill>
                  <a:srgbClr val="17243F"/>
                </a:solidFill>
                <a:latin typeface="Cambria" pitchFamily="34" charset="0"/>
                <a:ea typeface="Cambria" pitchFamily="34" charset="-122"/>
                <a:cs typeface="Cambria" pitchFamily="34" charset="-120"/>
              </a:rPr>
              <a:t>Trình duyệt</a:t>
            </a:r>
            <a:endParaRPr lang="en-US" sz="1900" dirty="0"/>
          </a:p>
        </p:txBody>
      </p:sp>
      <p:sp>
        <p:nvSpPr>
          <p:cNvPr id="9" name="Text 6"/>
          <p:cNvSpPr txBox="1"/>
          <p:nvPr/>
        </p:nvSpPr>
        <p:spPr>
          <a:xfrm>
            <a:off x="777240" y="2560320"/>
            <a:ext cx="3017520" cy="73152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Giao diện học sinh và giáo viên, hình vẽ sẵn, âm thanh, giọng đọc.</a:t>
            </a:r>
            <a:endParaRPr lang="en-US" sz="1400" dirty="0"/>
          </a:p>
        </p:txBody>
      </p:sp>
      <p:pic>
        <p:nvPicPr>
          <p:cNvPr id="10" name="Image 1" descr="Ảnh chụp giao diện Siêu Sao Toán 4">    </p:cNvPr>
          <p:cNvPicPr>
            <a:picLocks noChangeAspect="1"/>
          </p:cNvPicPr>
          <p:nvPr/>
        </p:nvPicPr>
        <p:blipFill>
          <a:blip r:embed="rId2"/>
          <a:stretch>
            <a:fillRect/>
          </a:stretch>
        </p:blipFill>
        <p:spPr>
          <a:xfrm>
            <a:off x="4096512" y="2331720"/>
            <a:ext cx="155448" cy="155448"/>
          </a:xfrm>
          <a:prstGeom prst="rect">
            <a:avLst/>
          </a:prstGeom>
        </p:spPr>
      </p:pic>
      <p:sp>
        <p:nvSpPr>
          <p:cNvPr id="11" name="Shape 7"/>
          <p:cNvSpPr/>
          <p:nvPr/>
        </p:nvSpPr>
        <p:spPr>
          <a:xfrm>
            <a:off x="4443984" y="1572768"/>
            <a:ext cx="3429000" cy="1828800"/>
          </a:xfrm>
          <a:prstGeom prst="roundRect">
            <a:avLst>
              <a:gd name="adj" fmla="val 8000"/>
            </a:avLst>
          </a:prstGeom>
          <a:solidFill>
            <a:srgbClr val="17243F"/>
          </a:solidFill>
          <a:ln/>
        </p:spPr>
      </p:sp>
      <p:sp>
        <p:nvSpPr>
          <p:cNvPr id="12" name="Shape 8"/>
          <p:cNvSpPr/>
          <p:nvPr/>
        </p:nvSpPr>
        <p:spPr>
          <a:xfrm>
            <a:off x="4379976" y="1508760"/>
            <a:ext cx="3429000" cy="1828800"/>
          </a:xfrm>
          <a:prstGeom prst="roundRect">
            <a:avLst>
              <a:gd name="adj" fmla="val 8000"/>
            </a:avLst>
          </a:prstGeom>
          <a:solidFill>
            <a:srgbClr val="FFFFFF"/>
          </a:solidFill>
          <a:ln w="22225">
            <a:solidFill>
              <a:srgbClr val="17243F"/>
            </a:solidFill>
            <a:prstDash val="solid"/>
          </a:ln>
        </p:spPr>
      </p:sp>
      <p:sp>
        <p:nvSpPr>
          <p:cNvPr id="13" name="Shape 9"/>
          <p:cNvSpPr/>
          <p:nvPr/>
        </p:nvSpPr>
        <p:spPr>
          <a:xfrm>
            <a:off x="4608576" y="1737360"/>
            <a:ext cx="640080" cy="640080"/>
          </a:xfrm>
          <a:prstGeom prst="ellipse">
            <a:avLst/>
          </a:prstGeom>
          <a:solidFill>
            <a:srgbClr val="E5DFF7"/>
          </a:solidFill>
          <a:ln w="19050">
            <a:solidFill>
              <a:srgbClr val="7A5BD0"/>
            </a:solidFill>
            <a:prstDash val="solid"/>
          </a:ln>
        </p:spPr>
      </p:sp>
      <p:pic>
        <p:nvPicPr>
          <p:cNvPr id="14" name="Image 2" descr="Ảnh chụp giao diện Siêu Sao Toán 4">    </p:cNvPr>
          <p:cNvPicPr>
            <a:picLocks noChangeAspect="1"/>
          </p:cNvPicPr>
          <p:nvPr/>
        </p:nvPicPr>
        <p:blipFill>
          <a:blip r:embed="rId3"/>
          <a:stretch>
            <a:fillRect/>
          </a:stretch>
        </p:blipFill>
        <p:spPr>
          <a:xfrm>
            <a:off x="4768596" y="1897380"/>
            <a:ext cx="320040" cy="320040"/>
          </a:xfrm>
          <a:prstGeom prst="rect">
            <a:avLst/>
          </a:prstGeom>
        </p:spPr>
      </p:pic>
      <p:sp>
        <p:nvSpPr>
          <p:cNvPr id="15" name="Text 10"/>
          <p:cNvSpPr txBox="1"/>
          <p:nvPr/>
        </p:nvSpPr>
        <p:spPr>
          <a:xfrm>
            <a:off x="5431536" y="1783080"/>
            <a:ext cx="2240280" cy="548640"/>
          </a:xfrm>
          <a:prstGeom prst="rect">
            <a:avLst/>
          </a:prstGeom>
          <a:noFill/>
          <a:ln/>
        </p:spPr>
        <p:txBody>
          <a:bodyPr wrap="square" lIns="0" tIns="0" rIns="0" bIns="0" rtlCol="0" anchor="ctr"/>
          <a:lstStyle/>
          <a:p>
            <a:pPr algn="l" indent="0" marL="0">
              <a:buNone/>
            </a:pPr>
            <a:r>
              <a:rPr lang="en-US" sz="1900" b="1" dirty="0">
                <a:solidFill>
                  <a:srgbClr val="17243F"/>
                </a:solidFill>
                <a:latin typeface="Cambria" pitchFamily="34" charset="0"/>
                <a:ea typeface="Cambria" pitchFamily="34" charset="-122"/>
                <a:cs typeface="Cambria" pitchFamily="34" charset="-120"/>
              </a:rPr>
              <a:t>Máy chủ trên Vercel</a:t>
            </a:r>
            <a:endParaRPr lang="en-US" sz="1900" dirty="0"/>
          </a:p>
        </p:txBody>
      </p:sp>
      <p:sp>
        <p:nvSpPr>
          <p:cNvPr id="16" name="Text 11"/>
          <p:cNvSpPr txBox="1"/>
          <p:nvPr/>
        </p:nvSpPr>
        <p:spPr>
          <a:xfrm>
            <a:off x="4608576" y="2560320"/>
            <a:ext cx="3017520" cy="73152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Đăng nhập, rút câu hỏi, chấm điểm, tính xếp hạng, trang quản lý.</a:t>
            </a:r>
            <a:endParaRPr lang="en-US" sz="1400" dirty="0"/>
          </a:p>
        </p:txBody>
      </p:sp>
      <p:pic>
        <p:nvPicPr>
          <p:cNvPr id="17" name="Image 3" descr="Ảnh chụp giao diện Siêu Sao Toán 4">    </p:cNvPr>
          <p:cNvPicPr>
            <a:picLocks noChangeAspect="1"/>
          </p:cNvPicPr>
          <p:nvPr/>
        </p:nvPicPr>
        <p:blipFill>
          <a:blip r:embed="rId4"/>
          <a:stretch>
            <a:fillRect/>
          </a:stretch>
        </p:blipFill>
        <p:spPr>
          <a:xfrm>
            <a:off x="7927848" y="2331720"/>
            <a:ext cx="155448" cy="155448"/>
          </a:xfrm>
          <a:prstGeom prst="rect">
            <a:avLst/>
          </a:prstGeom>
        </p:spPr>
      </p:pic>
      <p:sp>
        <p:nvSpPr>
          <p:cNvPr id="18" name="Shape 12"/>
          <p:cNvSpPr/>
          <p:nvPr/>
        </p:nvSpPr>
        <p:spPr>
          <a:xfrm>
            <a:off x="8275320" y="1572768"/>
            <a:ext cx="3429000" cy="1828800"/>
          </a:xfrm>
          <a:prstGeom prst="roundRect">
            <a:avLst>
              <a:gd name="adj" fmla="val 8000"/>
            </a:avLst>
          </a:prstGeom>
          <a:solidFill>
            <a:srgbClr val="17243F"/>
          </a:solidFill>
          <a:ln/>
        </p:spPr>
      </p:sp>
      <p:sp>
        <p:nvSpPr>
          <p:cNvPr id="19" name="Shape 13"/>
          <p:cNvSpPr/>
          <p:nvPr/>
        </p:nvSpPr>
        <p:spPr>
          <a:xfrm>
            <a:off x="8211312" y="1508760"/>
            <a:ext cx="3429000" cy="1828800"/>
          </a:xfrm>
          <a:prstGeom prst="roundRect">
            <a:avLst>
              <a:gd name="adj" fmla="val 8000"/>
            </a:avLst>
          </a:prstGeom>
          <a:solidFill>
            <a:srgbClr val="FFFFFF"/>
          </a:solidFill>
          <a:ln w="22225">
            <a:solidFill>
              <a:srgbClr val="17243F"/>
            </a:solidFill>
            <a:prstDash val="solid"/>
          </a:ln>
        </p:spPr>
      </p:sp>
      <p:sp>
        <p:nvSpPr>
          <p:cNvPr id="20" name="Shape 14"/>
          <p:cNvSpPr/>
          <p:nvPr/>
        </p:nvSpPr>
        <p:spPr>
          <a:xfrm>
            <a:off x="8439912" y="1737360"/>
            <a:ext cx="640080" cy="640080"/>
          </a:xfrm>
          <a:prstGeom prst="ellipse">
            <a:avLst/>
          </a:prstGeom>
          <a:solidFill>
            <a:srgbClr val="D9F2E6"/>
          </a:solidFill>
          <a:ln w="19050">
            <a:solidFill>
              <a:srgbClr val="1F9D62"/>
            </a:solidFill>
            <a:prstDash val="solid"/>
          </a:ln>
        </p:spPr>
      </p:sp>
      <p:pic>
        <p:nvPicPr>
          <p:cNvPr id="21" name="Image 4" descr="Ảnh chụp giao diện Siêu Sao Toán 4">    </p:cNvPr>
          <p:cNvPicPr>
            <a:picLocks noChangeAspect="1"/>
          </p:cNvPicPr>
          <p:nvPr/>
        </p:nvPicPr>
        <p:blipFill>
          <a:blip r:embed="rId5"/>
          <a:stretch>
            <a:fillRect/>
          </a:stretch>
        </p:blipFill>
        <p:spPr>
          <a:xfrm>
            <a:off x="8599932" y="1897380"/>
            <a:ext cx="320040" cy="320040"/>
          </a:xfrm>
          <a:prstGeom prst="rect">
            <a:avLst/>
          </a:prstGeom>
        </p:spPr>
      </p:pic>
      <p:sp>
        <p:nvSpPr>
          <p:cNvPr id="22" name="Text 15"/>
          <p:cNvSpPr txBox="1"/>
          <p:nvPr/>
        </p:nvSpPr>
        <p:spPr>
          <a:xfrm>
            <a:off x="9262872" y="1783080"/>
            <a:ext cx="2240280" cy="548640"/>
          </a:xfrm>
          <a:prstGeom prst="rect">
            <a:avLst/>
          </a:prstGeom>
          <a:noFill/>
          <a:ln/>
        </p:spPr>
        <p:txBody>
          <a:bodyPr wrap="square" lIns="0" tIns="0" rIns="0" bIns="0" rtlCol="0" anchor="ctr"/>
          <a:lstStyle/>
          <a:p>
            <a:pPr algn="l" indent="0" marL="0">
              <a:buNone/>
            </a:pPr>
            <a:r>
              <a:rPr lang="en-US" sz="1900" b="1" dirty="0">
                <a:solidFill>
                  <a:srgbClr val="17243F"/>
                </a:solidFill>
                <a:latin typeface="Cambria" pitchFamily="34" charset="0"/>
                <a:ea typeface="Cambria" pitchFamily="34" charset="-122"/>
                <a:cs typeface="Cambria" pitchFamily="34" charset="-120"/>
              </a:rPr>
              <a:t>Neon Postgres</a:t>
            </a:r>
            <a:endParaRPr lang="en-US" sz="1900" dirty="0"/>
          </a:p>
        </p:txBody>
      </p:sp>
      <p:sp>
        <p:nvSpPr>
          <p:cNvPr id="23" name="Text 16"/>
          <p:cNvSpPr txBox="1"/>
          <p:nvPr/>
        </p:nvSpPr>
        <p:spPr>
          <a:xfrm>
            <a:off x="8439912" y="2560320"/>
            <a:ext cx="3017520" cy="73152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Lưu học sinh, từng lượt làm bài, từng câu trả lời và điểm số.</a:t>
            </a:r>
            <a:endParaRPr lang="en-US" sz="1400" dirty="0"/>
          </a:p>
        </p:txBody>
      </p:sp>
      <p:sp>
        <p:nvSpPr>
          <p:cNvPr id="24" name="Shape 17"/>
          <p:cNvSpPr/>
          <p:nvPr/>
        </p:nvSpPr>
        <p:spPr>
          <a:xfrm>
            <a:off x="548640" y="3547872"/>
            <a:ext cx="2057400" cy="420624"/>
          </a:xfrm>
          <a:prstGeom prst="roundRect">
            <a:avLst>
              <a:gd name="adj" fmla="val 50000"/>
            </a:avLst>
          </a:prstGeom>
          <a:solidFill>
            <a:srgbClr val="FFFFFF"/>
          </a:solidFill>
          <a:ln w="19050">
            <a:solidFill>
              <a:srgbClr val="17243F"/>
            </a:solidFill>
            <a:prstDash val="solid"/>
          </a:ln>
        </p:spPr>
      </p:sp>
      <p:sp>
        <p:nvSpPr>
          <p:cNvPr id="25" name="Text 18"/>
          <p:cNvSpPr txBox="1"/>
          <p:nvPr/>
        </p:nvSpPr>
        <p:spPr>
          <a:xfrm>
            <a:off x="548640" y="3547872"/>
            <a:ext cx="2057400" cy="420624"/>
          </a:xfrm>
          <a:prstGeom prst="rect">
            <a:avLst/>
          </a:prstGeom>
          <a:noFill/>
          <a:ln/>
        </p:spPr>
        <p:txBody>
          <a:bodyPr wrap="square" lIns="0" tIns="0" rIns="0" bIns="0" rtlCol="0" anchor="ctr"/>
          <a:lstStyle/>
          <a:p>
            <a:pPr algn="ctr" indent="0" marL="0">
              <a:buNone/>
            </a:pPr>
            <a:r>
              <a:rPr lang="en-US" sz="1500" b="1" dirty="0">
                <a:solidFill>
                  <a:srgbClr val="17243F"/>
                </a:solidFill>
                <a:latin typeface="Calibri" pitchFamily="34" charset="0"/>
                <a:ea typeface="Calibri" pitchFamily="34" charset="-122"/>
                <a:cs typeface="Calibri" pitchFamily="34" charset="-120"/>
              </a:rPr>
              <a:t>Next.js 16</a:t>
            </a:r>
            <a:endParaRPr lang="en-US" sz="1500" dirty="0"/>
          </a:p>
        </p:txBody>
      </p:sp>
      <p:sp>
        <p:nvSpPr>
          <p:cNvPr id="26" name="Shape 19"/>
          <p:cNvSpPr/>
          <p:nvPr/>
        </p:nvSpPr>
        <p:spPr>
          <a:xfrm>
            <a:off x="2788920" y="3547872"/>
            <a:ext cx="2057400" cy="420624"/>
          </a:xfrm>
          <a:prstGeom prst="roundRect">
            <a:avLst>
              <a:gd name="adj" fmla="val 50000"/>
            </a:avLst>
          </a:prstGeom>
          <a:solidFill>
            <a:srgbClr val="FFFFFF"/>
          </a:solidFill>
          <a:ln w="19050">
            <a:solidFill>
              <a:srgbClr val="17243F"/>
            </a:solidFill>
            <a:prstDash val="solid"/>
          </a:ln>
        </p:spPr>
      </p:sp>
      <p:sp>
        <p:nvSpPr>
          <p:cNvPr id="27" name="Text 20"/>
          <p:cNvSpPr txBox="1"/>
          <p:nvPr/>
        </p:nvSpPr>
        <p:spPr>
          <a:xfrm>
            <a:off x="2788920" y="3547872"/>
            <a:ext cx="2057400" cy="420624"/>
          </a:xfrm>
          <a:prstGeom prst="rect">
            <a:avLst/>
          </a:prstGeom>
          <a:noFill/>
          <a:ln/>
        </p:spPr>
        <p:txBody>
          <a:bodyPr wrap="square" lIns="0" tIns="0" rIns="0" bIns="0" rtlCol="0" anchor="ctr"/>
          <a:lstStyle/>
          <a:p>
            <a:pPr algn="ctr" indent="0" marL="0">
              <a:buNone/>
            </a:pPr>
            <a:r>
              <a:rPr lang="en-US" sz="1500" b="1" dirty="0">
                <a:solidFill>
                  <a:srgbClr val="17243F"/>
                </a:solidFill>
                <a:latin typeface="Calibri" pitchFamily="34" charset="0"/>
                <a:ea typeface="Calibri" pitchFamily="34" charset="-122"/>
                <a:cs typeface="Calibri" pitchFamily="34" charset="-120"/>
              </a:rPr>
              <a:t>React 19</a:t>
            </a:r>
            <a:endParaRPr lang="en-US" sz="1500" dirty="0"/>
          </a:p>
        </p:txBody>
      </p:sp>
      <p:sp>
        <p:nvSpPr>
          <p:cNvPr id="28" name="Shape 21"/>
          <p:cNvSpPr/>
          <p:nvPr/>
        </p:nvSpPr>
        <p:spPr>
          <a:xfrm>
            <a:off x="5029200" y="3547872"/>
            <a:ext cx="2057400" cy="420624"/>
          </a:xfrm>
          <a:prstGeom prst="roundRect">
            <a:avLst>
              <a:gd name="adj" fmla="val 50000"/>
            </a:avLst>
          </a:prstGeom>
          <a:solidFill>
            <a:srgbClr val="FFFFFF"/>
          </a:solidFill>
          <a:ln w="19050">
            <a:solidFill>
              <a:srgbClr val="17243F"/>
            </a:solidFill>
            <a:prstDash val="solid"/>
          </a:ln>
        </p:spPr>
      </p:sp>
      <p:sp>
        <p:nvSpPr>
          <p:cNvPr id="29" name="Text 22"/>
          <p:cNvSpPr txBox="1"/>
          <p:nvPr/>
        </p:nvSpPr>
        <p:spPr>
          <a:xfrm>
            <a:off x="5029200" y="3547872"/>
            <a:ext cx="2057400" cy="420624"/>
          </a:xfrm>
          <a:prstGeom prst="rect">
            <a:avLst/>
          </a:prstGeom>
          <a:noFill/>
          <a:ln/>
        </p:spPr>
        <p:txBody>
          <a:bodyPr wrap="square" lIns="0" tIns="0" rIns="0" bIns="0" rtlCol="0" anchor="ctr"/>
          <a:lstStyle/>
          <a:p>
            <a:pPr algn="ctr" indent="0" marL="0">
              <a:buNone/>
            </a:pPr>
            <a:r>
              <a:rPr lang="en-US" sz="1500" b="1" dirty="0">
                <a:solidFill>
                  <a:srgbClr val="17243F"/>
                </a:solidFill>
                <a:latin typeface="Calibri" pitchFamily="34" charset="0"/>
                <a:ea typeface="Calibri" pitchFamily="34" charset="-122"/>
                <a:cs typeface="Calibri" pitchFamily="34" charset="-120"/>
              </a:rPr>
              <a:t>TypeScript</a:t>
            </a:r>
            <a:endParaRPr lang="en-US" sz="1500" dirty="0"/>
          </a:p>
        </p:txBody>
      </p:sp>
      <p:sp>
        <p:nvSpPr>
          <p:cNvPr id="30" name="Shape 23"/>
          <p:cNvSpPr/>
          <p:nvPr/>
        </p:nvSpPr>
        <p:spPr>
          <a:xfrm>
            <a:off x="7269480" y="3547872"/>
            <a:ext cx="2057400" cy="420624"/>
          </a:xfrm>
          <a:prstGeom prst="roundRect">
            <a:avLst>
              <a:gd name="adj" fmla="val 50000"/>
            </a:avLst>
          </a:prstGeom>
          <a:solidFill>
            <a:srgbClr val="FFFFFF"/>
          </a:solidFill>
          <a:ln w="19050">
            <a:solidFill>
              <a:srgbClr val="17243F"/>
            </a:solidFill>
            <a:prstDash val="solid"/>
          </a:ln>
        </p:spPr>
      </p:sp>
      <p:sp>
        <p:nvSpPr>
          <p:cNvPr id="31" name="Text 24"/>
          <p:cNvSpPr txBox="1"/>
          <p:nvPr/>
        </p:nvSpPr>
        <p:spPr>
          <a:xfrm>
            <a:off x="7269480" y="3547872"/>
            <a:ext cx="2057400" cy="420624"/>
          </a:xfrm>
          <a:prstGeom prst="rect">
            <a:avLst/>
          </a:prstGeom>
          <a:noFill/>
          <a:ln/>
        </p:spPr>
        <p:txBody>
          <a:bodyPr wrap="square" lIns="0" tIns="0" rIns="0" bIns="0" rtlCol="0" anchor="ctr"/>
          <a:lstStyle/>
          <a:p>
            <a:pPr algn="ctr" indent="0" marL="0">
              <a:buNone/>
            </a:pPr>
            <a:r>
              <a:rPr lang="en-US" sz="1500" b="1" dirty="0">
                <a:solidFill>
                  <a:srgbClr val="17243F"/>
                </a:solidFill>
                <a:latin typeface="Calibri" pitchFamily="34" charset="0"/>
                <a:ea typeface="Calibri" pitchFamily="34" charset="-122"/>
                <a:cs typeface="Calibri" pitchFamily="34" charset="-120"/>
              </a:rPr>
              <a:t>Neon Postgres</a:t>
            </a:r>
            <a:endParaRPr lang="en-US" sz="1500" dirty="0"/>
          </a:p>
        </p:txBody>
      </p:sp>
      <p:sp>
        <p:nvSpPr>
          <p:cNvPr id="32" name="Shape 25"/>
          <p:cNvSpPr/>
          <p:nvPr/>
        </p:nvSpPr>
        <p:spPr>
          <a:xfrm>
            <a:off x="9509760" y="3547872"/>
            <a:ext cx="2057400" cy="420624"/>
          </a:xfrm>
          <a:prstGeom prst="roundRect">
            <a:avLst>
              <a:gd name="adj" fmla="val 50000"/>
            </a:avLst>
          </a:prstGeom>
          <a:solidFill>
            <a:srgbClr val="FFFFFF"/>
          </a:solidFill>
          <a:ln w="19050">
            <a:solidFill>
              <a:srgbClr val="17243F"/>
            </a:solidFill>
            <a:prstDash val="solid"/>
          </a:ln>
        </p:spPr>
      </p:sp>
      <p:sp>
        <p:nvSpPr>
          <p:cNvPr id="33" name="Text 26"/>
          <p:cNvSpPr txBox="1"/>
          <p:nvPr/>
        </p:nvSpPr>
        <p:spPr>
          <a:xfrm>
            <a:off x="9509760" y="3547872"/>
            <a:ext cx="2057400" cy="420624"/>
          </a:xfrm>
          <a:prstGeom prst="rect">
            <a:avLst/>
          </a:prstGeom>
          <a:noFill/>
          <a:ln/>
        </p:spPr>
        <p:txBody>
          <a:bodyPr wrap="square" lIns="0" tIns="0" rIns="0" bIns="0" rtlCol="0" anchor="ctr"/>
          <a:lstStyle/>
          <a:p>
            <a:pPr algn="ctr" indent="0" marL="0">
              <a:buNone/>
            </a:pPr>
            <a:r>
              <a:rPr lang="en-US" sz="1500" b="1" dirty="0">
                <a:solidFill>
                  <a:srgbClr val="17243F"/>
                </a:solidFill>
                <a:latin typeface="Calibri" pitchFamily="34" charset="0"/>
                <a:ea typeface="Calibri" pitchFamily="34" charset="-122"/>
                <a:cs typeface="Calibri" pitchFamily="34" charset="-120"/>
              </a:rPr>
              <a:t>Vercel</a:t>
            </a:r>
            <a:endParaRPr lang="en-US" sz="1500" dirty="0"/>
          </a:p>
        </p:txBody>
      </p:sp>
      <p:sp>
        <p:nvSpPr>
          <p:cNvPr id="34" name="Text 27"/>
          <p:cNvSpPr txBox="1"/>
          <p:nvPr/>
        </p:nvSpPr>
        <p:spPr>
          <a:xfrm>
            <a:off x="548640" y="4160520"/>
            <a:ext cx="7315200" cy="347472"/>
          </a:xfrm>
          <a:prstGeom prst="rect">
            <a:avLst/>
          </a:prstGeom>
          <a:noFill/>
          <a:ln/>
        </p:spPr>
        <p:txBody>
          <a:bodyPr wrap="square" lIns="0" tIns="0" rIns="0" bIns="0" rtlCol="0" anchor="t"/>
          <a:lstStyle/>
          <a:p>
            <a:pPr algn="l" indent="0" marL="0">
              <a:buNone/>
            </a:pPr>
            <a:r>
              <a:rPr lang="en-US" sz="1800" b="1" dirty="0">
                <a:solidFill>
                  <a:srgbClr val="17243F"/>
                </a:solidFill>
                <a:latin typeface="Cambria" pitchFamily="34" charset="0"/>
                <a:ea typeface="Cambria" pitchFamily="34" charset="-122"/>
                <a:cs typeface="Cambria" pitchFamily="34" charset="-120"/>
              </a:rPr>
              <a:t>Bảo vệ đáp án và dữ liệu học sinh</a:t>
            </a:r>
            <a:endParaRPr lang="en-US" sz="1800" dirty="0"/>
          </a:p>
        </p:txBody>
      </p:sp>
      <p:sp>
        <p:nvSpPr>
          <p:cNvPr id="35" name="Shape 28"/>
          <p:cNvSpPr/>
          <p:nvPr/>
        </p:nvSpPr>
        <p:spPr>
          <a:xfrm>
            <a:off x="612648" y="4636008"/>
            <a:ext cx="2697480" cy="1783080"/>
          </a:xfrm>
          <a:prstGeom prst="roundRect">
            <a:avLst>
              <a:gd name="adj" fmla="val 8205"/>
            </a:avLst>
          </a:prstGeom>
          <a:solidFill>
            <a:srgbClr val="17243F"/>
          </a:solidFill>
          <a:ln/>
        </p:spPr>
      </p:sp>
      <p:sp>
        <p:nvSpPr>
          <p:cNvPr id="36" name="Shape 29"/>
          <p:cNvSpPr/>
          <p:nvPr/>
        </p:nvSpPr>
        <p:spPr>
          <a:xfrm>
            <a:off x="548640" y="4572000"/>
            <a:ext cx="2697480" cy="1783080"/>
          </a:xfrm>
          <a:prstGeom prst="roundRect">
            <a:avLst>
              <a:gd name="adj" fmla="val 8205"/>
            </a:avLst>
          </a:prstGeom>
          <a:solidFill>
            <a:srgbClr val="FFFFFF"/>
          </a:solidFill>
          <a:ln w="22225">
            <a:solidFill>
              <a:srgbClr val="17243F"/>
            </a:solidFill>
            <a:prstDash val="solid"/>
          </a:ln>
        </p:spPr>
      </p:sp>
      <p:sp>
        <p:nvSpPr>
          <p:cNvPr id="37" name="Shape 30"/>
          <p:cNvSpPr/>
          <p:nvPr/>
        </p:nvSpPr>
        <p:spPr>
          <a:xfrm>
            <a:off x="731520" y="4727448"/>
            <a:ext cx="457200" cy="457200"/>
          </a:xfrm>
          <a:prstGeom prst="ellipse">
            <a:avLst/>
          </a:prstGeom>
          <a:solidFill>
            <a:srgbClr val="DCE6FA"/>
          </a:solidFill>
          <a:ln w="19050">
            <a:solidFill>
              <a:srgbClr val="2F5FD0"/>
            </a:solidFill>
            <a:prstDash val="solid"/>
          </a:ln>
        </p:spPr>
      </p:sp>
      <p:pic>
        <p:nvPicPr>
          <p:cNvPr id="38" name="Image 5" descr="Ảnh chụp giao diện Siêu Sao Toán 4">    </p:cNvPr>
          <p:cNvPicPr>
            <a:picLocks noChangeAspect="1"/>
          </p:cNvPicPr>
          <p:nvPr/>
        </p:nvPicPr>
        <p:blipFill>
          <a:blip r:embed="rId6"/>
          <a:stretch>
            <a:fillRect/>
          </a:stretch>
        </p:blipFill>
        <p:spPr>
          <a:xfrm>
            <a:off x="845820" y="4841748"/>
            <a:ext cx="228600" cy="228600"/>
          </a:xfrm>
          <a:prstGeom prst="rect">
            <a:avLst/>
          </a:prstGeom>
        </p:spPr>
      </p:pic>
      <p:sp>
        <p:nvSpPr>
          <p:cNvPr id="39" name="Text 31"/>
          <p:cNvSpPr txBox="1"/>
          <p:nvPr/>
        </p:nvSpPr>
        <p:spPr>
          <a:xfrm>
            <a:off x="1298448" y="4681728"/>
            <a:ext cx="1828800" cy="566928"/>
          </a:xfrm>
          <a:prstGeom prst="rect">
            <a:avLst/>
          </a:prstGeom>
          <a:noFill/>
          <a:ln/>
        </p:spPr>
        <p:txBody>
          <a:bodyPr wrap="square" lIns="0" tIns="0" rIns="0" bIns="0" rtlCol="0" anchor="ctr"/>
          <a:lstStyle/>
          <a:p>
            <a:pPr algn="l" indent="0" marL="0">
              <a:buNone/>
            </a:pPr>
            <a:r>
              <a:rPr lang="en-US" sz="1500" b="1" dirty="0">
                <a:solidFill>
                  <a:srgbClr val="17243F"/>
                </a:solidFill>
                <a:latin typeface="Calibri" pitchFamily="34" charset="0"/>
                <a:ea typeface="Calibri" pitchFamily="34" charset="-122"/>
                <a:cs typeface="Calibri" pitchFamily="34" charset="-120"/>
              </a:rPr>
              <a:t>Đáp án ở máy chủ</a:t>
            </a:r>
            <a:endParaRPr lang="en-US" sz="1500" dirty="0"/>
          </a:p>
        </p:txBody>
      </p:sp>
      <p:sp>
        <p:nvSpPr>
          <p:cNvPr id="40" name="Text 32"/>
          <p:cNvSpPr txBox="1"/>
          <p:nvPr/>
        </p:nvSpPr>
        <p:spPr>
          <a:xfrm>
            <a:off x="731520" y="5349240"/>
            <a:ext cx="2331720" cy="96012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Chỉ gửi đáp án đúng sau khi em trả lời và không cho đổi đáp án.</a:t>
            </a:r>
            <a:endParaRPr lang="en-US" sz="1400" dirty="0"/>
          </a:p>
        </p:txBody>
      </p:sp>
      <p:sp>
        <p:nvSpPr>
          <p:cNvPr id="41" name="Shape 33"/>
          <p:cNvSpPr/>
          <p:nvPr/>
        </p:nvSpPr>
        <p:spPr>
          <a:xfrm>
            <a:off x="3410712" y="4636008"/>
            <a:ext cx="2697480" cy="1783080"/>
          </a:xfrm>
          <a:prstGeom prst="roundRect">
            <a:avLst>
              <a:gd name="adj" fmla="val 8205"/>
            </a:avLst>
          </a:prstGeom>
          <a:solidFill>
            <a:srgbClr val="17243F"/>
          </a:solidFill>
          <a:ln/>
        </p:spPr>
      </p:sp>
      <p:sp>
        <p:nvSpPr>
          <p:cNvPr id="42" name="Shape 34"/>
          <p:cNvSpPr/>
          <p:nvPr/>
        </p:nvSpPr>
        <p:spPr>
          <a:xfrm>
            <a:off x="3346704" y="4572000"/>
            <a:ext cx="2697480" cy="1783080"/>
          </a:xfrm>
          <a:prstGeom prst="roundRect">
            <a:avLst>
              <a:gd name="adj" fmla="val 8205"/>
            </a:avLst>
          </a:prstGeom>
          <a:solidFill>
            <a:srgbClr val="FFFFFF"/>
          </a:solidFill>
          <a:ln w="22225">
            <a:solidFill>
              <a:srgbClr val="17243F"/>
            </a:solidFill>
            <a:prstDash val="solid"/>
          </a:ln>
        </p:spPr>
      </p:sp>
      <p:sp>
        <p:nvSpPr>
          <p:cNvPr id="43" name="Shape 35"/>
          <p:cNvSpPr/>
          <p:nvPr/>
        </p:nvSpPr>
        <p:spPr>
          <a:xfrm>
            <a:off x="3529584" y="4727448"/>
            <a:ext cx="457200" cy="457200"/>
          </a:xfrm>
          <a:prstGeom prst="ellipse">
            <a:avLst/>
          </a:prstGeom>
          <a:solidFill>
            <a:srgbClr val="E5DFF7"/>
          </a:solidFill>
          <a:ln w="19050">
            <a:solidFill>
              <a:srgbClr val="7A5BD0"/>
            </a:solidFill>
            <a:prstDash val="solid"/>
          </a:ln>
        </p:spPr>
      </p:sp>
      <p:pic>
        <p:nvPicPr>
          <p:cNvPr id="44" name="Image 6" descr="Ảnh chụp giao diện Siêu Sao Toán 4">    </p:cNvPr>
          <p:cNvPicPr>
            <a:picLocks noChangeAspect="1"/>
          </p:cNvPicPr>
          <p:nvPr/>
        </p:nvPicPr>
        <p:blipFill>
          <a:blip r:embed="rId7"/>
          <a:stretch>
            <a:fillRect/>
          </a:stretch>
        </p:blipFill>
        <p:spPr>
          <a:xfrm>
            <a:off x="3643884" y="4841748"/>
            <a:ext cx="228600" cy="228600"/>
          </a:xfrm>
          <a:prstGeom prst="rect">
            <a:avLst/>
          </a:prstGeom>
        </p:spPr>
      </p:pic>
      <p:sp>
        <p:nvSpPr>
          <p:cNvPr id="45" name="Text 36"/>
          <p:cNvSpPr txBox="1"/>
          <p:nvPr/>
        </p:nvSpPr>
        <p:spPr>
          <a:xfrm>
            <a:off x="4096512" y="4681728"/>
            <a:ext cx="1828800" cy="566928"/>
          </a:xfrm>
          <a:prstGeom prst="rect">
            <a:avLst/>
          </a:prstGeom>
          <a:noFill/>
          <a:ln/>
        </p:spPr>
        <p:txBody>
          <a:bodyPr wrap="square" lIns="0" tIns="0" rIns="0" bIns="0" rtlCol="0" anchor="ctr"/>
          <a:lstStyle/>
          <a:p>
            <a:pPr algn="l" indent="0" marL="0">
              <a:buNone/>
            </a:pPr>
            <a:r>
              <a:rPr lang="en-US" sz="1500" b="1" dirty="0">
                <a:solidFill>
                  <a:srgbClr val="17243F"/>
                </a:solidFill>
                <a:latin typeface="Calibri" pitchFamily="34" charset="0"/>
                <a:ea typeface="Calibri" pitchFamily="34" charset="-122"/>
                <a:cs typeface="Calibri" pitchFamily="34" charset="-120"/>
              </a:rPr>
              <a:t>Phiên đăng nhập ký số</a:t>
            </a:r>
            <a:endParaRPr lang="en-US" sz="1500" dirty="0"/>
          </a:p>
        </p:txBody>
      </p:sp>
      <p:sp>
        <p:nvSpPr>
          <p:cNvPr id="46" name="Text 37"/>
          <p:cNvSpPr txBox="1"/>
          <p:nvPr/>
        </p:nvSpPr>
        <p:spPr>
          <a:xfrm>
            <a:off x="3529584" y="5349240"/>
            <a:ext cx="2331720" cy="96012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Cookie httpOnly có chữ ký, hết hạn sau 60 ngày (học sinh), 8 giờ (giáo viên).</a:t>
            </a:r>
            <a:endParaRPr lang="en-US" sz="1400" dirty="0"/>
          </a:p>
        </p:txBody>
      </p:sp>
      <p:sp>
        <p:nvSpPr>
          <p:cNvPr id="47" name="Shape 38"/>
          <p:cNvSpPr/>
          <p:nvPr/>
        </p:nvSpPr>
        <p:spPr>
          <a:xfrm>
            <a:off x="6208776" y="4636008"/>
            <a:ext cx="2697480" cy="1783080"/>
          </a:xfrm>
          <a:prstGeom prst="roundRect">
            <a:avLst>
              <a:gd name="adj" fmla="val 8205"/>
            </a:avLst>
          </a:prstGeom>
          <a:solidFill>
            <a:srgbClr val="17243F"/>
          </a:solidFill>
          <a:ln/>
        </p:spPr>
      </p:sp>
      <p:sp>
        <p:nvSpPr>
          <p:cNvPr id="48" name="Shape 39"/>
          <p:cNvSpPr/>
          <p:nvPr/>
        </p:nvSpPr>
        <p:spPr>
          <a:xfrm>
            <a:off x="6144768" y="4572000"/>
            <a:ext cx="2697480" cy="1783080"/>
          </a:xfrm>
          <a:prstGeom prst="roundRect">
            <a:avLst>
              <a:gd name="adj" fmla="val 8205"/>
            </a:avLst>
          </a:prstGeom>
          <a:solidFill>
            <a:srgbClr val="FFFFFF"/>
          </a:solidFill>
          <a:ln w="22225">
            <a:solidFill>
              <a:srgbClr val="17243F"/>
            </a:solidFill>
            <a:prstDash val="solid"/>
          </a:ln>
        </p:spPr>
      </p:sp>
      <p:sp>
        <p:nvSpPr>
          <p:cNvPr id="49" name="Shape 40"/>
          <p:cNvSpPr/>
          <p:nvPr/>
        </p:nvSpPr>
        <p:spPr>
          <a:xfrm>
            <a:off x="6327648" y="4727448"/>
            <a:ext cx="457200" cy="457200"/>
          </a:xfrm>
          <a:prstGeom prst="ellipse">
            <a:avLst/>
          </a:prstGeom>
          <a:solidFill>
            <a:srgbClr val="FBDEDF"/>
          </a:solidFill>
          <a:ln w="19050">
            <a:solidFill>
              <a:srgbClr val="E4474D"/>
            </a:solidFill>
            <a:prstDash val="solid"/>
          </a:ln>
        </p:spPr>
      </p:sp>
      <p:pic>
        <p:nvPicPr>
          <p:cNvPr id="50" name="Image 7" descr="Ảnh chụp giao diện Siêu Sao Toán 4">    </p:cNvPr>
          <p:cNvPicPr>
            <a:picLocks noChangeAspect="1"/>
          </p:cNvPicPr>
          <p:nvPr/>
        </p:nvPicPr>
        <p:blipFill>
          <a:blip r:embed="rId8"/>
          <a:stretch>
            <a:fillRect/>
          </a:stretch>
        </p:blipFill>
        <p:spPr>
          <a:xfrm>
            <a:off x="6441948" y="4841748"/>
            <a:ext cx="228600" cy="228600"/>
          </a:xfrm>
          <a:prstGeom prst="rect">
            <a:avLst/>
          </a:prstGeom>
        </p:spPr>
      </p:pic>
      <p:sp>
        <p:nvSpPr>
          <p:cNvPr id="51" name="Text 41"/>
          <p:cNvSpPr txBox="1"/>
          <p:nvPr/>
        </p:nvSpPr>
        <p:spPr>
          <a:xfrm>
            <a:off x="6894576" y="4681728"/>
            <a:ext cx="1828800" cy="566928"/>
          </a:xfrm>
          <a:prstGeom prst="rect">
            <a:avLst/>
          </a:prstGeom>
          <a:noFill/>
          <a:ln/>
        </p:spPr>
        <p:txBody>
          <a:bodyPr wrap="square" lIns="0" tIns="0" rIns="0" bIns="0" rtlCol="0" anchor="ctr"/>
          <a:lstStyle/>
          <a:p>
            <a:pPr algn="l" indent="0" marL="0">
              <a:buNone/>
            </a:pPr>
            <a:r>
              <a:rPr lang="en-US" sz="1500" b="1" dirty="0">
                <a:solidFill>
                  <a:srgbClr val="17243F"/>
                </a:solidFill>
                <a:latin typeface="Calibri" pitchFamily="34" charset="0"/>
                <a:ea typeface="Calibri" pitchFamily="34" charset="-122"/>
                <a:cs typeface="Calibri" pitchFamily="34" charset="-120"/>
              </a:rPr>
              <a:t>Mật khẩu không nằm trong mã</a:t>
            </a:r>
            <a:endParaRPr lang="en-US" sz="1500" dirty="0"/>
          </a:p>
        </p:txBody>
      </p:sp>
      <p:sp>
        <p:nvSpPr>
          <p:cNvPr id="52" name="Text 42"/>
          <p:cNvSpPr txBox="1"/>
          <p:nvPr/>
        </p:nvSpPr>
        <p:spPr>
          <a:xfrm>
            <a:off x="6327648" y="5349240"/>
            <a:ext cx="2331720" cy="96012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Mật khẩu giáo viên lưu trong biến môi trường của Vercel.</a:t>
            </a:r>
            <a:endParaRPr lang="en-US" sz="1400" dirty="0"/>
          </a:p>
        </p:txBody>
      </p:sp>
      <p:sp>
        <p:nvSpPr>
          <p:cNvPr id="53" name="Shape 43"/>
          <p:cNvSpPr/>
          <p:nvPr/>
        </p:nvSpPr>
        <p:spPr>
          <a:xfrm>
            <a:off x="9006840" y="4636008"/>
            <a:ext cx="2697480" cy="1783080"/>
          </a:xfrm>
          <a:prstGeom prst="roundRect">
            <a:avLst>
              <a:gd name="adj" fmla="val 8205"/>
            </a:avLst>
          </a:prstGeom>
          <a:solidFill>
            <a:srgbClr val="17243F"/>
          </a:solidFill>
          <a:ln/>
        </p:spPr>
      </p:sp>
      <p:sp>
        <p:nvSpPr>
          <p:cNvPr id="54" name="Shape 44"/>
          <p:cNvSpPr/>
          <p:nvPr/>
        </p:nvSpPr>
        <p:spPr>
          <a:xfrm>
            <a:off x="8942832" y="4572000"/>
            <a:ext cx="2697480" cy="1783080"/>
          </a:xfrm>
          <a:prstGeom prst="roundRect">
            <a:avLst>
              <a:gd name="adj" fmla="val 8205"/>
            </a:avLst>
          </a:prstGeom>
          <a:solidFill>
            <a:srgbClr val="FFFFFF"/>
          </a:solidFill>
          <a:ln w="22225">
            <a:solidFill>
              <a:srgbClr val="17243F"/>
            </a:solidFill>
            <a:prstDash val="solid"/>
          </a:ln>
        </p:spPr>
      </p:sp>
      <p:sp>
        <p:nvSpPr>
          <p:cNvPr id="55" name="Shape 45"/>
          <p:cNvSpPr/>
          <p:nvPr/>
        </p:nvSpPr>
        <p:spPr>
          <a:xfrm>
            <a:off x="9125712" y="4727448"/>
            <a:ext cx="457200" cy="457200"/>
          </a:xfrm>
          <a:prstGeom prst="ellipse">
            <a:avLst/>
          </a:prstGeom>
          <a:solidFill>
            <a:srgbClr val="D9F2E6"/>
          </a:solidFill>
          <a:ln w="19050">
            <a:solidFill>
              <a:srgbClr val="1F9D62"/>
            </a:solidFill>
            <a:prstDash val="solid"/>
          </a:ln>
        </p:spPr>
      </p:sp>
      <p:pic>
        <p:nvPicPr>
          <p:cNvPr id="56" name="Image 8" descr="Ảnh chụp giao diện Siêu Sao Toán 4">    </p:cNvPr>
          <p:cNvPicPr>
            <a:picLocks noChangeAspect="1"/>
          </p:cNvPicPr>
          <p:nvPr/>
        </p:nvPicPr>
        <p:blipFill>
          <a:blip r:embed="rId9"/>
          <a:stretch>
            <a:fillRect/>
          </a:stretch>
        </p:blipFill>
        <p:spPr>
          <a:xfrm>
            <a:off x="9240012" y="4841748"/>
            <a:ext cx="228600" cy="228600"/>
          </a:xfrm>
          <a:prstGeom prst="rect">
            <a:avLst/>
          </a:prstGeom>
        </p:spPr>
      </p:pic>
      <p:sp>
        <p:nvSpPr>
          <p:cNvPr id="57" name="Text 46"/>
          <p:cNvSpPr txBox="1"/>
          <p:nvPr/>
        </p:nvSpPr>
        <p:spPr>
          <a:xfrm>
            <a:off x="9692640" y="4681728"/>
            <a:ext cx="1828800" cy="566928"/>
          </a:xfrm>
          <a:prstGeom prst="rect">
            <a:avLst/>
          </a:prstGeom>
          <a:noFill/>
          <a:ln/>
        </p:spPr>
        <p:txBody>
          <a:bodyPr wrap="square" lIns="0" tIns="0" rIns="0" bIns="0" rtlCol="0" anchor="ctr"/>
          <a:lstStyle/>
          <a:p>
            <a:pPr algn="l" indent="0" marL="0">
              <a:buNone/>
            </a:pPr>
            <a:r>
              <a:rPr lang="en-US" sz="1500" b="1" dirty="0">
                <a:solidFill>
                  <a:srgbClr val="17243F"/>
                </a:solidFill>
                <a:latin typeface="Calibri" pitchFamily="34" charset="0"/>
                <a:ea typeface="Calibri" pitchFamily="34" charset="-122"/>
                <a:cs typeface="Calibri" pitchFamily="34" charset="-120"/>
              </a:rPr>
              <a:t>Chỉ lưu dữ liệu cần thiết</a:t>
            </a:r>
            <a:endParaRPr lang="en-US" sz="1500" dirty="0"/>
          </a:p>
        </p:txBody>
      </p:sp>
      <p:sp>
        <p:nvSpPr>
          <p:cNvPr id="58" name="Text 47"/>
          <p:cNvSpPr txBox="1"/>
          <p:nvPr/>
        </p:nvSpPr>
        <p:spPr>
          <a:xfrm>
            <a:off x="9125712" y="5349240"/>
            <a:ext cx="2331720" cy="960120"/>
          </a:xfrm>
          <a:prstGeom prst="rect">
            <a:avLst/>
          </a:prstGeom>
          <a:noFill/>
          <a:ln/>
        </p:spPr>
        <p:txBody>
          <a:bodyPr wrap="square" lIns="0" tIns="0" rIns="0" bIns="0" rtlCol="0" anchor="t"/>
          <a:lstStyle/>
          <a:p>
            <a:pPr algn="l" indent="0" marL="0">
              <a:buNone/>
            </a:pPr>
            <a:r>
              <a:rPr lang="en-US" sz="1400" dirty="0">
                <a:solidFill>
                  <a:srgbClr val="4A5A78"/>
                </a:solidFill>
                <a:latin typeface="Calibri" pitchFamily="34" charset="0"/>
                <a:ea typeface="Calibri" pitchFamily="34" charset="-122"/>
                <a:cs typeface="Calibri" pitchFamily="34" charset="-120"/>
              </a:rPr>
              <a:t>Họ tên, lớp, trường, ngày sinh, kết quả; giáo viên xoá được từng học sinh.</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94"/>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46888"/>
            <a:ext cx="8229600" cy="274320"/>
          </a:xfrm>
          <a:prstGeom prst="rect">
            <a:avLst/>
          </a:prstGeom>
          <a:noFill/>
          <a:ln/>
        </p:spPr>
        <p:txBody>
          <a:bodyPr wrap="square" lIns="0" tIns="0" rIns="0" bIns="0" rtlCol="0" anchor="t"/>
          <a:lstStyle/>
          <a:p>
            <a:pPr algn="l" indent="0" marL="0">
              <a:buNone/>
            </a:pPr>
            <a:r>
              <a:rPr lang="en-US" sz="1400" b="1" dirty="0">
                <a:solidFill>
                  <a:srgbClr val="2F5FD0"/>
                </a:solidFill>
                <a:latin typeface="Calibri" pitchFamily="34" charset="0"/>
                <a:ea typeface="Calibri" pitchFamily="34" charset="-122"/>
                <a:cs typeface="Calibri" pitchFamily="34" charset="-120"/>
              </a:rPr>
              <a:t>5 · Tính bền vững và khả năng nhân rộng</a:t>
            </a:r>
            <a:endParaRPr lang="en-US" sz="1400" dirty="0"/>
          </a:p>
        </p:txBody>
      </p:sp>
      <p:sp>
        <p:nvSpPr>
          <p:cNvPr id="3" name="Text 0"/>
          <p:cNvSpPr/>
          <p:nvPr>
            <p:ph idx="100" type="title" hasCustomPrompt="1"/>
          </p:nvPr>
        </p:nvSpPr>
        <p:spPr>
          <a:xfrm>
            <a:off x="548640" y="457200"/>
            <a:ext cx="11091672" cy="868680"/>
          </a:xfrm>
          <a:prstGeom prst="rect">
            <a:avLst/>
          </a:prstGeom>
          <a:noFill/>
          <a:ln/>
        </p:spPr>
        <p:txBody>
          <a:bodyPr wrap="square" lIns="0" tIns="0" rIns="0" bIns="0" rtlCol="0" anchor="ctr"/>
          <a:lstStyle/>
          <a:p>
            <a:pPr indent="0" marL="0">
              <a:buNone/>
            </a:pPr>
            <a:r>
              <a:rPr lang="en-US" sz="3600" b="1" dirty="0">
                <a:solidFill>
                  <a:srgbClr val="17243F"/>
                </a:solidFill>
                <a:latin typeface="Cambria" pitchFamily="34" charset="0"/>
                <a:ea typeface="Cambria" pitchFamily="34" charset="-122"/>
                <a:cs typeface="Cambria" pitchFamily="34" charset="-120"/>
              </a:rPr>
              <a:t>Những giới hạn cần biết và bước tiếp theo</a:t>
            </a:r>
            <a:endParaRPr lang="en-US" sz="3600" dirty="0"/>
          </a:p>
        </p:txBody>
      </p:sp>
      <p:sp>
        <p:nvSpPr>
          <p:cNvPr id="4" name="Shape 2"/>
          <p:cNvSpPr/>
          <p:nvPr/>
        </p:nvSpPr>
        <p:spPr>
          <a:xfrm>
            <a:off x="612648" y="1572768"/>
            <a:ext cx="5440680" cy="3611880"/>
          </a:xfrm>
          <a:prstGeom prst="roundRect">
            <a:avLst>
              <a:gd name="adj" fmla="val 4051"/>
            </a:avLst>
          </a:prstGeom>
          <a:solidFill>
            <a:srgbClr val="17243F"/>
          </a:solidFill>
          <a:ln/>
        </p:spPr>
      </p:sp>
      <p:sp>
        <p:nvSpPr>
          <p:cNvPr id="5" name="Shape 3"/>
          <p:cNvSpPr/>
          <p:nvPr/>
        </p:nvSpPr>
        <p:spPr>
          <a:xfrm>
            <a:off x="548640" y="1508760"/>
            <a:ext cx="5440680" cy="3611880"/>
          </a:xfrm>
          <a:prstGeom prst="roundRect">
            <a:avLst>
              <a:gd name="adj" fmla="val 4051"/>
            </a:avLst>
          </a:prstGeom>
          <a:solidFill>
            <a:srgbClr val="FFFFFF"/>
          </a:solidFill>
          <a:ln w="22225">
            <a:solidFill>
              <a:srgbClr val="17243F"/>
            </a:solidFill>
            <a:prstDash val="solid"/>
          </a:ln>
        </p:spPr>
      </p:sp>
      <p:sp>
        <p:nvSpPr>
          <p:cNvPr id="6" name="Shape 4"/>
          <p:cNvSpPr/>
          <p:nvPr/>
        </p:nvSpPr>
        <p:spPr>
          <a:xfrm>
            <a:off x="822960" y="1691640"/>
            <a:ext cx="566928" cy="566928"/>
          </a:xfrm>
          <a:prstGeom prst="ellipse">
            <a:avLst/>
          </a:prstGeom>
          <a:solidFill>
            <a:srgbClr val="FBDEDF"/>
          </a:solidFill>
          <a:ln w="19050">
            <a:solidFill>
              <a:srgbClr val="E4474D"/>
            </a:solidFill>
            <a:prstDash val="solid"/>
          </a:ln>
        </p:spPr>
      </p:sp>
      <p:pic>
        <p:nvPicPr>
          <p:cNvPr id="7" name="Image 0" descr="Ảnh chụp giao diện Siêu Sao Toán 4">    </p:cNvPr>
          <p:cNvPicPr>
            <a:picLocks noChangeAspect="1"/>
          </p:cNvPicPr>
          <p:nvPr/>
        </p:nvPicPr>
        <p:blipFill>
          <a:blip r:embed="rId1"/>
          <a:stretch>
            <a:fillRect/>
          </a:stretch>
        </p:blipFill>
        <p:spPr>
          <a:xfrm>
            <a:off x="964692" y="1833372"/>
            <a:ext cx="283464" cy="283464"/>
          </a:xfrm>
          <a:prstGeom prst="rect">
            <a:avLst/>
          </a:prstGeom>
        </p:spPr>
      </p:pic>
      <p:sp>
        <p:nvSpPr>
          <p:cNvPr id="8" name="Text 5"/>
          <p:cNvSpPr txBox="1"/>
          <p:nvPr/>
        </p:nvSpPr>
        <p:spPr>
          <a:xfrm>
            <a:off x="1554480" y="1691640"/>
            <a:ext cx="4114800" cy="566928"/>
          </a:xfrm>
          <a:prstGeom prst="rect">
            <a:avLst/>
          </a:prstGeom>
          <a:noFill/>
          <a:ln/>
        </p:spPr>
        <p:txBody>
          <a:bodyPr wrap="square" lIns="0" tIns="0" rIns="0" bIns="0" rtlCol="0" anchor="ctr"/>
          <a:lstStyle/>
          <a:p>
            <a:pPr algn="l" indent="0" marL="0">
              <a:buNone/>
            </a:pPr>
            <a:r>
              <a:rPr lang="en-US" sz="2200" b="1" dirty="0">
                <a:solidFill>
                  <a:srgbClr val="17243F"/>
                </a:solidFill>
                <a:latin typeface="Cambria" pitchFamily="34" charset="0"/>
                <a:ea typeface="Cambria" pitchFamily="34" charset="-122"/>
                <a:cs typeface="Cambria" pitchFamily="34" charset="-120"/>
              </a:rPr>
              <a:t>Cần lưu ý</a:t>
            </a:r>
            <a:endParaRPr lang="en-US" sz="2200" dirty="0"/>
          </a:p>
        </p:txBody>
      </p:sp>
      <p:sp>
        <p:nvSpPr>
          <p:cNvPr id="9" name="Text 6"/>
          <p:cNvSpPr txBox="1"/>
          <p:nvPr/>
        </p:nvSpPr>
        <p:spPr>
          <a:xfrm>
            <a:off x="822960" y="2423160"/>
            <a:ext cx="4937760" cy="2606040"/>
          </a:xfrm>
          <a:prstGeom prst="rect">
            <a:avLst/>
          </a:prstGeom>
          <a:noFill/>
          <a:ln/>
        </p:spPr>
        <p:txBody>
          <a:bodyPr wrap="square" lIns="0" tIns="0" rIns="0" bIns="0" rtlCol="0" anchor="t"/>
          <a:lstStyle/>
          <a:p>
            <a:pPr algn="l" marL="228600" indent="-228600">
              <a:spcAft>
                <a:spcPts val="600"/>
              </a:spcAft>
              <a:buSzPct val="100000"/>
              <a:buChar char="•"/>
            </a:pPr>
            <a:r>
              <a:rPr lang="en-US" sz="1700" dirty="0">
                <a:solidFill>
                  <a:srgbClr val="17243F"/>
                </a:solidFill>
                <a:latin typeface="Calibri" pitchFamily="34" charset="0"/>
                <a:ea typeface="Calibri" pitchFamily="34" charset="-122"/>
                <a:cs typeface="Calibri" pitchFamily="34" charset="-120"/>
              </a:rPr>
              <a:t>Đăng nhập bằng tên và ngày sinh tiện cho lớp học, nhưng ai biết hai thông tin này đều vào được tài khoản.</a:t>
            </a:r>
            <a:endParaRPr lang="en-US" sz="1700" dirty="0"/>
          </a:p>
          <a:p>
            <a:pPr algn="l" marL="228600" indent="-228600">
              <a:spcAft>
                <a:spcPts val="600"/>
              </a:spcAft>
              <a:buSzPct val="100000"/>
              <a:buChar char="•"/>
            </a:pPr>
            <a:r>
              <a:rPr lang="en-US" sz="1700" dirty="0">
                <a:solidFill>
                  <a:srgbClr val="17243F"/>
                </a:solidFill>
                <a:latin typeface="Calibri" pitchFamily="34" charset="0"/>
                <a:ea typeface="Calibri" pitchFamily="34" charset="-122"/>
                <a:cs typeface="Calibri" pitchFamily="34" charset="-120"/>
              </a:rPr>
              <a:t>Câu hỏi do biên soạn lại, cần giáo viên duyệt đáp án trước khi dùng chính thức.</a:t>
            </a:r>
            <a:endParaRPr lang="en-US" sz="1700" dirty="0"/>
          </a:p>
          <a:p>
            <a:pPr algn="l" marL="228600" indent="-228600">
              <a:spcAft>
                <a:spcPts val="600"/>
              </a:spcAft>
              <a:buSzPct val="100000"/>
              <a:buChar char="•"/>
            </a:pPr>
            <a:r>
              <a:rPr lang="en-US" sz="1700" dirty="0">
                <a:solidFill>
                  <a:srgbClr val="17243F"/>
                </a:solidFill>
                <a:latin typeface="Calibri" pitchFamily="34" charset="0"/>
                <a:ea typeface="Calibri" pitchFamily="34" charset="-122"/>
                <a:cs typeface="Calibri" pitchFamily="34" charset="-120"/>
              </a:rPr>
              <a:t>Giọng đọc tiếng Việt phụ thuộc thiết bị; máy không có thì chỉ nghe tiếng hiệu ứng.</a:t>
            </a:r>
            <a:endParaRPr lang="en-US" sz="1700" dirty="0"/>
          </a:p>
          <a:p>
            <a:pPr algn="l" marL="228600" indent="-228600">
              <a:spcAft>
                <a:spcPts val="600"/>
              </a:spcAft>
              <a:buSzPct val="100000"/>
              <a:buChar char="•"/>
            </a:pPr>
            <a:r>
              <a:rPr lang="en-US" sz="1700" dirty="0">
                <a:solidFill>
                  <a:srgbClr val="17243F"/>
                </a:solidFill>
                <a:latin typeface="Calibri" pitchFamily="34" charset="0"/>
                <a:ea typeface="Calibri" pitchFamily="34" charset="-122"/>
                <a:cs typeface="Calibri" pitchFamily="34" charset="-120"/>
              </a:rPr>
              <a:t>Chưa có số liệu thử nghiệm ở lớp học thật.</a:t>
            </a:r>
            <a:endParaRPr lang="en-US" sz="1700" dirty="0"/>
          </a:p>
        </p:txBody>
      </p:sp>
      <p:sp>
        <p:nvSpPr>
          <p:cNvPr id="10" name="Shape 7"/>
          <p:cNvSpPr/>
          <p:nvPr/>
        </p:nvSpPr>
        <p:spPr>
          <a:xfrm>
            <a:off x="6263640" y="1572768"/>
            <a:ext cx="5440680" cy="3611880"/>
          </a:xfrm>
          <a:prstGeom prst="roundRect">
            <a:avLst>
              <a:gd name="adj" fmla="val 4051"/>
            </a:avLst>
          </a:prstGeom>
          <a:solidFill>
            <a:srgbClr val="17243F"/>
          </a:solidFill>
          <a:ln/>
        </p:spPr>
      </p:sp>
      <p:sp>
        <p:nvSpPr>
          <p:cNvPr id="11" name="Shape 8"/>
          <p:cNvSpPr/>
          <p:nvPr/>
        </p:nvSpPr>
        <p:spPr>
          <a:xfrm>
            <a:off x="6199632" y="1508760"/>
            <a:ext cx="5440680" cy="3611880"/>
          </a:xfrm>
          <a:prstGeom prst="roundRect">
            <a:avLst>
              <a:gd name="adj" fmla="val 4051"/>
            </a:avLst>
          </a:prstGeom>
          <a:solidFill>
            <a:srgbClr val="FFFFFF"/>
          </a:solidFill>
          <a:ln w="22225">
            <a:solidFill>
              <a:srgbClr val="17243F"/>
            </a:solidFill>
            <a:prstDash val="solid"/>
          </a:ln>
        </p:spPr>
      </p:sp>
      <p:sp>
        <p:nvSpPr>
          <p:cNvPr id="12" name="Shape 9"/>
          <p:cNvSpPr/>
          <p:nvPr/>
        </p:nvSpPr>
        <p:spPr>
          <a:xfrm>
            <a:off x="6473952" y="1691640"/>
            <a:ext cx="566928" cy="566928"/>
          </a:xfrm>
          <a:prstGeom prst="ellipse">
            <a:avLst/>
          </a:prstGeom>
          <a:solidFill>
            <a:srgbClr val="DCE6FA"/>
          </a:solidFill>
          <a:ln w="19050">
            <a:solidFill>
              <a:srgbClr val="2F5FD0"/>
            </a:solidFill>
            <a:prstDash val="solid"/>
          </a:ln>
        </p:spPr>
      </p:sp>
      <p:pic>
        <p:nvPicPr>
          <p:cNvPr id="13" name="Image 1" descr="Ảnh chụp giao diện Siêu Sao Toán 4">    </p:cNvPr>
          <p:cNvPicPr>
            <a:picLocks noChangeAspect="1"/>
          </p:cNvPicPr>
          <p:nvPr/>
        </p:nvPicPr>
        <p:blipFill>
          <a:blip r:embed="rId2"/>
          <a:stretch>
            <a:fillRect/>
          </a:stretch>
        </p:blipFill>
        <p:spPr>
          <a:xfrm>
            <a:off x="6615684" y="1833372"/>
            <a:ext cx="283464" cy="283464"/>
          </a:xfrm>
          <a:prstGeom prst="rect">
            <a:avLst/>
          </a:prstGeom>
        </p:spPr>
      </p:pic>
      <p:sp>
        <p:nvSpPr>
          <p:cNvPr id="14" name="Text 10"/>
          <p:cNvSpPr txBox="1"/>
          <p:nvPr/>
        </p:nvSpPr>
        <p:spPr>
          <a:xfrm>
            <a:off x="7205472" y="1691640"/>
            <a:ext cx="4114800" cy="566928"/>
          </a:xfrm>
          <a:prstGeom prst="rect">
            <a:avLst/>
          </a:prstGeom>
          <a:noFill/>
          <a:ln/>
        </p:spPr>
        <p:txBody>
          <a:bodyPr wrap="square" lIns="0" tIns="0" rIns="0" bIns="0" rtlCol="0" anchor="ctr"/>
          <a:lstStyle/>
          <a:p>
            <a:pPr algn="l" indent="0" marL="0">
              <a:buNone/>
            </a:pPr>
            <a:r>
              <a:rPr lang="en-US" sz="2200" b="1" dirty="0">
                <a:solidFill>
                  <a:srgbClr val="17243F"/>
                </a:solidFill>
                <a:latin typeface="Cambria" pitchFamily="34" charset="0"/>
                <a:ea typeface="Cambria" pitchFamily="34" charset="-122"/>
                <a:cs typeface="Cambria" pitchFamily="34" charset="-120"/>
              </a:rPr>
              <a:t>Bước tiếp theo</a:t>
            </a:r>
            <a:endParaRPr lang="en-US" sz="2200" dirty="0"/>
          </a:p>
        </p:txBody>
      </p:sp>
      <p:sp>
        <p:nvSpPr>
          <p:cNvPr id="15" name="Text 11"/>
          <p:cNvSpPr txBox="1"/>
          <p:nvPr/>
        </p:nvSpPr>
        <p:spPr>
          <a:xfrm>
            <a:off x="6473952" y="2423160"/>
            <a:ext cx="4937760" cy="2606040"/>
          </a:xfrm>
          <a:prstGeom prst="rect">
            <a:avLst/>
          </a:prstGeom>
          <a:noFill/>
          <a:ln/>
        </p:spPr>
        <p:txBody>
          <a:bodyPr wrap="square" lIns="0" tIns="0" rIns="0" bIns="0" rtlCol="0" anchor="t"/>
          <a:lstStyle/>
          <a:p>
            <a:pPr algn="l" marL="228600" indent="-228600">
              <a:spcAft>
                <a:spcPts val="600"/>
              </a:spcAft>
              <a:buSzPct val="100000"/>
              <a:buChar char="•"/>
            </a:pPr>
            <a:r>
              <a:rPr lang="en-US" sz="1700" dirty="0">
                <a:solidFill>
                  <a:srgbClr val="17243F"/>
                </a:solidFill>
                <a:latin typeface="Calibri" pitchFamily="34" charset="0"/>
                <a:ea typeface="Calibri" pitchFamily="34" charset="-122"/>
                <a:cs typeface="Calibri" pitchFamily="34" charset="-120"/>
              </a:rPr>
              <a:t>Mã PIN riêng cho từng em để tài khoản chắc chắn hơn.</a:t>
            </a:r>
            <a:endParaRPr lang="en-US" sz="1700" dirty="0"/>
          </a:p>
          <a:p>
            <a:pPr algn="l" marL="228600" indent="-228600">
              <a:spcAft>
                <a:spcPts val="600"/>
              </a:spcAft>
              <a:buSzPct val="100000"/>
              <a:buChar char="•"/>
            </a:pPr>
            <a:r>
              <a:rPr lang="en-US" sz="1700" dirty="0">
                <a:solidFill>
                  <a:srgbClr val="17243F"/>
                </a:solidFill>
                <a:latin typeface="Calibri" pitchFamily="34" charset="0"/>
                <a:ea typeface="Calibri" pitchFamily="34" charset="-122"/>
                <a:cs typeface="Calibri" pitchFamily="34" charset="-120"/>
              </a:rPr>
              <a:t>Xếp hạng theo từng lớp hoặc nhóm; dữ liệu lớp và trường đã được lưu sẵn.</a:t>
            </a:r>
            <a:endParaRPr lang="en-US" sz="1700" dirty="0"/>
          </a:p>
          <a:p>
            <a:pPr algn="l" marL="228600" indent="-228600">
              <a:spcAft>
                <a:spcPts val="600"/>
              </a:spcAft>
              <a:buSzPct val="100000"/>
              <a:buChar char="•"/>
            </a:pPr>
            <a:r>
              <a:rPr lang="en-US" sz="1700" dirty="0">
                <a:solidFill>
                  <a:srgbClr val="17243F"/>
                </a:solidFill>
                <a:latin typeface="Calibri" pitchFamily="34" charset="0"/>
                <a:ea typeface="Calibri" pitchFamily="34" charset="-122"/>
                <a:cs typeface="Calibri" pitchFamily="34" charset="-120"/>
              </a:rPr>
              <a:t>Báo cáo theo chủ đề để thấy em yếu phần nào.</a:t>
            </a:r>
            <a:endParaRPr lang="en-US" sz="1700" dirty="0"/>
          </a:p>
          <a:p>
            <a:pPr algn="l" marL="228600" indent="-228600">
              <a:spcAft>
                <a:spcPts val="600"/>
              </a:spcAft>
              <a:buSzPct val="100000"/>
              <a:buChar char="•"/>
            </a:pPr>
            <a:r>
              <a:rPr lang="en-US" sz="1700" dirty="0">
                <a:solidFill>
                  <a:srgbClr val="17243F"/>
                </a:solidFill>
                <a:latin typeface="Calibri" pitchFamily="34" charset="0"/>
                <a:ea typeface="Calibri" pitchFamily="34" charset="-122"/>
                <a:cs typeface="Calibri" pitchFamily="34" charset="-120"/>
              </a:rPr>
              <a:t>Thêm lời giải từng bước cho các câu khó.</a:t>
            </a:r>
            <a:endParaRPr lang="en-US" sz="1700" dirty="0"/>
          </a:p>
        </p:txBody>
      </p:sp>
      <p:sp>
        <p:nvSpPr>
          <p:cNvPr id="16" name="Shape 12"/>
          <p:cNvSpPr/>
          <p:nvPr/>
        </p:nvSpPr>
        <p:spPr>
          <a:xfrm>
            <a:off x="548640" y="5349240"/>
            <a:ext cx="11091672" cy="914400"/>
          </a:xfrm>
          <a:prstGeom prst="roundRect">
            <a:avLst>
              <a:gd name="adj" fmla="val 12000"/>
            </a:avLst>
          </a:prstGeom>
          <a:solidFill>
            <a:srgbClr val="EAF1FB"/>
          </a:solidFill>
          <a:ln w="19050">
            <a:solidFill>
              <a:srgbClr val="17243F"/>
            </a:solidFill>
            <a:prstDash val="solid"/>
          </a:ln>
        </p:spPr>
      </p:sp>
      <p:sp>
        <p:nvSpPr>
          <p:cNvPr id="17" name="Text 13"/>
          <p:cNvSpPr txBox="1"/>
          <p:nvPr/>
        </p:nvSpPr>
        <p:spPr>
          <a:xfrm>
            <a:off x="822960" y="5349240"/>
            <a:ext cx="10543032" cy="914400"/>
          </a:xfrm>
          <a:prstGeom prst="rect">
            <a:avLst/>
          </a:prstGeom>
          <a:noFill/>
          <a:ln/>
        </p:spPr>
        <p:txBody>
          <a:bodyPr wrap="square" lIns="0" tIns="0" rIns="0" bIns="0" rtlCol="0" anchor="ctr"/>
          <a:lstStyle/>
          <a:p>
            <a:pPr algn="l" indent="0" marL="0">
              <a:buNone/>
            </a:pPr>
            <a:r>
              <a:rPr lang="en-US" sz="1700" b="1" dirty="0">
                <a:solidFill>
                  <a:srgbClr val="17243F"/>
                </a:solidFill>
                <a:latin typeface="Calibri" pitchFamily="34" charset="0"/>
                <a:ea typeface="Calibri" pitchFamily="34" charset="-122"/>
                <a:cs typeface="Calibri" pitchFamily="34" charset="-120"/>
              </a:rPr>
              <a:t>Khả năng nhân rộng: chạy trên trình duyệt, không cần cài đặt; ngân hàng câu hỏi chia theo từng bài nên có thể thêm khối lớp khác theo cùng khuôn.</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894"/>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54864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Dùng thử ngay</a:t>
            </a:r>
            <a:endParaRPr lang="en-US" sz="4000" dirty="0"/>
          </a:p>
        </p:txBody>
      </p:sp>
      <p:sp>
        <p:nvSpPr>
          <p:cNvPr id="3" name="Shape 1"/>
          <p:cNvSpPr/>
          <p:nvPr/>
        </p:nvSpPr>
        <p:spPr>
          <a:xfrm>
            <a:off x="640080" y="1737360"/>
            <a:ext cx="5394960" cy="868680"/>
          </a:xfrm>
          <a:prstGeom prst="roundRect">
            <a:avLst>
              <a:gd name="adj" fmla="val 16842"/>
            </a:avLst>
          </a:prstGeom>
          <a:solidFill>
            <a:srgbClr val="FFC83D"/>
          </a:solidFill>
          <a:ln w="12700">
            <a:solidFill>
              <a:srgbClr val="FFFFFF"/>
            </a:solidFill>
            <a:prstDash val="solid"/>
          </a:ln>
        </p:spPr>
      </p:sp>
      <p:sp>
        <p:nvSpPr>
          <p:cNvPr id="4" name="Text 2"/>
          <p:cNvSpPr txBox="1"/>
          <p:nvPr/>
        </p:nvSpPr>
        <p:spPr>
          <a:xfrm>
            <a:off x="640080" y="1737360"/>
            <a:ext cx="5394960" cy="868680"/>
          </a:xfrm>
          <a:prstGeom prst="rect">
            <a:avLst/>
          </a:prstGeom>
          <a:noFill/>
          <a:ln/>
        </p:spPr>
        <p:txBody>
          <a:bodyPr wrap="square" lIns="0" tIns="0" rIns="0" bIns="0" rtlCol="0" anchor="ctr"/>
          <a:lstStyle/>
          <a:p>
            <a:pPr algn="ctr" indent="0" marL="0">
              <a:buNone/>
            </a:pPr>
            <a:r>
              <a:rPr lang="en-US" sz="2600" b="1" dirty="0">
                <a:solidFill>
                  <a:srgbClr val="17243F"/>
                </a:solidFill>
                <a:latin typeface="Cambria" pitchFamily="34" charset="0"/>
                <a:ea typeface="Cambria" pitchFamily="34" charset="-122"/>
                <a:cs typeface="Cambria" pitchFamily="34" charset="-120"/>
              </a:rPr>
              <a:t>tro-ly-toan-4.vercel.app</a:t>
            </a:r>
            <a:endParaRPr lang="en-US" sz="2600" dirty="0"/>
          </a:p>
        </p:txBody>
      </p:sp>
      <p:sp>
        <p:nvSpPr>
          <p:cNvPr id="5" name="Text 3"/>
          <p:cNvSpPr txBox="1"/>
          <p:nvPr/>
        </p:nvSpPr>
        <p:spPr>
          <a:xfrm>
            <a:off x="640080" y="2926080"/>
            <a:ext cx="5577840" cy="3017520"/>
          </a:xfrm>
          <a:prstGeom prst="rect">
            <a:avLst/>
          </a:prstGeom>
          <a:noFill/>
          <a:ln/>
        </p:spPr>
        <p:txBody>
          <a:bodyPr wrap="square" lIns="0" tIns="0" rIns="0" bIns="0" rtlCol="0" anchor="t"/>
          <a:lstStyle/>
          <a:p>
            <a:pPr algn="l" indent="0" marL="0">
              <a:spcAft>
                <a:spcPts val="1200"/>
              </a:spcAft>
              <a:buNone/>
            </a:pPr>
            <a:r>
              <a:rPr lang="en-US" sz="1800" b="1" dirty="0">
                <a:solidFill>
                  <a:srgbClr val="FFC83D"/>
                </a:solidFill>
                <a:latin typeface="Calibri" pitchFamily="34" charset="0"/>
                <a:ea typeface="Calibri" pitchFamily="34" charset="-122"/>
                <a:cs typeface="Calibri" pitchFamily="34" charset="-120"/>
              </a:rPr>
              <a:t>Học sinh: </a:t>
            </a:r>
            <a:pPr indent="0" marL="0">
              <a:buNone/>
            </a:pPr>
            <a:r>
              <a:rPr lang="en-US" sz="1800" dirty="0">
                <a:solidFill>
                  <a:srgbClr val="EAF1FB"/>
                </a:solidFill>
                <a:latin typeface="Calibri" pitchFamily="34" charset="0"/>
                <a:ea typeface="Calibri" pitchFamily="34" charset="-122"/>
                <a:cs typeface="Calibri" pitchFamily="34" charset="-120"/>
              </a:rPr>
              <a:t>nhập họ tên, lớp, trường và chọn ngày sinh.</a:t>
            </a:r>
            <a:endParaRPr lang="en-US" sz="1800" dirty="0"/>
          </a:p>
          <a:p>
            <a:pPr algn="l" indent="0" marL="0">
              <a:spcAft>
                <a:spcPts val="1200"/>
              </a:spcAft>
              <a:buNone/>
            </a:pPr>
            <a:r>
              <a:rPr lang="en-US" sz="1800" b="1" dirty="0">
                <a:solidFill>
                  <a:srgbClr val="FFC83D"/>
                </a:solidFill>
                <a:latin typeface="Calibri" pitchFamily="34" charset="0"/>
                <a:ea typeface="Calibri" pitchFamily="34" charset="-122"/>
                <a:cs typeface="Calibri" pitchFamily="34" charset="-120"/>
              </a:rPr>
              <a:t>Giáo viên: </a:t>
            </a:r>
            <a:pPr indent="0" marL="0">
              <a:buNone/>
            </a:pPr>
            <a:r>
              <a:rPr lang="en-US" sz="1800" dirty="0">
                <a:solidFill>
                  <a:srgbClr val="EAF1FB"/>
                </a:solidFill>
                <a:latin typeface="Calibri" pitchFamily="34" charset="0"/>
                <a:ea typeface="Calibri" pitchFamily="34" charset="-122"/>
                <a:cs typeface="Calibri" pitchFamily="34" charset="-120"/>
              </a:rPr>
              <a:t>chọn tab Giáo viên và dùng tài khoản quản lý được cấp.</a:t>
            </a:r>
            <a:endParaRPr lang="en-US" sz="1800" dirty="0"/>
          </a:p>
          <a:p>
            <a:pPr algn="l" indent="0" marL="0">
              <a:buNone/>
            </a:pPr>
            <a:r>
              <a:rPr lang="en-US" sz="1800" b="1" dirty="0">
                <a:solidFill>
                  <a:srgbClr val="FFC83D"/>
                </a:solidFill>
                <a:latin typeface="Calibri" pitchFamily="34" charset="0"/>
                <a:ea typeface="Calibri" pitchFamily="34" charset="-122"/>
                <a:cs typeface="Calibri" pitchFamily="34" charset="-120"/>
              </a:rPr>
              <a:t>Mã nguồn: </a:t>
            </a:r>
            <a:pPr indent="0" marL="0">
              <a:buNone/>
            </a:pPr>
            <a:r>
              <a:rPr lang="en-US" sz="1800" dirty="0">
                <a:solidFill>
                  <a:srgbClr val="EAF1FB"/>
                </a:solidFill>
                <a:latin typeface="Calibri" pitchFamily="34" charset="0"/>
                <a:ea typeface="Calibri" pitchFamily="34" charset="-122"/>
                <a:cs typeface="Calibri" pitchFamily="34" charset="-120"/>
              </a:rPr>
              <a:t>github.com/Thi2904/tro-ly-toan-4</a:t>
            </a:r>
            <a:endParaRPr lang="en-US" sz="1800" dirty="0"/>
          </a:p>
        </p:txBody>
      </p:sp>
      <p:sp>
        <p:nvSpPr>
          <p:cNvPr id="6" name="Shape 4"/>
          <p:cNvSpPr/>
          <p:nvPr/>
        </p:nvSpPr>
        <p:spPr>
          <a:xfrm>
            <a:off x="6601968" y="749808"/>
            <a:ext cx="5029200" cy="3291840"/>
          </a:xfrm>
          <a:prstGeom prst="roundRect">
            <a:avLst>
              <a:gd name="adj" fmla="val 5000"/>
            </a:avLst>
          </a:prstGeom>
          <a:solidFill>
            <a:srgbClr val="17243F"/>
          </a:solidFill>
          <a:ln/>
        </p:spPr>
      </p:sp>
      <p:sp>
        <p:nvSpPr>
          <p:cNvPr id="7" name="Shape 5"/>
          <p:cNvSpPr/>
          <p:nvPr/>
        </p:nvSpPr>
        <p:spPr>
          <a:xfrm>
            <a:off x="6537960" y="685800"/>
            <a:ext cx="5029200" cy="3291840"/>
          </a:xfrm>
          <a:prstGeom prst="roundRect">
            <a:avLst>
              <a:gd name="adj" fmla="val 5000"/>
            </a:avLst>
          </a:prstGeom>
          <a:solidFill>
            <a:srgbClr val="FFFFFF"/>
          </a:solidFill>
          <a:ln w="22225">
            <a:solidFill>
              <a:srgbClr val="FFFFFF"/>
            </a:solidFill>
            <a:prstDash val="solid"/>
          </a:ln>
        </p:spPr>
      </p:sp>
      <p:pic>
        <p:nvPicPr>
          <p:cNvPr id="8" name="Image 0" descr="Ảnh chụp giao diện Siêu Sao Toán 4">    </p:cNvPr>
          <p:cNvPicPr>
            <a:picLocks noChangeAspect="1"/>
          </p:cNvPicPr>
          <p:nvPr/>
        </p:nvPicPr>
        <p:blipFill>
          <a:blip r:embed="rId1"/>
          <a:stretch>
            <a:fillRect/>
          </a:stretch>
        </p:blipFill>
        <p:spPr>
          <a:xfrm>
            <a:off x="6611112" y="758952"/>
            <a:ext cx="4882896" cy="3145536"/>
          </a:xfrm>
          <a:prstGeom prst="rect">
            <a:avLst/>
          </a:prstGeom>
        </p:spPr>
      </p:pic>
      <p:sp>
        <p:nvSpPr>
          <p:cNvPr id="9" name="Shape 6"/>
          <p:cNvSpPr/>
          <p:nvPr/>
        </p:nvSpPr>
        <p:spPr>
          <a:xfrm>
            <a:off x="6537960" y="4251960"/>
            <a:ext cx="2240280" cy="2240280"/>
          </a:xfrm>
          <a:prstGeom prst="roundRect">
            <a:avLst>
              <a:gd name="adj" fmla="val 5714"/>
            </a:avLst>
          </a:prstGeom>
          <a:solidFill>
            <a:srgbClr val="FFFFFF"/>
          </a:solidFill>
          <a:ln/>
        </p:spPr>
      </p:sp>
      <p:pic>
        <p:nvPicPr>
          <p:cNvPr id="10" name="Image 1" descr="Ảnh chụp giao diện Siêu Sao Toán 4">    </p:cNvPr>
          <p:cNvPicPr>
            <a:picLocks noChangeAspect="1"/>
          </p:cNvPicPr>
          <p:nvPr/>
        </p:nvPicPr>
        <p:blipFill>
          <a:blip r:embed="rId2"/>
          <a:stretch>
            <a:fillRect/>
          </a:stretch>
        </p:blipFill>
        <p:spPr>
          <a:xfrm>
            <a:off x="6647688" y="4361688"/>
            <a:ext cx="2020824" cy="2020824"/>
          </a:xfrm>
          <a:prstGeom prst="rect">
            <a:avLst/>
          </a:prstGeom>
        </p:spPr>
      </p:pic>
      <p:sp>
        <p:nvSpPr>
          <p:cNvPr id="11" name="Text 7"/>
          <p:cNvSpPr txBox="1"/>
          <p:nvPr/>
        </p:nvSpPr>
        <p:spPr>
          <a:xfrm>
            <a:off x="9006840" y="4754880"/>
            <a:ext cx="2651760" cy="1280160"/>
          </a:xfrm>
          <a:prstGeom prst="rect">
            <a:avLst/>
          </a:prstGeom>
          <a:noFill/>
          <a:ln/>
        </p:spPr>
        <p:txBody>
          <a:bodyPr wrap="square" lIns="0" tIns="0" rIns="0" bIns="0" rtlCol="0" anchor="t"/>
          <a:lstStyle/>
          <a:p>
            <a:pPr algn="l" indent="0" marL="0">
              <a:spcAft>
                <a:spcPts val="600"/>
              </a:spcAft>
              <a:buNone/>
            </a:pPr>
            <a:r>
              <a:rPr lang="en-US" sz="2000" b="1" dirty="0">
                <a:solidFill>
                  <a:srgbClr val="FFFFFF"/>
                </a:solidFill>
                <a:latin typeface="Calibri" pitchFamily="34" charset="0"/>
                <a:ea typeface="Calibri" pitchFamily="34" charset="-122"/>
                <a:cs typeface="Calibri" pitchFamily="34" charset="-120"/>
              </a:rPr>
              <a:t>Quét mã để học thử</a:t>
            </a:r>
            <a:endParaRPr lang="en-US" sz="2000" dirty="0"/>
          </a:p>
          <a:p>
            <a:pPr algn="l" indent="0" marL="0">
              <a:buNone/>
            </a:pPr>
            <a:r>
              <a:rPr lang="en-US" sz="1500" dirty="0">
                <a:solidFill>
                  <a:srgbClr val="EAF1FB"/>
                </a:solidFill>
                <a:latin typeface="Calibri" pitchFamily="34" charset="0"/>
                <a:ea typeface="Calibri" pitchFamily="34" charset="-122"/>
                <a:cs typeface="Calibri" pitchFamily="34" charset="-120"/>
              </a:rPr>
              <a:t>Dùng được trên điện thoại, máy tính bảng và máy tính.</a:t>
            </a:r>
            <a:endParaRPr lang="en-US" sz="2000" dirty="0"/>
          </a:p>
        </p:txBody>
      </p:sp>
    </p:spTree>
  </p:cSld>
  <p:clrMapOvr>
    <a:masterClrMapping/>
  </p:clrMapOvr>
</p:sld>
</file>

<file path=ppt/theme/theme1.xml><?xml version="1.0" encoding="utf-8"?>
<a:theme xmlns:a="http://schemas.openxmlformats.org/drawingml/2006/main" name="Siêu Sao Toán 4">
  <a:themeElements>
    <a:clrScheme name="Siêu Sao Toán 4">
      <a:dk1>
        <a:srgbClr val="17243F"/>
      </a:dk1>
      <a:lt1>
        <a:srgbClr val="FFFFFF"/>
      </a:lt1>
      <a:dk2>
        <a:srgbClr val="4A5A78"/>
      </a:dk2>
      <a:lt2>
        <a:srgbClr val="EAF1FB"/>
      </a:lt2>
      <a:accent1>
        <a:srgbClr val="2F5FD0"/>
      </a:accent1>
      <a:accent2>
        <a:srgbClr val="FFC83D"/>
      </a:accent2>
      <a:accent3>
        <a:srgbClr val="E4474D"/>
      </a:accent3>
      <a:accent4>
        <a:srgbClr val="1F9D62"/>
      </a:accent4>
      <a:accent5>
        <a:srgbClr val="7A5BD0"/>
      </a:accent5>
      <a:accent6>
        <a:srgbClr val="FFF0B5"/>
      </a:accent6>
      <a:hlink>
        <a:srgbClr val="2F5FD0"/>
      </a:hlink>
      <a:folHlink>
        <a:srgbClr val="7A5BD0"/>
      </a:folHlink>
    </a:clrScheme>
    <a:fontScheme name="Siêu Sao Toán 4">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Siêu Sao Toán 4 – Giới thiệu sản phẩm</dc:title>
  <dc:subject>Ứng dụng luyện Toán lớp 4</dc:subject>
  <dc:creator>PptxGenJS</dc:creator>
  <cp:lastModifiedBy>PptxGenJS</cp:lastModifiedBy>
  <cp:revision>1</cp:revision>
  <dcterms:created xsi:type="dcterms:W3CDTF">2026-10-20T12:15:14Z</dcterms:created>
  <dcterms:modified xsi:type="dcterms:W3CDTF">2026-10-20T12:15:14Z</dcterms:modified>
</cp:coreProperties>
</file>