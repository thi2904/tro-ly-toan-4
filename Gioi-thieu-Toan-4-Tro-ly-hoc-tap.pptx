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id="{995dad78-93c6-bfb0-e47a-7b9a18fc1994}">
          <p14:sldIdLst>
            <p14:sldId id="256"/>
            <p14:sldId id="257"/>
            <p14:sldId id="258"/>
          </p14:sldIdLst>
        </p14:section>
        <p14:section name="Trải nghiệm của học sinh" id="{0ee970fe-514b-f3a6-2702-17c1703eb043}">
          <p14:sldIdLst>
            <p14:sldId id="259"/>
            <p14:sldId id="260"/>
            <p14:sldId id="261"/>
            <p14:sldId id="262"/>
            <p14:sldId id="263"/>
            <p14:sldId id="264"/>
            <p14:sldId id="265"/>
            <p14:sldId id="266"/>
            <p14:sldId id="267"/>
            <p14:sldId id="268"/>
            <p14:sldId id="269"/>
          </p14:sldIdLst>
        </p14:section>
        <p14:section name="Dành cho giáo viên" id="{15b01e60-15cd-bee6-8e8f-57b9330c835a}">
          <p14:sldIdLst>
            <p14:sldId id="270"/>
            <p14:sldId id="271"/>
          </p14:sldIdLst>
        </p14:section>
        <p14:section name="Nội dung và kỹ thuật" id="{5b92f08c-c92e-5885-bd21-13792787b44f}">
          <p14:sldIdLst>
            <p14:sldId id="272"/>
            <p14:sldId id="273"/>
            <p14:sldId id="274"/>
          </p14:sldIdLst>
        </p14:section>
        <p14:section name="Kết" id="{8be11378-29f2-6eb6-4452-90ea4813e211}">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Số câu hỏi</c:v>
                </c:pt>
              </c:strCache>
            </c:strRef>
          </c:tx>
          <c:spPr>
            <a:solidFill>
              <a:schemeClr val="accent1"/>
            </a:solidFill>
            <a:ln w="9525" cap="flat">
              <a:solidFill>
                <a:srgbClr val="F9F9F9"/>
              </a:solidFill>
              <a:prstDash val="solid"/>
              <a:round/>
            </a:ln>
            <a:effectLst/>
          </c:spPr>
          <c:dPt>
            <c:idx val="0"/>
            <c:bubble3D val="0"/>
            <c:spPr>
              <a:solidFill>
                <a:srgbClr val="2F5FD0"/>
              </a:solidFill>
              <a:ln w="25400" cap="flat">
                <a:solidFill>
                  <a:srgbClr val="FFFFFF"/>
                </a:solidFill>
                <a:prstDash val="solid"/>
                <a:round/>
              </a:ln>
              <a:effectLst/>
            </c:spPr>
          </c:dPt>
          <c:dPt>
            <c:idx val="1"/>
            <c:bubble3D val="0"/>
            <c:spPr>
              <a:solidFill>
                <a:srgbClr val="FFC83D"/>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Trắc nghiệm: 494 câu</c:v>
                </c:pt>
                <c:pt idx="1">
                  <c:v>Điền số: 693 câu</c:v>
                </c:pt>
              </c:strCache>
            </c:strRef>
          </c:cat>
          <c:val>
            <c:numRef>
              <c:f>Sheet1!$B$2:$B$3</c:f>
              <c:numCache>
                <c:ptCount val="2"/>
                <c:pt idx="0">
                  <c:v>494</c:v>
                </c:pt>
                <c:pt idx="1">
                  <c:v>693</c:v>
                </c:pt>
              </c:numCache>
            </c:numRef>
          </c:val>
        </c:ser>
        <c:firstSliceAng val="0"/>
        <c:holeSize val="58"/>
      </c:doughnutChart>
      <c:spPr>
        <a:noFill/>
        <a:ln>
          <a:noFill/>
        </a:ln>
        <a:effectLst/>
      </c:spPr>
    </c:plotArea>
    <c:legend>
      <c:legendPos val="b"/>
      <c:overlay val="0"/>
      <c:txPr>
        <a:bodyPr/>
        <a:lstStyle/>
        <a:p>
          <a:pPr>
            <a:defRPr sz="1600">
              <a:solidFill>
                <a:srgbClr val="17243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Số câu hỏi</c:v>
                </c:pt>
              </c:strCache>
            </c:strRef>
          </c:tx>
          <c:spPr>
            <a:solidFill>
              <a:srgbClr val="2F5FD0"/>
            </a:solidFill>
            <a:effectLst/>
          </c:spPr>
          <c:invertIfNegative val="0"/>
          <c:dLbls>
            <c:numFmt formatCode="#,##0" sourceLinked="0"/>
            <c:txPr>
              <a:bodyPr/>
              <a:lstStyle/>
              <a:p>
                <a:pPr>
                  <a:defRPr b="0" i="0" strike="noStrike" sz="1200" u="none">
                    <a:solidFill>
                      <a:srgbClr val="17243F"/>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1. Ôn tập và bổ sung</c:v>
                  </c:pt>
                  <c:pt idx="1">
                    <c:v>2. Góc và đơn vị đo góc</c:v>
                  </c:pt>
                  <c:pt idx="2">
                    <c:v>3. Số có nhiều chữ số</c:v>
                  </c:pt>
                  <c:pt idx="3">
                    <c:v>4. Đơn vị đo đại lượng</c:v>
                  </c:pt>
                  <c:pt idx="4">
                    <c:v>5. Cộng và trừ</c:v>
                  </c:pt>
                  <c:pt idx="5">
                    <c:v>6. Vuông góc, song song</c:v>
                  </c:pt>
                  <c:pt idx="6">
                    <c:v>7. Ôn tập học kì 1</c:v>
                  </c:pt>
                  <c:pt idx="7">
                    <c:v>8. Nhân và chia</c:v>
                  </c:pt>
                  <c:pt idx="8">
                    <c:v>9. Thống kê, xác suất</c:v>
                  </c:pt>
                  <c:pt idx="9">
                    <c:v>10. Phân số</c:v>
                  </c:pt>
                  <c:pt idx="10">
                    <c:v>11. Cộng, trừ phân số</c:v>
                  </c:pt>
                  <c:pt idx="11">
                    <c:v>12. Nhân, chia phân số</c:v>
                  </c:pt>
                  <c:pt idx="12">
                    <c:v>13. Ôn tập cuối năm</c:v>
                  </c:pt>
                </c:lvl>
              </c:multiLvlStrCache>
            </c:multiLvlStrRef>
          </c:cat>
          <c:val>
            <c:numRef>
              <c:f>Sheet1!$B$2:$B$14</c:f>
              <c:numCache>
                <c:formatCode>General</c:formatCode>
                <c:ptCount val="13"/>
                <c:pt idx="0">
                  <c:v>131</c:v>
                </c:pt>
                <c:pt idx="1">
                  <c:v>32</c:v>
                </c:pt>
                <c:pt idx="2">
                  <c:v>86</c:v>
                </c:pt>
                <c:pt idx="3">
                  <c:v>79</c:v>
                </c:pt>
                <c:pt idx="4">
                  <c:v>71</c:v>
                </c:pt>
                <c:pt idx="5">
                  <c:v>64</c:v>
                </c:pt>
                <c:pt idx="6">
                  <c:v>99</c:v>
                </c:pt>
                <c:pt idx="7">
                  <c:v>185</c:v>
                </c:pt>
                <c:pt idx="8">
                  <c:v>49</c:v>
                </c:pt>
                <c:pt idx="9">
                  <c:v>112</c:v>
                </c:pt>
                <c:pt idx="10">
                  <c:v>54</c:v>
                </c:pt>
                <c:pt idx="11">
                  <c:v>69</c:v>
                </c:pt>
                <c:pt idx="12">
                  <c:v>156</c:v>
                </c:pt>
              </c:numCache>
            </c:numRef>
          </c:val>
        </c:ser>
        <c:dLbls>
          <c:numFmt formatCode="#,##0" sourceLinked="0"/>
          <c:txPr>
            <a:bodyPr/>
            <a:lstStyle/>
            <a:p>
              <a:pPr>
                <a:defRPr b="0" i="0" strike="noStrike" sz="1200" u="none">
                  <a:solidFill>
                    <a:srgbClr val="17243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43F"/>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đây là ứng dụng web luyện Toán lớp 4 bám theo 73 bài của hai tập sách giáo khoa. Ảnh bên phải là giao diện thật của học sinh trên máy tính và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nhu cầu mà sản phẩm hướng tới: bài tập bám sách, biết đúng sai ngay, và giáo viên theo dõi được tiến độ.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 bài, 1 187 câu hỏi, 13 chủ đề, 2 tập sách. Học sinh luyện, ứng dụng chấm và khen, giáo viên xem toàn bộ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vào lớp, chọn bài, làm 10 câu, xem kết quả. Làm lại bao nhiêu lần cũng được, điểm cao nhất của mỗi bài được tính vào xếp hạng.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Lần đầu hệ thống tự tạo tài khoản. Lần sau nhập đúng lại là vào lại. Tên được so sánh không phân biệt hoa thường và dấu.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chủ của học sinh: hai nút chọn tập một hoặc tập hai, các thẻ bài theo chủ đề, số sao và điểm tốt nhất của từng bài, nút làm tiếp bài chưa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làm, học sinh đọc lại kiến thức trọng tâm của bài. Mỗi lần làm rút tối đa 10 câu ngẫu nhiên từ ngân hàng 8 đến 32 câu của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câu có hình: góc, đồng hồ, hai đường thẳng, hình bình hành, hình thoi, phân số và biểu đồ cột. Hình được vẽ bằng mã nên sắc nét trên mọi màn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1 187 câu có 494 câu trắc nghiệm (kể cả đúng sai) và 693 câu điền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đúng: khung xanh, lời khen và âm thanh vui. Làm sai: khung vàng, lời an ủi nhẹ nhàng, hiện đáp án đúng để em tự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8 câu khen và 6 câu an ủi. Giọng đọc dùng giọng tiếng Việt có sẵn của thiết bị; máy không có giọng Việt vẫn nghe được tiếng hiệu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bằng số câu đúng chia tổng số câu rồi nhân 10. Từ 5 điểm được 1 sao, từ 7 điểm 2 sao, từ 9 điểm 3 sao. Từ 7 điểm có pháo giấy.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Xếp hạng chung là tổng điểm cao nhất của từng bài. Có thể chọn một bài để xem riêng; bằng điểm thì ai làm nhanh hơn đứng trên. Học sinh và giáo viên đều xem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co giãn theo màn hình. Học sinh mở trình duyệt là học được, không cần cài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quản lý: bốn chỉ số tổng quan, bảng điểm từng học sinh, tìm theo tên, xoá học sinh hoặc một lượt làm bài. Dùng tab Giáo viên ở trang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một lượt làm để xem từng câu: em trả lời gì, đáp án đúng là gì. Có thể lọc theo học sinh hoặc theo bài và tải toàn bộ điểm ra CSV mở bằng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câu theo chủ đề. Chủ đề Phép nhân và phép chia có nhiều câu nhất vì có 11 bài. Câu hỏi được soạn lại bám theo bài tập của sách, cần giáo viên duyệt trước khi dùng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duyệt hiển thị giao diện. Máy chủ Next.js trên Vercel xử lý đăng nhập, chọn câu, chấm điểm, xếp hạng. Dữ liệu lưu trên Neon Postgres, một cơ sở dữ liệu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nằm ở máy chủ và chỉ gửi sau khi học sinh trả lời. Phiên đăng nhập ký số, mật khẩu giáo viên nằm trong biến môi trường, chỉ lưu dữ liệu cần thiết.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giới hạn: đăng nhập bằng tên và ngày sinh phù hợp lớp học nhưng không phải xác thực mạnh; câu hỏi cần giáo viên duyệt; giọng đọc phụ thuộc thiết bị. Các bước tiếp theo là hướng phát triển, chưa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mời dùng thử bản chạy thật. Học sinh vào bằng tên và ngày sinh; giáo viên dùng tài khoản quản lý do nhà trường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2.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hãn Toán 4"/>
          <p:cNvSpPr/>
          <p:nvPr/>
        </p:nvSpPr>
        <p:spPr>
          <a:xfrm rot="-180000">
            <a:off x="640080" y="1371600"/>
            <a:ext cx="2651760" cy="1188720"/>
          </a:xfrm>
          <a:prstGeom prst="roundRect">
            <a:avLst>
              <a:gd name="adj" fmla="val 12308"/>
            </a:avLst>
          </a:prstGeom>
          <a:solidFill>
            <a:schemeClr val="accent2"/>
          </a:solidFill>
          <a:ln w="12700">
            <a:solidFill>
              <a:schemeClr val="bg1"/>
            </a:solidFill>
            <a:prstDash val="solid"/>
          </a:ln>
        </p:spPr>
      </p:sp>
      <p:sp>
        <p:nvSpPr>
          <p:cNvPr id="3" name="Text 1"/>
          <p:cNvSpPr txBox="1"/>
          <p:nvPr/>
        </p:nvSpPr>
        <p:spPr>
          <a:xfrm rot="-180000">
            <a:off x="640080" y="1371600"/>
            <a:ext cx="2651760" cy="118872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Toán 4</a:t>
            </a:r>
            <a:endParaRPr lang="en-US" sz="4800" dirty="0"/>
          </a:p>
        </p:txBody>
      </p:sp>
      <p:sp>
        <p:nvSpPr>
          <p:cNvPr id="4" name="Text 2"/>
          <p:cNvSpPr txBox="1"/>
          <p:nvPr/>
        </p:nvSpPr>
        <p:spPr>
          <a:xfrm>
            <a:off x="640080" y="2788920"/>
            <a:ext cx="5760720" cy="914400"/>
          </a:xfrm>
          <a:prstGeom prst="rect">
            <a:avLst/>
          </a:prstGeom>
          <a:noFill/>
          <a:ln/>
        </p:spPr>
        <p:txBody>
          <a:bodyPr wrap="square" lIns="0" tIns="0" rIns="0" bIns="0" rtlCol="0" anchor="t"/>
          <a:lstStyle/>
          <a:p>
            <a:pPr indent="0" marL="0">
              <a:buNone/>
            </a:pPr>
            <a:r>
              <a:rPr lang="en-US" sz="5000" b="1" dirty="0">
                <a:solidFill>
                  <a:schemeClr val="bg1"/>
                </a:solidFill>
                <a:latin typeface="Cambria" pitchFamily="34" charset="0"/>
                <a:ea typeface="Cambria" pitchFamily="34" charset="-122"/>
                <a:cs typeface="Cambria" pitchFamily="34" charset="-120"/>
              </a:rPr>
              <a:t>Trợ lý học tập</a:t>
            </a:r>
            <a:endParaRPr lang="en-US" sz="5000" dirty="0"/>
          </a:p>
        </p:txBody>
      </p:sp>
      <p:sp>
        <p:nvSpPr>
          <p:cNvPr id="5" name="Text 3"/>
          <p:cNvSpPr txBox="1"/>
          <p:nvPr/>
        </p:nvSpPr>
        <p:spPr>
          <a:xfrm>
            <a:off x="640080" y="3931920"/>
            <a:ext cx="5394960" cy="12801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Luyện tập 73 bài Toán lớp 4 theo sách giáo khoa, có lời khen bằng tiếng Việt, bảng xếp hạng và trang quản lý cho giáo viên.</a:t>
            </a:r>
            <a:endParaRPr lang="en-US" sz="2000" dirty="0"/>
          </a:p>
        </p:txBody>
      </p:sp>
      <p:sp>
        <p:nvSpPr>
          <p:cNvPr id="6" name="Text 4"/>
          <p:cNvSpPr txBox="1"/>
          <p:nvPr/>
        </p:nvSpPr>
        <p:spPr>
          <a:xfrm>
            <a:off x="640080" y="5897880"/>
            <a:ext cx="548640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tro-ly-toan-4.vercel.app</a:t>
            </a:r>
            <a:endParaRPr lang="en-US" sz="1800" dirty="0"/>
          </a:p>
        </p:txBody>
      </p:sp>
      <p:sp>
        <p:nvSpPr>
          <p:cNvPr id="7" name="Đổ bóng thẻ"/>
          <p:cNvSpPr/>
          <p:nvPr/>
        </p:nvSpPr>
        <p:spPr>
          <a:xfrm>
            <a:off x="6601968" y="749808"/>
            <a:ext cx="5029200" cy="3291220"/>
          </a:xfrm>
          <a:prstGeom prst="roundRect">
            <a:avLst>
              <a:gd name="adj" fmla="val 3890"/>
            </a:avLst>
          </a:prstGeom>
          <a:solidFill>
            <a:schemeClr val="tx1"/>
          </a:solidFill>
          <a:ln w="6350">
            <a:solidFill>
              <a:schemeClr val="tx1"/>
            </a:solidFill>
            <a:prstDash val="solid"/>
          </a:ln>
        </p:spPr>
      </p:sp>
      <p:sp>
        <p:nvSpPr>
          <p:cNvPr id="8" name="Thẻ"/>
          <p:cNvSpPr/>
          <p:nvPr/>
        </p:nvSpPr>
        <p:spPr>
          <a:xfrm>
            <a:off x="6537960" y="685800"/>
            <a:ext cx="5029200" cy="3291220"/>
          </a:xfrm>
          <a:prstGeom prst="roundRect">
            <a:avLst>
              <a:gd name="adj" fmla="val 3890"/>
            </a:avLst>
          </a:prstGeom>
          <a:solidFill>
            <a:schemeClr val="bg1"/>
          </a:solidFill>
          <a:ln w="22225">
            <a:solidFill>
              <a:schemeClr val="tx1"/>
            </a:solidFill>
            <a:prstDash val="solid"/>
          </a:ln>
        </p:spPr>
      </p:sp>
      <p:pic>
        <p:nvPicPr>
          <p:cNvPr id="9" name="Image 0" descr="Trang danh sách bài học của học sinh">    </p:cNvPr>
          <p:cNvPicPr>
            <a:picLocks noChangeAspect="1"/>
          </p:cNvPicPr>
          <p:nvPr/>
        </p:nvPicPr>
        <p:blipFill>
          <a:blip r:embed="rId1"/>
          <a:stretch>
            <a:fillRect/>
          </a:stretch>
        </p:blipFill>
        <p:spPr>
          <a:xfrm>
            <a:off x="6611112" y="758952"/>
            <a:ext cx="4882896" cy="3144916"/>
          </a:xfrm>
          <a:prstGeom prst="rect">
            <a:avLst/>
          </a:prstGeom>
        </p:spPr>
      </p:pic>
      <p:sp>
        <p:nvSpPr>
          <p:cNvPr id="10" name="Khung điện thoại"/>
          <p:cNvSpPr/>
          <p:nvPr/>
        </p:nvSpPr>
        <p:spPr>
          <a:xfrm>
            <a:off x="6291072" y="3200400"/>
            <a:ext cx="2276856" cy="3279179"/>
          </a:xfrm>
          <a:prstGeom prst="roundRect">
            <a:avLst>
              <a:gd name="adj" fmla="val 11245"/>
            </a:avLst>
          </a:prstGeom>
          <a:solidFill>
            <a:schemeClr val="tx1"/>
          </a:solidFill>
          <a:ln w="38100">
            <a:solidFill>
              <a:schemeClr val="bg1"/>
            </a:solidFill>
            <a:prstDash val="solid"/>
          </a:ln>
        </p:spPr>
      </p:sp>
      <p:pic>
        <p:nvPicPr>
          <p:cNvPr id="11" name="Image 1" descr="Ảnh màn hình điện thoại">    </p:cNvPr>
          <p:cNvPicPr>
            <a:picLocks noChangeAspect="1"/>
          </p:cNvPicPr>
          <p:nvPr/>
        </p:nvPicPr>
        <p:blipFill>
          <a:blip r:embed="rId2"/>
          <a:stretch>
            <a:fillRect/>
          </a:stretch>
        </p:blipFill>
        <p:spPr>
          <a:xfrm>
            <a:off x="6400800" y="3310128"/>
            <a:ext cx="2057400" cy="30597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Luyện Toán ngoài giờ cần ba điều</a:t>
            </a:r>
            <a:endParaRPr lang="en-US" sz="3600" dirty="0"/>
          </a:p>
        </p:txBody>
      </p:sp>
      <p:sp>
        <p:nvSpPr>
          <p:cNvPr id="4" name="Đổ bóng thẻ"/>
          <p:cNvSpPr/>
          <p:nvPr/>
        </p:nvSpPr>
        <p:spPr>
          <a:xfrm>
            <a:off x="612648" y="1755648"/>
            <a:ext cx="3502152" cy="3200400"/>
          </a:xfrm>
          <a:prstGeom prst="roundRect">
            <a:avLst>
              <a:gd name="adj" fmla="val 4000"/>
            </a:avLst>
          </a:prstGeom>
          <a:solidFill>
            <a:schemeClr val="tx1"/>
          </a:solidFill>
          <a:ln w="6350">
            <a:solidFill>
              <a:schemeClr val="tx1"/>
            </a:solidFill>
            <a:prstDash val="solid"/>
          </a:ln>
        </p:spPr>
      </p:sp>
      <p:sp>
        <p:nvSpPr>
          <p:cNvPr id="5" name="Thẻ"/>
          <p:cNvSpPr/>
          <p:nvPr/>
        </p:nvSpPr>
        <p:spPr>
          <a:xfrm>
            <a:off x="548640" y="1691640"/>
            <a:ext cx="3502152" cy="3200400"/>
          </a:xfrm>
          <a:prstGeom prst="roundRect">
            <a:avLst>
              <a:gd name="adj" fmla="val 4000"/>
            </a:avLst>
          </a:prstGeom>
          <a:solidFill>
            <a:schemeClr val="bg1"/>
          </a:solidFill>
          <a:ln w="22225">
            <a:solidFill>
              <a:schemeClr val="tx1"/>
            </a:solidFill>
            <a:prstDash val="solid"/>
          </a:ln>
        </p:spPr>
      </p:sp>
      <p:sp>
        <p:nvSpPr>
          <p:cNvPr id="6" name="Nền biểu tượng"/>
          <p:cNvSpPr/>
          <p:nvPr/>
        </p:nvSpPr>
        <p:spPr>
          <a:xfrm>
            <a:off x="868680" y="2011680"/>
            <a:ext cx="914400" cy="914400"/>
          </a:xfrm>
          <a:prstGeom prst="ellipse">
            <a:avLst/>
          </a:prstGeom>
          <a:solidFill>
            <a:schemeClr val="accent1"/>
          </a:solidFill>
          <a:ln w="19050">
            <a:solidFill>
              <a:schemeClr val="tx1"/>
            </a:solidFill>
            <a:prstDash val="solid"/>
          </a:ln>
        </p:spPr>
      </p:sp>
      <p:pic>
        <p:nvPicPr>
          <p:cNvPr id="7" name="Image 0" descr="assets/ic-book-w.png">    </p:cNvPr>
          <p:cNvPicPr>
            <a:picLocks noChangeAspect="1"/>
          </p:cNvPicPr>
          <p:nvPr/>
        </p:nvPicPr>
        <p:blipFill>
          <a:blip r:embed="rId1"/>
          <a:stretch>
            <a:fillRect/>
          </a:stretch>
        </p:blipFill>
        <p:spPr>
          <a:xfrm>
            <a:off x="1097280" y="2240280"/>
            <a:ext cx="457200" cy="457200"/>
          </a:xfrm>
          <a:prstGeom prst="rect">
            <a:avLst/>
          </a:prstGeom>
        </p:spPr>
      </p:pic>
      <p:sp>
        <p:nvSpPr>
          <p:cNvPr id="8" name="Text 4"/>
          <p:cNvSpPr txBox="1"/>
          <p:nvPr/>
        </p:nvSpPr>
        <p:spPr>
          <a:xfrm>
            <a:off x="868680" y="320040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Bài tập bám sát sách</a:t>
            </a:r>
            <a:endParaRPr lang="en-US" sz="2200" dirty="0"/>
          </a:p>
        </p:txBody>
      </p:sp>
      <p:sp>
        <p:nvSpPr>
          <p:cNvPr id="9" name="Text 5"/>
          <p:cNvSpPr txBox="1"/>
          <p:nvPr/>
        </p:nvSpPr>
        <p:spPr>
          <a:xfrm>
            <a:off x="868680" y="3749040"/>
            <a:ext cx="2880360" cy="11887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Học sinh cần bài luyện đúng theo từng bài của sách giáo khoa đang học.</a:t>
            </a:r>
            <a:endParaRPr lang="en-US" sz="1600" dirty="0"/>
          </a:p>
        </p:txBody>
      </p:sp>
      <p:sp>
        <p:nvSpPr>
          <p:cNvPr id="10" name="Đổ bóng thẻ"/>
          <p:cNvSpPr/>
          <p:nvPr/>
        </p:nvSpPr>
        <p:spPr>
          <a:xfrm>
            <a:off x="4407408" y="1755648"/>
            <a:ext cx="3502152" cy="3200400"/>
          </a:xfrm>
          <a:prstGeom prst="roundRect">
            <a:avLst>
              <a:gd name="adj" fmla="val 4000"/>
            </a:avLst>
          </a:prstGeom>
          <a:solidFill>
            <a:schemeClr val="tx1"/>
          </a:solidFill>
          <a:ln w="6350">
            <a:solidFill>
              <a:schemeClr val="tx1"/>
            </a:solidFill>
            <a:prstDash val="solid"/>
          </a:ln>
        </p:spPr>
      </p:sp>
      <p:sp>
        <p:nvSpPr>
          <p:cNvPr id="11" name="Thẻ"/>
          <p:cNvSpPr/>
          <p:nvPr/>
        </p:nvSpPr>
        <p:spPr>
          <a:xfrm>
            <a:off x="4343400" y="1691640"/>
            <a:ext cx="3502152" cy="3200400"/>
          </a:xfrm>
          <a:prstGeom prst="roundRect">
            <a:avLst>
              <a:gd name="adj" fmla="val 4000"/>
            </a:avLst>
          </a:prstGeom>
          <a:solidFill>
            <a:schemeClr val="bg1"/>
          </a:solidFill>
          <a:ln w="22225">
            <a:solidFill>
              <a:schemeClr val="tx1"/>
            </a:solidFill>
            <a:prstDash val="solid"/>
          </a:ln>
        </p:spPr>
      </p:sp>
      <p:sp>
        <p:nvSpPr>
          <p:cNvPr id="12" name="Nền biểu tượng"/>
          <p:cNvSpPr/>
          <p:nvPr/>
        </p:nvSpPr>
        <p:spPr>
          <a:xfrm>
            <a:off x="4663440" y="2011680"/>
            <a:ext cx="914400" cy="914400"/>
          </a:xfrm>
          <a:prstGeom prst="ellipse">
            <a:avLst/>
          </a:prstGeom>
          <a:solidFill>
            <a:schemeClr val="accent4"/>
          </a:solidFill>
          <a:ln w="19050">
            <a:solidFill>
              <a:schemeClr val="tx1"/>
            </a:solidFill>
            <a:prstDash val="solid"/>
          </a:ln>
        </p:spPr>
      </p:sp>
      <p:pic>
        <p:nvPicPr>
          <p:cNvPr id="13" name="Image 1" descr="assets/ic-check-w.png">    </p:cNvPr>
          <p:cNvPicPr>
            <a:picLocks noChangeAspect="1"/>
          </p:cNvPicPr>
          <p:nvPr/>
        </p:nvPicPr>
        <p:blipFill>
          <a:blip r:embed="rId2"/>
          <a:stretch>
            <a:fillRect/>
          </a:stretch>
        </p:blipFill>
        <p:spPr>
          <a:xfrm>
            <a:off x="4892040" y="2240280"/>
            <a:ext cx="457200" cy="457200"/>
          </a:xfrm>
          <a:prstGeom prst="rect">
            <a:avLst/>
          </a:prstGeom>
        </p:spPr>
      </p:pic>
      <p:sp>
        <p:nvSpPr>
          <p:cNvPr id="14" name="Text 9"/>
          <p:cNvSpPr txBox="1"/>
          <p:nvPr/>
        </p:nvSpPr>
        <p:spPr>
          <a:xfrm>
            <a:off x="4663440" y="320040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Biết đúng sai ngay</a:t>
            </a:r>
            <a:endParaRPr lang="en-US" sz="2200" dirty="0"/>
          </a:p>
        </p:txBody>
      </p:sp>
      <p:sp>
        <p:nvSpPr>
          <p:cNvPr id="15" name="Text 10"/>
          <p:cNvSpPr txBox="1"/>
          <p:nvPr/>
        </p:nvSpPr>
        <p:spPr>
          <a:xfrm>
            <a:off x="4663440" y="3749040"/>
            <a:ext cx="2880360" cy="11887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Làm xong câu nào, biết kết quả câu đó liền, kèm đáp án đúng để tự sửa.</a:t>
            </a:r>
            <a:endParaRPr lang="en-US" sz="1600" dirty="0"/>
          </a:p>
        </p:txBody>
      </p:sp>
      <p:sp>
        <p:nvSpPr>
          <p:cNvPr id="16" name="Đổ bóng thẻ"/>
          <p:cNvSpPr/>
          <p:nvPr/>
        </p:nvSpPr>
        <p:spPr>
          <a:xfrm>
            <a:off x="8202168" y="1755648"/>
            <a:ext cx="3502152" cy="3200400"/>
          </a:xfrm>
          <a:prstGeom prst="roundRect">
            <a:avLst>
              <a:gd name="adj" fmla="val 4000"/>
            </a:avLst>
          </a:prstGeom>
          <a:solidFill>
            <a:schemeClr val="tx1"/>
          </a:solidFill>
          <a:ln w="6350">
            <a:solidFill>
              <a:schemeClr val="tx1"/>
            </a:solidFill>
            <a:prstDash val="solid"/>
          </a:ln>
        </p:spPr>
      </p:sp>
      <p:sp>
        <p:nvSpPr>
          <p:cNvPr id="17" name="Thẻ"/>
          <p:cNvSpPr/>
          <p:nvPr/>
        </p:nvSpPr>
        <p:spPr>
          <a:xfrm>
            <a:off x="8138160" y="1691640"/>
            <a:ext cx="3502152" cy="3200400"/>
          </a:xfrm>
          <a:prstGeom prst="roundRect">
            <a:avLst>
              <a:gd name="adj" fmla="val 4000"/>
            </a:avLst>
          </a:prstGeom>
          <a:solidFill>
            <a:schemeClr val="bg1"/>
          </a:solidFill>
          <a:ln w="22225">
            <a:solidFill>
              <a:schemeClr val="tx1"/>
            </a:solidFill>
            <a:prstDash val="solid"/>
          </a:ln>
        </p:spPr>
      </p:sp>
      <p:sp>
        <p:nvSpPr>
          <p:cNvPr id="18" name="Nền biểu tượng"/>
          <p:cNvSpPr/>
          <p:nvPr/>
        </p:nvSpPr>
        <p:spPr>
          <a:xfrm>
            <a:off x="8458200" y="2011680"/>
            <a:ext cx="914400" cy="914400"/>
          </a:xfrm>
          <a:prstGeom prst="ellipse">
            <a:avLst/>
          </a:prstGeom>
          <a:solidFill>
            <a:schemeClr val="accent3"/>
          </a:solidFill>
          <a:ln w="19050">
            <a:solidFill>
              <a:schemeClr val="tx1"/>
            </a:solidFill>
            <a:prstDash val="solid"/>
          </a:ln>
        </p:spPr>
      </p:sp>
      <p:pic>
        <p:nvPicPr>
          <p:cNvPr id="19" name="Image 2" descr="assets/ic-chart-w.png">    </p:cNvPr>
          <p:cNvPicPr>
            <a:picLocks noChangeAspect="1"/>
          </p:cNvPicPr>
          <p:nvPr/>
        </p:nvPicPr>
        <p:blipFill>
          <a:blip r:embed="rId3"/>
          <a:stretch>
            <a:fillRect/>
          </a:stretch>
        </p:blipFill>
        <p:spPr>
          <a:xfrm>
            <a:off x="8686800" y="2240280"/>
            <a:ext cx="457200" cy="457200"/>
          </a:xfrm>
          <a:prstGeom prst="rect">
            <a:avLst/>
          </a:prstGeom>
        </p:spPr>
      </p:pic>
      <p:sp>
        <p:nvSpPr>
          <p:cNvPr id="20" name="Text 14"/>
          <p:cNvSpPr txBox="1"/>
          <p:nvPr/>
        </p:nvSpPr>
        <p:spPr>
          <a:xfrm>
            <a:off x="8458200" y="320040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Giáo viên nắm tiến độ</a:t>
            </a:r>
            <a:endParaRPr lang="en-US" sz="2200" dirty="0"/>
          </a:p>
        </p:txBody>
      </p:sp>
      <p:sp>
        <p:nvSpPr>
          <p:cNvPr id="21" name="Text 15"/>
          <p:cNvSpPr txBox="1"/>
          <p:nvPr/>
        </p:nvSpPr>
        <p:spPr>
          <a:xfrm>
            <a:off x="8458200" y="3749040"/>
            <a:ext cx="2880360" cy="11887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Giáo viên cần xem điểm từng em mà không phải thu bài và chấm tay.</a:t>
            </a:r>
            <a:endParaRPr lang="en-US" sz="1600" dirty="0"/>
          </a:p>
        </p:txBody>
      </p:sp>
      <p:sp>
        <p:nvSpPr>
          <p:cNvPr id="22" name="Shape 16"/>
          <p:cNvSpPr/>
          <p:nvPr/>
        </p:nvSpPr>
        <p:spPr>
          <a:xfrm>
            <a:off x="548640" y="5303520"/>
            <a:ext cx="11091672" cy="731520"/>
          </a:xfrm>
          <a:prstGeom prst="roundRect">
            <a:avLst>
              <a:gd name="adj" fmla="val 17500"/>
            </a:avLst>
          </a:prstGeom>
          <a:solidFill>
            <a:schemeClr val="bg2"/>
          </a:solidFill>
          <a:ln w="9525">
            <a:solidFill>
              <a:schemeClr val="tx1"/>
            </a:solidFill>
            <a:prstDash val="solid"/>
          </a:ln>
        </p:spPr>
      </p:sp>
      <p:sp>
        <p:nvSpPr>
          <p:cNvPr id="23" name="Text 17"/>
          <p:cNvSpPr txBox="1"/>
          <p:nvPr/>
        </p:nvSpPr>
        <p:spPr>
          <a:xfrm>
            <a:off x="822960" y="5303520"/>
            <a:ext cx="10543032" cy="7315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Toán 4 – Trợ lý học tập đáp ứng cả ba nhu cầu này trong một ứng dụng chạy trên trình duyệt.</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Một ứng dụng web để luyện, chấm và theo dõi</a:t>
            </a:r>
            <a:endParaRPr lang="en-US" sz="3600" dirty="0"/>
          </a:p>
        </p:txBody>
      </p:sp>
      <p:sp>
        <p:nvSpPr>
          <p:cNvPr id="4" name="Nền biểu tượng"/>
          <p:cNvSpPr/>
          <p:nvPr/>
        </p:nvSpPr>
        <p:spPr>
          <a:xfrm>
            <a:off x="548640" y="1801368"/>
            <a:ext cx="658368" cy="658368"/>
          </a:xfrm>
          <a:prstGeom prst="ellipse">
            <a:avLst/>
          </a:prstGeom>
          <a:solidFill>
            <a:schemeClr val="accent1"/>
          </a:solidFill>
          <a:ln w="19050">
            <a:solidFill>
              <a:schemeClr val="tx1"/>
            </a:solidFill>
            <a:prstDash val="solid"/>
          </a:ln>
        </p:spPr>
      </p:sp>
      <p:pic>
        <p:nvPicPr>
          <p:cNvPr id="5" name="Image 0" descr="assets/ic-pencil-w.png">    </p:cNvPr>
          <p:cNvPicPr>
            <a:picLocks noChangeAspect="1"/>
          </p:cNvPicPr>
          <p:nvPr/>
        </p:nvPicPr>
        <p:blipFill>
          <a:blip r:embed="rId1"/>
          <a:stretch>
            <a:fillRect/>
          </a:stretch>
        </p:blipFill>
        <p:spPr>
          <a:xfrm>
            <a:off x="713232" y="1965960"/>
            <a:ext cx="329184" cy="329184"/>
          </a:xfrm>
          <a:prstGeom prst="rect">
            <a:avLst/>
          </a:prstGeom>
        </p:spPr>
      </p:pic>
      <p:sp>
        <p:nvSpPr>
          <p:cNvPr id="6" name="Text 2"/>
          <p:cNvSpPr txBox="1"/>
          <p:nvPr/>
        </p:nvSpPr>
        <p:spPr>
          <a:xfrm>
            <a:off x="1444752" y="1783080"/>
            <a:ext cx="44988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Học sinh luyện từng bài</a:t>
            </a:r>
            <a:endParaRPr lang="en-US" sz="1800" dirty="0"/>
          </a:p>
        </p:txBody>
      </p:sp>
      <p:sp>
        <p:nvSpPr>
          <p:cNvPr id="7" name="Text 3"/>
          <p:cNvSpPr txBox="1"/>
          <p:nvPr/>
        </p:nvSpPr>
        <p:spPr>
          <a:xfrm>
            <a:off x="1444752" y="2148840"/>
            <a:ext cx="44988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Vào bằng tên và ngày sinh, mỗi lần làm 10 câu, được chấm và khen ngay.</a:t>
            </a:r>
            <a:endParaRPr lang="en-US" sz="1500" dirty="0"/>
          </a:p>
        </p:txBody>
      </p:sp>
      <p:sp>
        <p:nvSpPr>
          <p:cNvPr id="8" name="Nền biểu tượng"/>
          <p:cNvSpPr/>
          <p:nvPr/>
        </p:nvSpPr>
        <p:spPr>
          <a:xfrm>
            <a:off x="548640" y="3172968"/>
            <a:ext cx="658368" cy="658368"/>
          </a:xfrm>
          <a:prstGeom prst="ellipse">
            <a:avLst/>
          </a:prstGeom>
          <a:solidFill>
            <a:schemeClr val="accent3"/>
          </a:solidFill>
          <a:ln w="19050">
            <a:solidFill>
              <a:schemeClr val="tx1"/>
            </a:solidFill>
            <a:prstDash val="solid"/>
          </a:ln>
        </p:spPr>
      </p:sp>
      <p:pic>
        <p:nvPicPr>
          <p:cNvPr id="9" name="Image 1" descr="assets/ic-teacher-w.png">    </p:cNvPr>
          <p:cNvPicPr>
            <a:picLocks noChangeAspect="1"/>
          </p:cNvPicPr>
          <p:nvPr/>
        </p:nvPicPr>
        <p:blipFill>
          <a:blip r:embed="rId2"/>
          <a:stretch>
            <a:fillRect/>
          </a:stretch>
        </p:blipFill>
        <p:spPr>
          <a:xfrm>
            <a:off x="713232" y="3337560"/>
            <a:ext cx="329184" cy="329184"/>
          </a:xfrm>
          <a:prstGeom prst="rect">
            <a:avLst/>
          </a:prstGeom>
        </p:spPr>
      </p:pic>
      <p:sp>
        <p:nvSpPr>
          <p:cNvPr id="10" name="Text 5"/>
          <p:cNvSpPr txBox="1"/>
          <p:nvPr/>
        </p:nvSpPr>
        <p:spPr>
          <a:xfrm>
            <a:off x="1444752" y="3154680"/>
            <a:ext cx="44988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Giáo viên xem kết quả</a:t>
            </a:r>
            <a:endParaRPr lang="en-US" sz="1800" dirty="0"/>
          </a:p>
        </p:txBody>
      </p:sp>
      <p:sp>
        <p:nvSpPr>
          <p:cNvPr id="11" name="Text 6"/>
          <p:cNvSpPr txBox="1"/>
          <p:nvPr/>
        </p:nvSpPr>
        <p:spPr>
          <a:xfrm>
            <a:off x="1444752" y="3520440"/>
            <a:ext cx="44988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Điểm cả lớp, từng lượt làm, từng câu trả lời nằm trên một trang quản lý.</a:t>
            </a:r>
            <a:endParaRPr lang="en-US" sz="1500" dirty="0"/>
          </a:p>
        </p:txBody>
      </p:sp>
      <p:sp>
        <p:nvSpPr>
          <p:cNvPr id="12" name="Nền biểu tượng"/>
          <p:cNvSpPr/>
          <p:nvPr/>
        </p:nvSpPr>
        <p:spPr>
          <a:xfrm>
            <a:off x="548640" y="4544568"/>
            <a:ext cx="658368" cy="658368"/>
          </a:xfrm>
          <a:prstGeom prst="ellipse">
            <a:avLst/>
          </a:prstGeom>
          <a:solidFill>
            <a:schemeClr val="accent4"/>
          </a:solidFill>
          <a:ln w="19050">
            <a:solidFill>
              <a:schemeClr val="tx1"/>
            </a:solidFill>
            <a:prstDash val="solid"/>
          </a:ln>
        </p:spPr>
      </p:sp>
      <p:pic>
        <p:nvPicPr>
          <p:cNvPr id="13" name="Image 2" descr="assets/ic-globe-w.png">    </p:cNvPr>
          <p:cNvPicPr>
            <a:picLocks noChangeAspect="1"/>
          </p:cNvPicPr>
          <p:nvPr/>
        </p:nvPicPr>
        <p:blipFill>
          <a:blip r:embed="rId3"/>
          <a:stretch>
            <a:fillRect/>
          </a:stretch>
        </p:blipFill>
        <p:spPr>
          <a:xfrm>
            <a:off x="713232" y="4709160"/>
            <a:ext cx="329184" cy="329184"/>
          </a:xfrm>
          <a:prstGeom prst="rect">
            <a:avLst/>
          </a:prstGeom>
        </p:spPr>
      </p:pic>
      <p:sp>
        <p:nvSpPr>
          <p:cNvPr id="14" name="Text 8"/>
          <p:cNvSpPr txBox="1"/>
          <p:nvPr/>
        </p:nvSpPr>
        <p:spPr>
          <a:xfrm>
            <a:off x="1444752" y="4526280"/>
            <a:ext cx="44988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Chạy trên trình duyệt</a:t>
            </a:r>
            <a:endParaRPr lang="en-US" sz="1800" dirty="0"/>
          </a:p>
        </p:txBody>
      </p:sp>
      <p:sp>
        <p:nvSpPr>
          <p:cNvPr id="15" name="Text 9"/>
          <p:cNvSpPr txBox="1"/>
          <p:nvPr/>
        </p:nvSpPr>
        <p:spPr>
          <a:xfrm>
            <a:off x="1444752" y="4892040"/>
            <a:ext cx="44988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Không cần cài đặt. Dùng được trên điện thoại, máy tính bảng và máy tính.</a:t>
            </a:r>
            <a:endParaRPr lang="en-US" sz="1500" dirty="0"/>
          </a:p>
        </p:txBody>
      </p:sp>
      <p:sp>
        <p:nvSpPr>
          <p:cNvPr id="16" name="Đổ bóng thẻ"/>
          <p:cNvSpPr/>
          <p:nvPr/>
        </p:nvSpPr>
        <p:spPr>
          <a:xfrm>
            <a:off x="6419088" y="1755648"/>
            <a:ext cx="2560320" cy="2103120"/>
          </a:xfrm>
          <a:prstGeom prst="roundRect">
            <a:avLst>
              <a:gd name="adj" fmla="val 6087"/>
            </a:avLst>
          </a:prstGeom>
          <a:solidFill>
            <a:schemeClr val="tx1"/>
          </a:solidFill>
          <a:ln w="6350">
            <a:solidFill>
              <a:schemeClr val="tx1"/>
            </a:solidFill>
            <a:prstDash val="solid"/>
          </a:ln>
        </p:spPr>
      </p:sp>
      <p:sp>
        <p:nvSpPr>
          <p:cNvPr id="17" name="Thẻ"/>
          <p:cNvSpPr/>
          <p:nvPr/>
        </p:nvSpPr>
        <p:spPr>
          <a:xfrm>
            <a:off x="6355080" y="1691640"/>
            <a:ext cx="2560320" cy="2103120"/>
          </a:xfrm>
          <a:prstGeom prst="roundRect">
            <a:avLst>
              <a:gd name="adj" fmla="val 6087"/>
            </a:avLst>
          </a:prstGeom>
          <a:solidFill>
            <a:schemeClr val="bg1"/>
          </a:solidFill>
          <a:ln w="22225">
            <a:solidFill>
              <a:schemeClr val="tx1"/>
            </a:solidFill>
            <a:prstDash val="solid"/>
          </a:ln>
        </p:spPr>
      </p:sp>
      <p:sp>
        <p:nvSpPr>
          <p:cNvPr id="18" name="Text 12"/>
          <p:cNvSpPr txBox="1"/>
          <p:nvPr/>
        </p:nvSpPr>
        <p:spPr>
          <a:xfrm>
            <a:off x="6583680" y="1965960"/>
            <a:ext cx="21031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73</a:t>
            </a:r>
            <a:endParaRPr lang="en-US" sz="5400" dirty="0"/>
          </a:p>
        </p:txBody>
      </p:sp>
      <p:sp>
        <p:nvSpPr>
          <p:cNvPr id="19" name="Text 13"/>
          <p:cNvSpPr txBox="1"/>
          <p:nvPr/>
        </p:nvSpPr>
        <p:spPr>
          <a:xfrm>
            <a:off x="6583680" y="2971800"/>
            <a:ext cx="2103120" cy="6400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bài học theo sách giáo khoa</a:t>
            </a:r>
            <a:endParaRPr lang="en-US" sz="1600" dirty="0"/>
          </a:p>
        </p:txBody>
      </p:sp>
      <p:sp>
        <p:nvSpPr>
          <p:cNvPr id="20" name="Đổ bóng thẻ"/>
          <p:cNvSpPr/>
          <p:nvPr/>
        </p:nvSpPr>
        <p:spPr>
          <a:xfrm>
            <a:off x="9162288" y="1755648"/>
            <a:ext cx="2560320" cy="2103120"/>
          </a:xfrm>
          <a:prstGeom prst="roundRect">
            <a:avLst>
              <a:gd name="adj" fmla="val 6087"/>
            </a:avLst>
          </a:prstGeom>
          <a:solidFill>
            <a:schemeClr val="tx1"/>
          </a:solidFill>
          <a:ln w="6350">
            <a:solidFill>
              <a:schemeClr val="tx1"/>
            </a:solidFill>
            <a:prstDash val="solid"/>
          </a:ln>
        </p:spPr>
      </p:sp>
      <p:sp>
        <p:nvSpPr>
          <p:cNvPr id="21" name="Thẻ"/>
          <p:cNvSpPr/>
          <p:nvPr/>
        </p:nvSpPr>
        <p:spPr>
          <a:xfrm>
            <a:off x="9098280" y="1691640"/>
            <a:ext cx="2560320" cy="2103120"/>
          </a:xfrm>
          <a:prstGeom prst="roundRect">
            <a:avLst>
              <a:gd name="adj" fmla="val 6087"/>
            </a:avLst>
          </a:prstGeom>
          <a:solidFill>
            <a:schemeClr val="bg1"/>
          </a:solidFill>
          <a:ln w="22225">
            <a:solidFill>
              <a:schemeClr val="tx1"/>
            </a:solidFill>
            <a:prstDash val="solid"/>
          </a:ln>
        </p:spPr>
      </p:sp>
      <p:sp>
        <p:nvSpPr>
          <p:cNvPr id="22" name="Text 16"/>
          <p:cNvSpPr txBox="1"/>
          <p:nvPr/>
        </p:nvSpPr>
        <p:spPr>
          <a:xfrm>
            <a:off x="9326880" y="1965960"/>
            <a:ext cx="210312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1 187</a:t>
            </a:r>
            <a:endParaRPr lang="en-US" sz="5400" dirty="0"/>
          </a:p>
        </p:txBody>
      </p:sp>
      <p:sp>
        <p:nvSpPr>
          <p:cNvPr id="23" name="Text 17"/>
          <p:cNvSpPr txBox="1"/>
          <p:nvPr/>
        </p:nvSpPr>
        <p:spPr>
          <a:xfrm>
            <a:off x="9326880" y="2971800"/>
            <a:ext cx="2103120" cy="6400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câu hỏi trong ngân hàng</a:t>
            </a:r>
            <a:endParaRPr lang="en-US" sz="1600" dirty="0"/>
          </a:p>
        </p:txBody>
      </p:sp>
      <p:sp>
        <p:nvSpPr>
          <p:cNvPr id="24" name="Đổ bóng thẻ"/>
          <p:cNvSpPr/>
          <p:nvPr/>
        </p:nvSpPr>
        <p:spPr>
          <a:xfrm>
            <a:off x="6419088" y="4087368"/>
            <a:ext cx="2560320" cy="2103120"/>
          </a:xfrm>
          <a:prstGeom prst="roundRect">
            <a:avLst>
              <a:gd name="adj" fmla="val 6087"/>
            </a:avLst>
          </a:prstGeom>
          <a:solidFill>
            <a:schemeClr val="tx1"/>
          </a:solidFill>
          <a:ln w="6350">
            <a:solidFill>
              <a:schemeClr val="tx1"/>
            </a:solidFill>
            <a:prstDash val="solid"/>
          </a:ln>
        </p:spPr>
      </p:sp>
      <p:sp>
        <p:nvSpPr>
          <p:cNvPr id="25" name="Thẻ"/>
          <p:cNvSpPr/>
          <p:nvPr/>
        </p:nvSpPr>
        <p:spPr>
          <a:xfrm>
            <a:off x="6355080" y="4023360"/>
            <a:ext cx="2560320" cy="2103120"/>
          </a:xfrm>
          <a:prstGeom prst="roundRect">
            <a:avLst>
              <a:gd name="adj" fmla="val 6087"/>
            </a:avLst>
          </a:prstGeom>
          <a:solidFill>
            <a:schemeClr val="bg1"/>
          </a:solidFill>
          <a:ln w="22225">
            <a:solidFill>
              <a:schemeClr val="tx1"/>
            </a:solidFill>
            <a:prstDash val="solid"/>
          </a:ln>
        </p:spPr>
      </p:sp>
      <p:sp>
        <p:nvSpPr>
          <p:cNvPr id="26" name="Text 20"/>
          <p:cNvSpPr txBox="1"/>
          <p:nvPr/>
        </p:nvSpPr>
        <p:spPr>
          <a:xfrm>
            <a:off x="6583680" y="4297680"/>
            <a:ext cx="210312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13</a:t>
            </a:r>
            <a:endParaRPr lang="en-US" sz="5400" dirty="0"/>
          </a:p>
        </p:txBody>
      </p:sp>
      <p:sp>
        <p:nvSpPr>
          <p:cNvPr id="27" name="Text 21"/>
          <p:cNvSpPr txBox="1"/>
          <p:nvPr/>
        </p:nvSpPr>
        <p:spPr>
          <a:xfrm>
            <a:off x="6583680" y="5303520"/>
            <a:ext cx="2103120" cy="6400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chủ đề của hai tập sách</a:t>
            </a:r>
            <a:endParaRPr lang="en-US" sz="1600" dirty="0"/>
          </a:p>
        </p:txBody>
      </p:sp>
      <p:sp>
        <p:nvSpPr>
          <p:cNvPr id="28" name="Đổ bóng thẻ"/>
          <p:cNvSpPr/>
          <p:nvPr/>
        </p:nvSpPr>
        <p:spPr>
          <a:xfrm>
            <a:off x="9162288" y="4087368"/>
            <a:ext cx="2560320" cy="2103120"/>
          </a:xfrm>
          <a:prstGeom prst="roundRect">
            <a:avLst>
              <a:gd name="adj" fmla="val 6087"/>
            </a:avLst>
          </a:prstGeom>
          <a:solidFill>
            <a:schemeClr val="tx1"/>
          </a:solidFill>
          <a:ln w="6350">
            <a:solidFill>
              <a:schemeClr val="tx1"/>
            </a:solidFill>
            <a:prstDash val="solid"/>
          </a:ln>
        </p:spPr>
      </p:sp>
      <p:sp>
        <p:nvSpPr>
          <p:cNvPr id="29" name="Thẻ"/>
          <p:cNvSpPr/>
          <p:nvPr/>
        </p:nvSpPr>
        <p:spPr>
          <a:xfrm>
            <a:off x="9098280" y="4023360"/>
            <a:ext cx="2560320" cy="2103120"/>
          </a:xfrm>
          <a:prstGeom prst="roundRect">
            <a:avLst>
              <a:gd name="adj" fmla="val 6087"/>
            </a:avLst>
          </a:prstGeom>
          <a:solidFill>
            <a:schemeClr val="bg1"/>
          </a:solidFill>
          <a:ln w="22225">
            <a:solidFill>
              <a:schemeClr val="tx1"/>
            </a:solidFill>
            <a:prstDash val="solid"/>
          </a:ln>
        </p:spPr>
      </p:sp>
      <p:sp>
        <p:nvSpPr>
          <p:cNvPr id="30" name="Text 24"/>
          <p:cNvSpPr txBox="1"/>
          <p:nvPr/>
        </p:nvSpPr>
        <p:spPr>
          <a:xfrm>
            <a:off x="9326880" y="4297680"/>
            <a:ext cx="2103120" cy="914400"/>
          </a:xfrm>
          <a:prstGeom prst="rect">
            <a:avLst/>
          </a:prstGeom>
          <a:noFill/>
          <a:ln/>
        </p:spPr>
        <p:txBody>
          <a:bodyPr wrap="square" lIns="0" tIns="0" rIns="0" bIns="0" rtlCol="0" anchor="t"/>
          <a:lstStyle/>
          <a:p>
            <a:pPr indent="0" marL="0">
              <a:buNone/>
            </a:pPr>
            <a:r>
              <a:rPr lang="en-US" sz="5400" b="1" dirty="0">
                <a:solidFill>
                  <a:schemeClr val="accent5"/>
                </a:solidFill>
                <a:latin typeface="Cambria" pitchFamily="34" charset="0"/>
                <a:ea typeface="Cambria" pitchFamily="34" charset="-122"/>
                <a:cs typeface="Cambria" pitchFamily="34" charset="-120"/>
              </a:rPr>
              <a:t>10</a:t>
            </a:r>
            <a:endParaRPr lang="en-US" sz="5400" dirty="0"/>
          </a:p>
        </p:txBody>
      </p:sp>
      <p:sp>
        <p:nvSpPr>
          <p:cNvPr id="31" name="Text 25"/>
          <p:cNvSpPr txBox="1"/>
          <p:nvPr/>
        </p:nvSpPr>
        <p:spPr>
          <a:xfrm>
            <a:off x="9326880" y="5303520"/>
            <a:ext cx="2103120" cy="6400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câu cho mỗi lần làm bài</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Một lượt học chỉ có bốn bước</a:t>
            </a:r>
            <a:endParaRPr lang="en-US" sz="3600" dirty="0"/>
          </a:p>
        </p:txBody>
      </p:sp>
      <p:sp>
        <p:nvSpPr>
          <p:cNvPr id="4" name="Đổ bóng thẻ"/>
          <p:cNvSpPr/>
          <p:nvPr/>
        </p:nvSpPr>
        <p:spPr>
          <a:xfrm>
            <a:off x="612648" y="1755648"/>
            <a:ext cx="2523744" cy="3017520"/>
          </a:xfrm>
          <a:prstGeom prst="roundRect">
            <a:avLst>
              <a:gd name="adj" fmla="val 5072"/>
            </a:avLst>
          </a:prstGeom>
          <a:solidFill>
            <a:schemeClr val="tx1"/>
          </a:solidFill>
          <a:ln w="6350">
            <a:solidFill>
              <a:schemeClr val="tx1"/>
            </a:solidFill>
            <a:prstDash val="solid"/>
          </a:ln>
        </p:spPr>
      </p:sp>
      <p:sp>
        <p:nvSpPr>
          <p:cNvPr id="5" name="Thẻ"/>
          <p:cNvSpPr/>
          <p:nvPr/>
        </p:nvSpPr>
        <p:spPr>
          <a:xfrm>
            <a:off x="548640" y="1691640"/>
            <a:ext cx="2523744" cy="3017520"/>
          </a:xfrm>
          <a:prstGeom prst="roundRect">
            <a:avLst>
              <a:gd name="adj" fmla="val 5072"/>
            </a:avLst>
          </a:prstGeom>
          <a:solidFill>
            <a:schemeClr val="bg1"/>
          </a:solidFill>
          <a:ln w="22225">
            <a:solidFill>
              <a:schemeClr val="tx1"/>
            </a:solidFill>
            <a:prstDash val="solid"/>
          </a:ln>
        </p:spPr>
      </p:sp>
      <p:sp>
        <p:nvSpPr>
          <p:cNvPr id="6" name="Nền biểu tượng"/>
          <p:cNvSpPr/>
          <p:nvPr/>
        </p:nvSpPr>
        <p:spPr>
          <a:xfrm>
            <a:off x="822960" y="1965960"/>
            <a:ext cx="868680" cy="868680"/>
          </a:xfrm>
          <a:prstGeom prst="ellipse">
            <a:avLst/>
          </a:prstGeom>
          <a:solidFill>
            <a:schemeClr val="accent1"/>
          </a:solidFill>
          <a:ln w="19050">
            <a:solidFill>
              <a:schemeClr val="tx1"/>
            </a:solidFill>
            <a:prstDash val="solid"/>
          </a:ln>
        </p:spPr>
      </p:sp>
      <p:pic>
        <p:nvPicPr>
          <p:cNvPr id="7" name="Image 0" descr="assets/ic-key-w.png">    </p:cNvPr>
          <p:cNvPicPr>
            <a:picLocks noChangeAspect="1"/>
          </p:cNvPicPr>
          <p:nvPr/>
        </p:nvPicPr>
        <p:blipFill>
          <a:blip r:embed="rId1"/>
          <a:stretch>
            <a:fillRect/>
          </a:stretch>
        </p:blipFill>
        <p:spPr>
          <a:xfrm>
            <a:off x="1040130" y="2183130"/>
            <a:ext cx="434340" cy="434340"/>
          </a:xfrm>
          <a:prstGeom prst="rect">
            <a:avLst/>
          </a:prstGeom>
        </p:spPr>
      </p:pic>
      <p:sp>
        <p:nvSpPr>
          <p:cNvPr id="8" name="Text 4"/>
          <p:cNvSpPr txBox="1"/>
          <p:nvPr/>
        </p:nvSpPr>
        <p:spPr>
          <a:xfrm>
            <a:off x="2148840" y="1920240"/>
            <a:ext cx="685800" cy="731520"/>
          </a:xfrm>
          <a:prstGeom prst="rect">
            <a:avLst/>
          </a:prstGeom>
          <a:noFill/>
          <a:ln/>
        </p:spPr>
        <p:txBody>
          <a:bodyPr wrap="square" lIns="0" tIns="0" rIns="0" bIns="0" rtlCol="0" anchor="t"/>
          <a:lstStyle/>
          <a:p>
            <a:pPr algn="r" indent="0" marL="0">
              <a:buNone/>
            </a:pPr>
            <a:r>
              <a:rPr lang="en-US" sz="4000" b="1" dirty="0">
                <a:solidFill>
                  <a:schemeClr val="tx2"/>
                </a:solidFill>
                <a:latin typeface="Cambria" pitchFamily="34" charset="0"/>
                <a:ea typeface="Cambria" pitchFamily="34" charset="-122"/>
                <a:cs typeface="Cambria" pitchFamily="34" charset="-120"/>
              </a:rPr>
              <a:t>1</a:t>
            </a:r>
            <a:endParaRPr lang="en-US" sz="4000" dirty="0"/>
          </a:p>
        </p:txBody>
      </p:sp>
      <p:sp>
        <p:nvSpPr>
          <p:cNvPr id="9" name="Text 5"/>
          <p:cNvSpPr txBox="1"/>
          <p:nvPr/>
        </p:nvSpPr>
        <p:spPr>
          <a:xfrm>
            <a:off x="822960" y="3063240"/>
            <a:ext cx="20116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Vào lớp</a:t>
            </a:r>
            <a:endParaRPr lang="en-US" sz="2200" dirty="0"/>
          </a:p>
        </p:txBody>
      </p:sp>
      <p:sp>
        <p:nvSpPr>
          <p:cNvPr id="10" name="Text 6"/>
          <p:cNvSpPr txBox="1"/>
          <p:nvPr/>
        </p:nvSpPr>
        <p:spPr>
          <a:xfrm>
            <a:off x="822960" y="3611880"/>
            <a:ext cx="2011680" cy="10972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Nhập họ tên và chọn ngày sinh.</a:t>
            </a:r>
            <a:endParaRPr lang="en-US" sz="1600" dirty="0"/>
          </a:p>
        </p:txBody>
      </p:sp>
      <p:pic>
        <p:nvPicPr>
          <p:cNvPr id="11" name="Image 1" descr="assets/ic-arrow-i.png">    </p:cNvPr>
          <p:cNvPicPr>
            <a:picLocks noChangeAspect="1"/>
          </p:cNvPicPr>
          <p:nvPr/>
        </p:nvPicPr>
        <p:blipFill>
          <a:blip r:embed="rId2"/>
          <a:stretch>
            <a:fillRect/>
          </a:stretch>
        </p:blipFill>
        <p:spPr>
          <a:xfrm>
            <a:off x="3099816" y="3154680"/>
            <a:ext cx="274320" cy="274320"/>
          </a:xfrm>
          <a:prstGeom prst="rect">
            <a:avLst/>
          </a:prstGeom>
        </p:spPr>
      </p:pic>
      <p:sp>
        <p:nvSpPr>
          <p:cNvPr id="12" name="Đổ bóng thẻ"/>
          <p:cNvSpPr/>
          <p:nvPr/>
        </p:nvSpPr>
        <p:spPr>
          <a:xfrm>
            <a:off x="3474720" y="1755648"/>
            <a:ext cx="2523744" cy="3017520"/>
          </a:xfrm>
          <a:prstGeom prst="roundRect">
            <a:avLst>
              <a:gd name="adj" fmla="val 5072"/>
            </a:avLst>
          </a:prstGeom>
          <a:solidFill>
            <a:schemeClr val="tx1"/>
          </a:solidFill>
          <a:ln w="6350">
            <a:solidFill>
              <a:schemeClr val="tx1"/>
            </a:solidFill>
            <a:prstDash val="solid"/>
          </a:ln>
        </p:spPr>
      </p:sp>
      <p:sp>
        <p:nvSpPr>
          <p:cNvPr id="13" name="Thẻ"/>
          <p:cNvSpPr/>
          <p:nvPr/>
        </p:nvSpPr>
        <p:spPr>
          <a:xfrm>
            <a:off x="3410712" y="1691640"/>
            <a:ext cx="2523744" cy="3017520"/>
          </a:xfrm>
          <a:prstGeom prst="roundRect">
            <a:avLst>
              <a:gd name="adj" fmla="val 5072"/>
            </a:avLst>
          </a:prstGeom>
          <a:solidFill>
            <a:schemeClr val="bg1"/>
          </a:solidFill>
          <a:ln w="22225">
            <a:solidFill>
              <a:schemeClr val="tx1"/>
            </a:solidFill>
            <a:prstDash val="solid"/>
          </a:ln>
        </p:spPr>
      </p:sp>
      <p:sp>
        <p:nvSpPr>
          <p:cNvPr id="14" name="Nền biểu tượng"/>
          <p:cNvSpPr/>
          <p:nvPr/>
        </p:nvSpPr>
        <p:spPr>
          <a:xfrm>
            <a:off x="3685032" y="1965960"/>
            <a:ext cx="868680" cy="868680"/>
          </a:xfrm>
          <a:prstGeom prst="ellipse">
            <a:avLst/>
          </a:prstGeom>
          <a:solidFill>
            <a:schemeClr val="accent5"/>
          </a:solidFill>
          <a:ln w="19050">
            <a:solidFill>
              <a:schemeClr val="tx1"/>
            </a:solidFill>
            <a:prstDash val="solid"/>
          </a:ln>
        </p:spPr>
      </p:sp>
      <p:pic>
        <p:nvPicPr>
          <p:cNvPr id="15" name="Image 2" descr="assets/ic-list-w.png">    </p:cNvPr>
          <p:cNvPicPr>
            <a:picLocks noChangeAspect="1"/>
          </p:cNvPicPr>
          <p:nvPr/>
        </p:nvPicPr>
        <p:blipFill>
          <a:blip r:embed="rId3"/>
          <a:stretch>
            <a:fillRect/>
          </a:stretch>
        </p:blipFill>
        <p:spPr>
          <a:xfrm>
            <a:off x="3902202" y="2183130"/>
            <a:ext cx="434340" cy="434340"/>
          </a:xfrm>
          <a:prstGeom prst="rect">
            <a:avLst/>
          </a:prstGeom>
        </p:spPr>
      </p:pic>
      <p:sp>
        <p:nvSpPr>
          <p:cNvPr id="16" name="Text 10"/>
          <p:cNvSpPr txBox="1"/>
          <p:nvPr/>
        </p:nvSpPr>
        <p:spPr>
          <a:xfrm>
            <a:off x="5010912" y="1920240"/>
            <a:ext cx="685800" cy="731520"/>
          </a:xfrm>
          <a:prstGeom prst="rect">
            <a:avLst/>
          </a:prstGeom>
          <a:noFill/>
          <a:ln/>
        </p:spPr>
        <p:txBody>
          <a:bodyPr wrap="square" lIns="0" tIns="0" rIns="0" bIns="0" rtlCol="0" anchor="t"/>
          <a:lstStyle/>
          <a:p>
            <a:pPr algn="r" indent="0" marL="0">
              <a:buNone/>
            </a:pPr>
            <a:r>
              <a:rPr lang="en-US" sz="4000" b="1" dirty="0">
                <a:solidFill>
                  <a:schemeClr val="tx2"/>
                </a:solidFill>
                <a:latin typeface="Cambria" pitchFamily="34" charset="0"/>
                <a:ea typeface="Cambria" pitchFamily="34" charset="-122"/>
                <a:cs typeface="Cambria" pitchFamily="34" charset="-120"/>
              </a:rPr>
              <a:t>2</a:t>
            </a:r>
            <a:endParaRPr lang="en-US" sz="4000" dirty="0"/>
          </a:p>
        </p:txBody>
      </p:sp>
      <p:sp>
        <p:nvSpPr>
          <p:cNvPr id="17" name="Text 11"/>
          <p:cNvSpPr txBox="1"/>
          <p:nvPr/>
        </p:nvSpPr>
        <p:spPr>
          <a:xfrm>
            <a:off x="3685032" y="3063240"/>
            <a:ext cx="20116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Chọn bài</a:t>
            </a:r>
            <a:endParaRPr lang="en-US" sz="2200" dirty="0"/>
          </a:p>
        </p:txBody>
      </p:sp>
      <p:sp>
        <p:nvSpPr>
          <p:cNvPr id="18" name="Text 12"/>
          <p:cNvSpPr txBox="1"/>
          <p:nvPr/>
        </p:nvSpPr>
        <p:spPr>
          <a:xfrm>
            <a:off x="3685032" y="3611880"/>
            <a:ext cx="2011680" cy="10972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Chọn một trong 73 bài của hai tập sách.</a:t>
            </a:r>
            <a:endParaRPr lang="en-US" sz="1600" dirty="0"/>
          </a:p>
        </p:txBody>
      </p:sp>
      <p:pic>
        <p:nvPicPr>
          <p:cNvPr id="19" name="Image 3" descr="assets/ic-arrow-i.png">    </p:cNvPr>
          <p:cNvPicPr>
            <a:picLocks noChangeAspect="1"/>
          </p:cNvPicPr>
          <p:nvPr/>
        </p:nvPicPr>
        <p:blipFill>
          <a:blip r:embed="rId4"/>
          <a:stretch>
            <a:fillRect/>
          </a:stretch>
        </p:blipFill>
        <p:spPr>
          <a:xfrm>
            <a:off x="5961888" y="3154680"/>
            <a:ext cx="274320" cy="274320"/>
          </a:xfrm>
          <a:prstGeom prst="rect">
            <a:avLst/>
          </a:prstGeom>
        </p:spPr>
      </p:pic>
      <p:sp>
        <p:nvSpPr>
          <p:cNvPr id="20" name="Đổ bóng thẻ"/>
          <p:cNvSpPr/>
          <p:nvPr/>
        </p:nvSpPr>
        <p:spPr>
          <a:xfrm>
            <a:off x="6336792" y="1755648"/>
            <a:ext cx="2523744" cy="3017520"/>
          </a:xfrm>
          <a:prstGeom prst="roundRect">
            <a:avLst>
              <a:gd name="adj" fmla="val 5072"/>
            </a:avLst>
          </a:prstGeom>
          <a:solidFill>
            <a:schemeClr val="tx1"/>
          </a:solidFill>
          <a:ln w="6350">
            <a:solidFill>
              <a:schemeClr val="tx1"/>
            </a:solidFill>
            <a:prstDash val="solid"/>
          </a:ln>
        </p:spPr>
      </p:sp>
      <p:sp>
        <p:nvSpPr>
          <p:cNvPr id="21" name="Thẻ"/>
          <p:cNvSpPr/>
          <p:nvPr/>
        </p:nvSpPr>
        <p:spPr>
          <a:xfrm>
            <a:off x="6272784" y="1691640"/>
            <a:ext cx="2523744" cy="3017520"/>
          </a:xfrm>
          <a:prstGeom prst="roundRect">
            <a:avLst>
              <a:gd name="adj" fmla="val 5072"/>
            </a:avLst>
          </a:prstGeom>
          <a:solidFill>
            <a:schemeClr val="bg1"/>
          </a:solidFill>
          <a:ln w="22225">
            <a:solidFill>
              <a:schemeClr val="tx1"/>
            </a:solidFill>
            <a:prstDash val="solid"/>
          </a:ln>
        </p:spPr>
      </p:sp>
      <p:sp>
        <p:nvSpPr>
          <p:cNvPr id="22" name="Nền biểu tượng"/>
          <p:cNvSpPr/>
          <p:nvPr/>
        </p:nvSpPr>
        <p:spPr>
          <a:xfrm>
            <a:off x="6547104" y="1965960"/>
            <a:ext cx="868680" cy="868680"/>
          </a:xfrm>
          <a:prstGeom prst="ellipse">
            <a:avLst/>
          </a:prstGeom>
          <a:solidFill>
            <a:schemeClr val="accent4"/>
          </a:solidFill>
          <a:ln w="19050">
            <a:solidFill>
              <a:schemeClr val="tx1"/>
            </a:solidFill>
            <a:prstDash val="solid"/>
          </a:ln>
        </p:spPr>
      </p:sp>
      <p:pic>
        <p:nvPicPr>
          <p:cNvPr id="23" name="Image 4" descr="assets/ic-pencil-w.png">    </p:cNvPr>
          <p:cNvPicPr>
            <a:picLocks noChangeAspect="1"/>
          </p:cNvPicPr>
          <p:nvPr/>
        </p:nvPicPr>
        <p:blipFill>
          <a:blip r:embed="rId5"/>
          <a:stretch>
            <a:fillRect/>
          </a:stretch>
        </p:blipFill>
        <p:spPr>
          <a:xfrm>
            <a:off x="6764274" y="2183130"/>
            <a:ext cx="434340" cy="434340"/>
          </a:xfrm>
          <a:prstGeom prst="rect">
            <a:avLst/>
          </a:prstGeom>
        </p:spPr>
      </p:pic>
      <p:sp>
        <p:nvSpPr>
          <p:cNvPr id="24" name="Text 16"/>
          <p:cNvSpPr txBox="1"/>
          <p:nvPr/>
        </p:nvSpPr>
        <p:spPr>
          <a:xfrm>
            <a:off x="7872984" y="1920240"/>
            <a:ext cx="685800" cy="731520"/>
          </a:xfrm>
          <a:prstGeom prst="rect">
            <a:avLst/>
          </a:prstGeom>
          <a:noFill/>
          <a:ln/>
        </p:spPr>
        <p:txBody>
          <a:bodyPr wrap="square" lIns="0" tIns="0" rIns="0" bIns="0" rtlCol="0" anchor="t"/>
          <a:lstStyle/>
          <a:p>
            <a:pPr algn="r" indent="0" marL="0">
              <a:buNone/>
            </a:pPr>
            <a:r>
              <a:rPr lang="en-US" sz="4000" b="1" dirty="0">
                <a:solidFill>
                  <a:schemeClr val="tx2"/>
                </a:solidFill>
                <a:latin typeface="Cambria" pitchFamily="34" charset="0"/>
                <a:ea typeface="Cambria" pitchFamily="34" charset="-122"/>
                <a:cs typeface="Cambria" pitchFamily="34" charset="-120"/>
              </a:rPr>
              <a:t>3</a:t>
            </a:r>
            <a:endParaRPr lang="en-US" sz="4000" dirty="0"/>
          </a:p>
        </p:txBody>
      </p:sp>
      <p:sp>
        <p:nvSpPr>
          <p:cNvPr id="25" name="Text 17"/>
          <p:cNvSpPr txBox="1"/>
          <p:nvPr/>
        </p:nvSpPr>
        <p:spPr>
          <a:xfrm>
            <a:off x="6547104" y="3063240"/>
            <a:ext cx="20116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Làm 10 câu</a:t>
            </a:r>
            <a:endParaRPr lang="en-US" sz="2200" dirty="0"/>
          </a:p>
        </p:txBody>
      </p:sp>
      <p:sp>
        <p:nvSpPr>
          <p:cNvPr id="26" name="Text 18"/>
          <p:cNvSpPr txBox="1"/>
          <p:nvPr/>
        </p:nvSpPr>
        <p:spPr>
          <a:xfrm>
            <a:off x="6547104" y="3611880"/>
            <a:ext cx="2011680" cy="10972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Mỗi câu được khen hoặc động viên ngay.</a:t>
            </a:r>
            <a:endParaRPr lang="en-US" sz="1600" dirty="0"/>
          </a:p>
        </p:txBody>
      </p:sp>
      <p:pic>
        <p:nvPicPr>
          <p:cNvPr id="27" name="Image 5" descr="assets/ic-arrow-i.png">    </p:cNvPr>
          <p:cNvPicPr>
            <a:picLocks noChangeAspect="1"/>
          </p:cNvPicPr>
          <p:nvPr/>
        </p:nvPicPr>
        <p:blipFill>
          <a:blip r:embed="rId6"/>
          <a:stretch>
            <a:fillRect/>
          </a:stretch>
        </p:blipFill>
        <p:spPr>
          <a:xfrm>
            <a:off x="8823960" y="3154680"/>
            <a:ext cx="274320" cy="274320"/>
          </a:xfrm>
          <a:prstGeom prst="rect">
            <a:avLst/>
          </a:prstGeom>
        </p:spPr>
      </p:pic>
      <p:sp>
        <p:nvSpPr>
          <p:cNvPr id="28" name="Đổ bóng thẻ"/>
          <p:cNvSpPr/>
          <p:nvPr/>
        </p:nvSpPr>
        <p:spPr>
          <a:xfrm>
            <a:off x="9198864" y="1755648"/>
            <a:ext cx="2523744" cy="3017520"/>
          </a:xfrm>
          <a:prstGeom prst="roundRect">
            <a:avLst>
              <a:gd name="adj" fmla="val 5072"/>
            </a:avLst>
          </a:prstGeom>
          <a:solidFill>
            <a:schemeClr val="tx1"/>
          </a:solidFill>
          <a:ln w="6350">
            <a:solidFill>
              <a:schemeClr val="tx1"/>
            </a:solidFill>
            <a:prstDash val="solid"/>
          </a:ln>
        </p:spPr>
      </p:sp>
      <p:sp>
        <p:nvSpPr>
          <p:cNvPr id="29" name="Thẻ"/>
          <p:cNvSpPr/>
          <p:nvPr/>
        </p:nvSpPr>
        <p:spPr>
          <a:xfrm>
            <a:off x="9134856" y="1691640"/>
            <a:ext cx="2523744" cy="3017520"/>
          </a:xfrm>
          <a:prstGeom prst="roundRect">
            <a:avLst>
              <a:gd name="adj" fmla="val 5072"/>
            </a:avLst>
          </a:prstGeom>
          <a:solidFill>
            <a:schemeClr val="bg1"/>
          </a:solidFill>
          <a:ln w="22225">
            <a:solidFill>
              <a:schemeClr val="tx1"/>
            </a:solidFill>
            <a:prstDash val="solid"/>
          </a:ln>
        </p:spPr>
      </p:sp>
      <p:sp>
        <p:nvSpPr>
          <p:cNvPr id="30" name="Nền biểu tượng"/>
          <p:cNvSpPr/>
          <p:nvPr/>
        </p:nvSpPr>
        <p:spPr>
          <a:xfrm>
            <a:off x="9409176" y="1965960"/>
            <a:ext cx="868680" cy="868680"/>
          </a:xfrm>
          <a:prstGeom prst="ellipse">
            <a:avLst/>
          </a:prstGeom>
          <a:solidFill>
            <a:schemeClr val="accent3"/>
          </a:solidFill>
          <a:ln w="19050">
            <a:solidFill>
              <a:schemeClr val="tx1"/>
            </a:solidFill>
            <a:prstDash val="solid"/>
          </a:ln>
        </p:spPr>
      </p:sp>
      <p:pic>
        <p:nvPicPr>
          <p:cNvPr id="31" name="Image 6" descr="assets/ic-trophy-w.png">    </p:cNvPr>
          <p:cNvPicPr>
            <a:picLocks noChangeAspect="1"/>
          </p:cNvPicPr>
          <p:nvPr/>
        </p:nvPicPr>
        <p:blipFill>
          <a:blip r:embed="rId7"/>
          <a:stretch>
            <a:fillRect/>
          </a:stretch>
        </p:blipFill>
        <p:spPr>
          <a:xfrm>
            <a:off x="9626346" y="2183130"/>
            <a:ext cx="434340" cy="434340"/>
          </a:xfrm>
          <a:prstGeom prst="rect">
            <a:avLst/>
          </a:prstGeom>
        </p:spPr>
      </p:pic>
      <p:sp>
        <p:nvSpPr>
          <p:cNvPr id="32" name="Text 22"/>
          <p:cNvSpPr txBox="1"/>
          <p:nvPr/>
        </p:nvSpPr>
        <p:spPr>
          <a:xfrm>
            <a:off x="10735056" y="1920240"/>
            <a:ext cx="685800" cy="731520"/>
          </a:xfrm>
          <a:prstGeom prst="rect">
            <a:avLst/>
          </a:prstGeom>
          <a:noFill/>
          <a:ln/>
        </p:spPr>
        <p:txBody>
          <a:bodyPr wrap="square" lIns="0" tIns="0" rIns="0" bIns="0" rtlCol="0" anchor="t"/>
          <a:lstStyle/>
          <a:p>
            <a:pPr algn="r" indent="0" marL="0">
              <a:buNone/>
            </a:pPr>
            <a:r>
              <a:rPr lang="en-US" sz="4000" b="1" dirty="0">
                <a:solidFill>
                  <a:schemeClr val="tx2"/>
                </a:solidFill>
                <a:latin typeface="Cambria" pitchFamily="34" charset="0"/>
                <a:ea typeface="Cambria" pitchFamily="34" charset="-122"/>
                <a:cs typeface="Cambria" pitchFamily="34" charset="-120"/>
              </a:rPr>
              <a:t>4</a:t>
            </a:r>
            <a:endParaRPr lang="en-US" sz="4000" dirty="0"/>
          </a:p>
        </p:txBody>
      </p:sp>
      <p:sp>
        <p:nvSpPr>
          <p:cNvPr id="33" name="Text 23"/>
          <p:cNvSpPr txBox="1"/>
          <p:nvPr/>
        </p:nvSpPr>
        <p:spPr>
          <a:xfrm>
            <a:off x="9409176" y="3063240"/>
            <a:ext cx="20116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Xem kết quả</a:t>
            </a:r>
            <a:endParaRPr lang="en-US" sz="2200" dirty="0"/>
          </a:p>
        </p:txBody>
      </p:sp>
      <p:sp>
        <p:nvSpPr>
          <p:cNvPr id="34" name="Text 24"/>
          <p:cNvSpPr txBox="1"/>
          <p:nvPr/>
        </p:nvSpPr>
        <p:spPr>
          <a:xfrm>
            <a:off x="9409176" y="3611880"/>
            <a:ext cx="2011680" cy="10972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Nhận điểm, số sao và vị trí xếp hạng.</a:t>
            </a:r>
            <a:endParaRPr lang="en-US" sz="1600" dirty="0"/>
          </a:p>
        </p:txBody>
      </p:sp>
      <p:sp>
        <p:nvSpPr>
          <p:cNvPr id="35" name="Shape 25"/>
          <p:cNvSpPr/>
          <p:nvPr/>
        </p:nvSpPr>
        <p:spPr>
          <a:xfrm>
            <a:off x="548640" y="5074920"/>
            <a:ext cx="11091672" cy="822960"/>
          </a:xfrm>
          <a:prstGeom prst="roundRect">
            <a:avLst>
              <a:gd name="adj" fmla="val 15556"/>
            </a:avLst>
          </a:prstGeom>
          <a:solidFill>
            <a:schemeClr val="accent6"/>
          </a:solidFill>
          <a:ln w="9525">
            <a:solidFill>
              <a:schemeClr val="tx1"/>
            </a:solidFill>
            <a:prstDash val="solid"/>
          </a:ln>
        </p:spPr>
      </p:sp>
      <p:sp>
        <p:nvSpPr>
          <p:cNvPr id="36" name="Text 26"/>
          <p:cNvSpPr txBox="1"/>
          <p:nvPr/>
        </p:nvSpPr>
        <p:spPr>
          <a:xfrm>
            <a:off x="822960" y="5074920"/>
            <a:ext cx="10543032"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Làm lại bao nhiêu lần cũng được. Điểm cao nhất của mỗi bài là điểm được tính vào bảng xếp hạng.</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Em chỉ cần nhớ tên và ngày sinh</a:t>
            </a:r>
            <a:endParaRPr lang="en-US" sz="3600" dirty="0"/>
          </a:p>
        </p:txBody>
      </p:sp>
      <p:sp>
        <p:nvSpPr>
          <p:cNvPr id="4" name="Đổ bóng thẻ"/>
          <p:cNvSpPr/>
          <p:nvPr/>
        </p:nvSpPr>
        <p:spPr>
          <a:xfrm>
            <a:off x="612648" y="1755648"/>
            <a:ext cx="5943600" cy="3585378"/>
          </a:xfrm>
          <a:prstGeom prst="roundRect">
            <a:avLst>
              <a:gd name="adj" fmla="val 3571"/>
            </a:avLst>
          </a:prstGeom>
          <a:solidFill>
            <a:schemeClr val="tx1"/>
          </a:solidFill>
          <a:ln w="6350">
            <a:solidFill>
              <a:schemeClr val="tx1"/>
            </a:solidFill>
            <a:prstDash val="solid"/>
          </a:ln>
        </p:spPr>
      </p:sp>
      <p:sp>
        <p:nvSpPr>
          <p:cNvPr id="5" name="Thẻ"/>
          <p:cNvSpPr/>
          <p:nvPr/>
        </p:nvSpPr>
        <p:spPr>
          <a:xfrm>
            <a:off x="548640" y="1691640"/>
            <a:ext cx="5943600" cy="3585378"/>
          </a:xfrm>
          <a:prstGeom prst="roundRect">
            <a:avLst>
              <a:gd name="adj" fmla="val 3571"/>
            </a:avLst>
          </a:prstGeom>
          <a:solidFill>
            <a:schemeClr val="bg1"/>
          </a:solidFill>
          <a:ln w="22225">
            <a:solidFill>
              <a:schemeClr val="tx1"/>
            </a:solidFill>
            <a:prstDash val="solid"/>
          </a:ln>
        </p:spPr>
      </p:sp>
      <p:pic>
        <p:nvPicPr>
          <p:cNvPr id="6" name="Image 0" descr="Màn hình đăng nhập của học sinh">    </p:cNvPr>
          <p:cNvPicPr>
            <a:picLocks noChangeAspect="1"/>
          </p:cNvPicPr>
          <p:nvPr/>
        </p:nvPicPr>
        <p:blipFill>
          <a:blip r:embed="rId1"/>
          <a:stretch>
            <a:fillRect/>
          </a:stretch>
        </p:blipFill>
        <p:spPr>
          <a:xfrm>
            <a:off x="621792" y="1764792"/>
            <a:ext cx="5797296" cy="3439074"/>
          </a:xfrm>
          <a:prstGeom prst="rect">
            <a:avLst/>
          </a:prstGeom>
        </p:spPr>
      </p:pic>
      <p:sp>
        <p:nvSpPr>
          <p:cNvPr id="7" name="Nền biểu tượng"/>
          <p:cNvSpPr/>
          <p:nvPr/>
        </p:nvSpPr>
        <p:spPr>
          <a:xfrm>
            <a:off x="6903720" y="1709928"/>
            <a:ext cx="658368" cy="658368"/>
          </a:xfrm>
          <a:prstGeom prst="ellipse">
            <a:avLst/>
          </a:prstGeom>
          <a:solidFill>
            <a:schemeClr val="accent1"/>
          </a:solidFill>
          <a:ln w="19050">
            <a:solidFill>
              <a:schemeClr val="tx1"/>
            </a:solidFill>
            <a:prstDash val="solid"/>
          </a:ln>
        </p:spPr>
      </p:sp>
      <p:pic>
        <p:nvPicPr>
          <p:cNvPr id="8" name="Image 1" descr="assets/ic-user-w.png">    </p:cNvPr>
          <p:cNvPicPr>
            <a:picLocks noChangeAspect="1"/>
          </p:cNvPicPr>
          <p:nvPr/>
        </p:nvPicPr>
        <p:blipFill>
          <a:blip r:embed="rId2"/>
          <a:stretch>
            <a:fillRect/>
          </a:stretch>
        </p:blipFill>
        <p:spPr>
          <a:xfrm>
            <a:off x="7068312" y="1874520"/>
            <a:ext cx="329184" cy="329184"/>
          </a:xfrm>
          <a:prstGeom prst="rect">
            <a:avLst/>
          </a:prstGeom>
        </p:spPr>
      </p:pic>
      <p:sp>
        <p:nvSpPr>
          <p:cNvPr id="9" name="Text 4"/>
          <p:cNvSpPr txBox="1"/>
          <p:nvPr/>
        </p:nvSpPr>
        <p:spPr>
          <a:xfrm>
            <a:off x="7799832" y="1691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Lần đầu: tự tạo tài khoản</a:t>
            </a:r>
            <a:endParaRPr lang="en-US" sz="1800" dirty="0"/>
          </a:p>
        </p:txBody>
      </p:sp>
      <p:sp>
        <p:nvSpPr>
          <p:cNvPr id="10" name="Text 5"/>
          <p:cNvSpPr txBox="1"/>
          <p:nvPr/>
        </p:nvSpPr>
        <p:spPr>
          <a:xfrm>
            <a:off x="7799832" y="2057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Em nhập họ tên và chọn ngày sinh. Không cần mật khẩu.</a:t>
            </a:r>
            <a:endParaRPr lang="en-US" sz="1500" dirty="0"/>
          </a:p>
        </p:txBody>
      </p:sp>
      <p:sp>
        <p:nvSpPr>
          <p:cNvPr id="11" name="Nền biểu tượng"/>
          <p:cNvSpPr/>
          <p:nvPr/>
        </p:nvSpPr>
        <p:spPr>
          <a:xfrm>
            <a:off x="6903720" y="2852928"/>
            <a:ext cx="658368" cy="658368"/>
          </a:xfrm>
          <a:prstGeom prst="ellipse">
            <a:avLst/>
          </a:prstGeom>
          <a:solidFill>
            <a:schemeClr val="accent4"/>
          </a:solidFill>
          <a:ln w="19050">
            <a:solidFill>
              <a:schemeClr val="tx1"/>
            </a:solidFill>
            <a:prstDash val="solid"/>
          </a:ln>
        </p:spPr>
      </p:sp>
      <p:pic>
        <p:nvPicPr>
          <p:cNvPr id="12" name="Image 2" descr="assets/ic-redo-w.png">    </p:cNvPr>
          <p:cNvPicPr>
            <a:picLocks noChangeAspect="1"/>
          </p:cNvPicPr>
          <p:nvPr/>
        </p:nvPicPr>
        <p:blipFill>
          <a:blip r:embed="rId3"/>
          <a:stretch>
            <a:fillRect/>
          </a:stretch>
        </p:blipFill>
        <p:spPr>
          <a:xfrm>
            <a:off x="7068312" y="3017520"/>
            <a:ext cx="329184" cy="329184"/>
          </a:xfrm>
          <a:prstGeom prst="rect">
            <a:avLst/>
          </a:prstGeom>
        </p:spPr>
      </p:pic>
      <p:sp>
        <p:nvSpPr>
          <p:cNvPr id="13" name="Text 7"/>
          <p:cNvSpPr txBox="1"/>
          <p:nvPr/>
        </p:nvSpPr>
        <p:spPr>
          <a:xfrm>
            <a:off x="7799832" y="2834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Lần sau: nhập lại là vào</a:t>
            </a:r>
            <a:endParaRPr lang="en-US" sz="1800" dirty="0"/>
          </a:p>
        </p:txBody>
      </p:sp>
      <p:sp>
        <p:nvSpPr>
          <p:cNvPr id="14" name="Text 8"/>
          <p:cNvSpPr txBox="1"/>
          <p:nvPr/>
        </p:nvSpPr>
        <p:spPr>
          <a:xfrm>
            <a:off x="7799832" y="3200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Điểm và các bài đã làm vẫn còn nguyên.</a:t>
            </a:r>
            <a:endParaRPr lang="en-US" sz="1500" dirty="0"/>
          </a:p>
        </p:txBody>
      </p:sp>
      <p:sp>
        <p:nvSpPr>
          <p:cNvPr id="15" name="Nền biểu tượng"/>
          <p:cNvSpPr/>
          <p:nvPr/>
        </p:nvSpPr>
        <p:spPr>
          <a:xfrm>
            <a:off x="6903720" y="3995928"/>
            <a:ext cx="658368" cy="658368"/>
          </a:xfrm>
          <a:prstGeom prst="ellipse">
            <a:avLst/>
          </a:prstGeom>
          <a:solidFill>
            <a:schemeClr val="accent5"/>
          </a:solidFill>
          <a:ln w="19050">
            <a:solidFill>
              <a:schemeClr val="tx1"/>
            </a:solidFill>
            <a:prstDash val="solid"/>
          </a:ln>
        </p:spPr>
      </p:sp>
      <p:pic>
        <p:nvPicPr>
          <p:cNvPr id="16" name="Image 3" descr="assets/ic-check-w.png">    </p:cNvPr>
          <p:cNvPicPr>
            <a:picLocks noChangeAspect="1"/>
          </p:cNvPicPr>
          <p:nvPr/>
        </p:nvPicPr>
        <p:blipFill>
          <a:blip r:embed="rId4"/>
          <a:stretch>
            <a:fillRect/>
          </a:stretch>
        </p:blipFill>
        <p:spPr>
          <a:xfrm>
            <a:off x="7068312" y="4160520"/>
            <a:ext cx="329184" cy="329184"/>
          </a:xfrm>
          <a:prstGeom prst="rect">
            <a:avLst/>
          </a:prstGeom>
        </p:spPr>
      </p:pic>
      <p:sp>
        <p:nvSpPr>
          <p:cNvPr id="17" name="Text 10"/>
          <p:cNvSpPr txBox="1"/>
          <p:nvPr/>
        </p:nvSpPr>
        <p:spPr>
          <a:xfrm>
            <a:off x="7799832" y="3977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Gõ hoa, thường, có dấu đều được</a:t>
            </a:r>
            <a:endParaRPr lang="en-US" sz="1800" dirty="0"/>
          </a:p>
        </p:txBody>
      </p:sp>
      <p:sp>
        <p:nvSpPr>
          <p:cNvPr id="18" name="Text 11"/>
          <p:cNvSpPr txBox="1"/>
          <p:nvPr/>
        </p:nvSpPr>
        <p:spPr>
          <a:xfrm>
            <a:off x="7799832" y="4343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Dấu cách thừa cũng không tạo tài khoản mới.</a:t>
            </a:r>
            <a:endParaRPr lang="en-US" sz="1500" dirty="0"/>
          </a:p>
        </p:txBody>
      </p:sp>
      <p:sp>
        <p:nvSpPr>
          <p:cNvPr id="19" name="Nền biểu tượng"/>
          <p:cNvSpPr/>
          <p:nvPr/>
        </p:nvSpPr>
        <p:spPr>
          <a:xfrm>
            <a:off x="6903720" y="5138928"/>
            <a:ext cx="658368" cy="658368"/>
          </a:xfrm>
          <a:prstGeom prst="ellipse">
            <a:avLst/>
          </a:prstGeom>
          <a:solidFill>
            <a:schemeClr val="accent3"/>
          </a:solidFill>
          <a:ln w="19050">
            <a:solidFill>
              <a:schemeClr val="tx1"/>
            </a:solidFill>
            <a:prstDash val="solid"/>
          </a:ln>
        </p:spPr>
      </p:sp>
      <p:pic>
        <p:nvPicPr>
          <p:cNvPr id="20" name="Image 4" descr="assets/ic-users-w.png">    </p:cNvPr>
          <p:cNvPicPr>
            <a:picLocks noChangeAspect="1"/>
          </p:cNvPicPr>
          <p:nvPr/>
        </p:nvPicPr>
        <p:blipFill>
          <a:blip r:embed="rId5"/>
          <a:stretch>
            <a:fillRect/>
          </a:stretch>
        </p:blipFill>
        <p:spPr>
          <a:xfrm>
            <a:off x="7068312" y="5303520"/>
            <a:ext cx="329184" cy="329184"/>
          </a:xfrm>
          <a:prstGeom prst="rect">
            <a:avLst/>
          </a:prstGeom>
        </p:spPr>
      </p:pic>
      <p:sp>
        <p:nvSpPr>
          <p:cNvPr id="21" name="Text 13"/>
          <p:cNvSpPr txBox="1"/>
          <p:nvPr/>
        </p:nvSpPr>
        <p:spPr>
          <a:xfrm>
            <a:off x="7799832" y="5120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Khác ngày sinh là tài khoản khác</a:t>
            </a:r>
            <a:endParaRPr lang="en-US" sz="1800" dirty="0"/>
          </a:p>
        </p:txBody>
      </p:sp>
      <p:sp>
        <p:nvSpPr>
          <p:cNvPr id="22" name="Text 14"/>
          <p:cNvSpPr txBox="1"/>
          <p:nvPr/>
        </p:nvSpPr>
        <p:spPr>
          <a:xfrm>
            <a:off x="7799832" y="5486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Hai bạn trùng tên không bị lẫn điểm.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73 bài, chia theo 13 chủ đề như trong sách</a:t>
            </a:r>
            <a:endParaRPr lang="en-US" sz="3600" dirty="0"/>
          </a:p>
        </p:txBody>
      </p:sp>
      <p:sp>
        <p:nvSpPr>
          <p:cNvPr id="4" name="Nền biểu tượng"/>
          <p:cNvSpPr/>
          <p:nvPr/>
        </p:nvSpPr>
        <p:spPr>
          <a:xfrm>
            <a:off x="548640" y="1755648"/>
            <a:ext cx="658368" cy="658368"/>
          </a:xfrm>
          <a:prstGeom prst="ellipse">
            <a:avLst/>
          </a:prstGeom>
          <a:solidFill>
            <a:schemeClr val="accent1"/>
          </a:solidFill>
          <a:ln w="19050">
            <a:solidFill>
              <a:schemeClr val="tx1"/>
            </a:solidFill>
            <a:prstDash val="solid"/>
          </a:ln>
        </p:spPr>
      </p:sp>
      <p:pic>
        <p:nvPicPr>
          <p:cNvPr id="5" name="Image 0" descr="assets/ic-book-w.png">    </p:cNvPr>
          <p:cNvPicPr>
            <a:picLocks noChangeAspect="1"/>
          </p:cNvPicPr>
          <p:nvPr/>
        </p:nvPicPr>
        <p:blipFill>
          <a:blip r:embed="rId1"/>
          <a:stretch>
            <a:fillRect/>
          </a:stretch>
        </p:blipFill>
        <p:spPr>
          <a:xfrm>
            <a:off x="713232" y="1920240"/>
            <a:ext cx="329184" cy="329184"/>
          </a:xfrm>
          <a:prstGeom prst="rect">
            <a:avLst/>
          </a:prstGeom>
        </p:spPr>
      </p:pic>
      <p:sp>
        <p:nvSpPr>
          <p:cNvPr id="6" name="Text 2"/>
          <p:cNvSpPr txBox="1"/>
          <p:nvPr/>
        </p:nvSpPr>
        <p:spPr>
          <a:xfrm>
            <a:off x="1444752" y="1737360"/>
            <a:ext cx="33101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Tập một và tập hai</a:t>
            </a:r>
            <a:endParaRPr lang="en-US" sz="1800" dirty="0"/>
          </a:p>
        </p:txBody>
      </p:sp>
      <p:sp>
        <p:nvSpPr>
          <p:cNvPr id="7" name="Text 3"/>
          <p:cNvSpPr txBox="1"/>
          <p:nvPr/>
        </p:nvSpPr>
        <p:spPr>
          <a:xfrm>
            <a:off x="1444752" y="2103120"/>
            <a:ext cx="33101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Bài 1 đến 37 và bài 38 đến 73, chọn bằng hai nút.</a:t>
            </a:r>
            <a:endParaRPr lang="en-US" sz="1500" dirty="0"/>
          </a:p>
        </p:txBody>
      </p:sp>
      <p:sp>
        <p:nvSpPr>
          <p:cNvPr id="8" name="Nền biểu tượng"/>
          <p:cNvSpPr/>
          <p:nvPr/>
        </p:nvSpPr>
        <p:spPr>
          <a:xfrm>
            <a:off x="548640" y="3218688"/>
            <a:ext cx="658368" cy="658368"/>
          </a:xfrm>
          <a:prstGeom prst="ellipse">
            <a:avLst/>
          </a:prstGeom>
          <a:solidFill>
            <a:schemeClr val="accent2"/>
          </a:solidFill>
          <a:ln w="19050">
            <a:solidFill>
              <a:schemeClr val="tx1"/>
            </a:solidFill>
            <a:prstDash val="solid"/>
          </a:ln>
        </p:spPr>
      </p:sp>
      <p:pic>
        <p:nvPicPr>
          <p:cNvPr id="9" name="Image 1" descr="assets/ic-star-w.png">    </p:cNvPr>
          <p:cNvPicPr>
            <a:picLocks noChangeAspect="1"/>
          </p:cNvPicPr>
          <p:nvPr/>
        </p:nvPicPr>
        <p:blipFill>
          <a:blip r:embed="rId2"/>
          <a:stretch>
            <a:fillRect/>
          </a:stretch>
        </p:blipFill>
        <p:spPr>
          <a:xfrm>
            <a:off x="713232" y="3383280"/>
            <a:ext cx="329184" cy="329184"/>
          </a:xfrm>
          <a:prstGeom prst="rect">
            <a:avLst/>
          </a:prstGeom>
        </p:spPr>
      </p:pic>
      <p:sp>
        <p:nvSpPr>
          <p:cNvPr id="10" name="Text 5"/>
          <p:cNvSpPr txBox="1"/>
          <p:nvPr/>
        </p:nvSpPr>
        <p:spPr>
          <a:xfrm>
            <a:off x="1444752" y="3200400"/>
            <a:ext cx="33101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Sao theo điểm cao nhất</a:t>
            </a:r>
            <a:endParaRPr lang="en-US" sz="1800" dirty="0"/>
          </a:p>
        </p:txBody>
      </p:sp>
      <p:sp>
        <p:nvSpPr>
          <p:cNvPr id="11" name="Text 6"/>
          <p:cNvSpPr txBox="1"/>
          <p:nvPr/>
        </p:nvSpPr>
        <p:spPr>
          <a:xfrm>
            <a:off x="1444752" y="3566160"/>
            <a:ext cx="33101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Mỗi bài hiện số sao và điểm tốt nhất em đã đạt.</a:t>
            </a:r>
            <a:endParaRPr lang="en-US" sz="1500" dirty="0"/>
          </a:p>
        </p:txBody>
      </p:sp>
      <p:sp>
        <p:nvSpPr>
          <p:cNvPr id="12" name="Nền biểu tượng"/>
          <p:cNvSpPr/>
          <p:nvPr/>
        </p:nvSpPr>
        <p:spPr>
          <a:xfrm>
            <a:off x="548640" y="4681728"/>
            <a:ext cx="658368" cy="658368"/>
          </a:xfrm>
          <a:prstGeom prst="ellipse">
            <a:avLst/>
          </a:prstGeom>
          <a:solidFill>
            <a:schemeClr val="accent4"/>
          </a:solidFill>
          <a:ln w="19050">
            <a:solidFill>
              <a:schemeClr val="tx1"/>
            </a:solidFill>
            <a:prstDash val="solid"/>
          </a:ln>
        </p:spPr>
      </p:sp>
      <p:pic>
        <p:nvPicPr>
          <p:cNvPr id="13" name="Image 2" descr="assets/ic-play-w.png">    </p:cNvPr>
          <p:cNvPicPr>
            <a:picLocks noChangeAspect="1"/>
          </p:cNvPicPr>
          <p:nvPr/>
        </p:nvPicPr>
        <p:blipFill>
          <a:blip r:embed="rId3"/>
          <a:stretch>
            <a:fillRect/>
          </a:stretch>
        </p:blipFill>
        <p:spPr>
          <a:xfrm>
            <a:off x="713232" y="4846320"/>
            <a:ext cx="329184" cy="329184"/>
          </a:xfrm>
          <a:prstGeom prst="rect">
            <a:avLst/>
          </a:prstGeom>
        </p:spPr>
      </p:pic>
      <p:sp>
        <p:nvSpPr>
          <p:cNvPr id="14" name="Text 8"/>
          <p:cNvSpPr txBox="1"/>
          <p:nvPr/>
        </p:nvSpPr>
        <p:spPr>
          <a:xfrm>
            <a:off x="1444752" y="4663440"/>
            <a:ext cx="33101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Nút làm tiếp</a:t>
            </a:r>
            <a:endParaRPr lang="en-US" sz="1800" dirty="0"/>
          </a:p>
        </p:txBody>
      </p:sp>
      <p:sp>
        <p:nvSpPr>
          <p:cNvPr id="15" name="Text 9"/>
          <p:cNvSpPr txBox="1"/>
          <p:nvPr/>
        </p:nvSpPr>
        <p:spPr>
          <a:xfrm>
            <a:off x="1444752" y="5029200"/>
            <a:ext cx="33101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Một nút đưa em tới bài chưa làm đầu tiên.</a:t>
            </a:r>
            <a:endParaRPr lang="en-US" sz="1500" dirty="0"/>
          </a:p>
        </p:txBody>
      </p:sp>
      <p:sp>
        <p:nvSpPr>
          <p:cNvPr id="16" name="Đổ bóng thẻ"/>
          <p:cNvSpPr/>
          <p:nvPr/>
        </p:nvSpPr>
        <p:spPr>
          <a:xfrm>
            <a:off x="5138928" y="1755648"/>
            <a:ext cx="6556248" cy="4274743"/>
          </a:xfrm>
          <a:prstGeom prst="roundRect">
            <a:avLst>
              <a:gd name="adj" fmla="val 2995"/>
            </a:avLst>
          </a:prstGeom>
          <a:solidFill>
            <a:schemeClr val="tx1"/>
          </a:solidFill>
          <a:ln w="6350">
            <a:solidFill>
              <a:schemeClr val="tx1"/>
            </a:solidFill>
            <a:prstDash val="solid"/>
          </a:ln>
        </p:spPr>
      </p:sp>
      <p:sp>
        <p:nvSpPr>
          <p:cNvPr id="17" name="Thẻ"/>
          <p:cNvSpPr/>
          <p:nvPr/>
        </p:nvSpPr>
        <p:spPr>
          <a:xfrm>
            <a:off x="5074920" y="1691640"/>
            <a:ext cx="6556248" cy="4274743"/>
          </a:xfrm>
          <a:prstGeom prst="roundRect">
            <a:avLst>
              <a:gd name="adj" fmla="val 2995"/>
            </a:avLst>
          </a:prstGeom>
          <a:solidFill>
            <a:schemeClr val="bg1"/>
          </a:solidFill>
          <a:ln w="22225">
            <a:solidFill>
              <a:schemeClr val="tx1"/>
            </a:solidFill>
            <a:prstDash val="solid"/>
          </a:ln>
        </p:spPr>
      </p:sp>
      <p:pic>
        <p:nvPicPr>
          <p:cNvPr id="18" name="Image 3" descr="Trang danh sách bài học với số sao và điểm">    </p:cNvPr>
          <p:cNvPicPr>
            <a:picLocks noChangeAspect="1"/>
          </p:cNvPicPr>
          <p:nvPr/>
        </p:nvPicPr>
        <p:blipFill>
          <a:blip r:embed="rId4"/>
          <a:stretch>
            <a:fillRect/>
          </a:stretch>
        </p:blipFill>
        <p:spPr>
          <a:xfrm>
            <a:off x="5148072" y="1764792"/>
            <a:ext cx="6409944" cy="4128439"/>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Mỗi bài mở đầu bằng phần Em cần nhớ</a:t>
            </a:r>
            <a:endParaRPr lang="en-US" sz="3600" dirty="0"/>
          </a:p>
        </p:txBody>
      </p:sp>
      <p:sp>
        <p:nvSpPr>
          <p:cNvPr id="4" name="Đổ bóng thẻ"/>
          <p:cNvSpPr/>
          <p:nvPr/>
        </p:nvSpPr>
        <p:spPr>
          <a:xfrm>
            <a:off x="612648" y="1755648"/>
            <a:ext cx="5943600" cy="3856573"/>
          </a:xfrm>
          <a:prstGeom prst="roundRect">
            <a:avLst>
              <a:gd name="adj" fmla="val 3319"/>
            </a:avLst>
          </a:prstGeom>
          <a:solidFill>
            <a:schemeClr val="tx1"/>
          </a:solidFill>
          <a:ln w="6350">
            <a:solidFill>
              <a:schemeClr val="tx1"/>
            </a:solidFill>
            <a:prstDash val="solid"/>
          </a:ln>
        </p:spPr>
      </p:sp>
      <p:sp>
        <p:nvSpPr>
          <p:cNvPr id="5" name="Thẻ"/>
          <p:cNvSpPr/>
          <p:nvPr/>
        </p:nvSpPr>
        <p:spPr>
          <a:xfrm>
            <a:off x="548640" y="1691640"/>
            <a:ext cx="5943600" cy="3856573"/>
          </a:xfrm>
          <a:prstGeom prst="roundRect">
            <a:avLst>
              <a:gd name="adj" fmla="val 3319"/>
            </a:avLst>
          </a:prstGeom>
          <a:solidFill>
            <a:schemeClr val="bg1"/>
          </a:solidFill>
          <a:ln w="22225">
            <a:solidFill>
              <a:schemeClr val="tx1"/>
            </a:solidFill>
            <a:prstDash val="solid"/>
          </a:ln>
        </p:spPr>
      </p:sp>
      <p:pic>
        <p:nvPicPr>
          <p:cNvPr id="6" name="Image 0" descr="Trang mở đầu bài 58 với phần Em cần nhớ">    </p:cNvPr>
          <p:cNvPicPr>
            <a:picLocks noChangeAspect="1"/>
          </p:cNvPicPr>
          <p:nvPr/>
        </p:nvPicPr>
        <p:blipFill>
          <a:blip r:embed="rId1"/>
          <a:stretch>
            <a:fillRect/>
          </a:stretch>
        </p:blipFill>
        <p:spPr>
          <a:xfrm>
            <a:off x="621792" y="1764792"/>
            <a:ext cx="5797296" cy="3710269"/>
          </a:xfrm>
          <a:prstGeom prst="rect">
            <a:avLst/>
          </a:prstGeom>
        </p:spPr>
      </p:pic>
      <p:sp>
        <p:nvSpPr>
          <p:cNvPr id="7" name="Nền biểu tượng"/>
          <p:cNvSpPr/>
          <p:nvPr/>
        </p:nvSpPr>
        <p:spPr>
          <a:xfrm>
            <a:off x="6903720" y="1755648"/>
            <a:ext cx="658368" cy="658368"/>
          </a:xfrm>
          <a:prstGeom prst="ellipse">
            <a:avLst/>
          </a:prstGeom>
          <a:solidFill>
            <a:schemeClr val="accent1"/>
          </a:solidFill>
          <a:ln w="19050">
            <a:solidFill>
              <a:schemeClr val="tx1"/>
            </a:solidFill>
            <a:prstDash val="solid"/>
          </a:ln>
        </p:spPr>
      </p:sp>
      <p:pic>
        <p:nvPicPr>
          <p:cNvPr id="8" name="Image 1" descr="assets/ic-book-w.png">    </p:cNvPr>
          <p:cNvPicPr>
            <a:picLocks noChangeAspect="1"/>
          </p:cNvPicPr>
          <p:nvPr/>
        </p:nvPicPr>
        <p:blipFill>
          <a:blip r:embed="rId2"/>
          <a:stretch>
            <a:fillRect/>
          </a:stretch>
        </p:blipFill>
        <p:spPr>
          <a:xfrm>
            <a:off x="7068312" y="1920240"/>
            <a:ext cx="329184" cy="329184"/>
          </a:xfrm>
          <a:prstGeom prst="rect">
            <a:avLst/>
          </a:prstGeom>
        </p:spPr>
      </p:pic>
      <p:sp>
        <p:nvSpPr>
          <p:cNvPr id="9" name="Text 4"/>
          <p:cNvSpPr txBox="1"/>
          <p:nvPr/>
        </p:nvSpPr>
        <p:spPr>
          <a:xfrm>
            <a:off x="7799832" y="173736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Nhắc lại kiến thức</a:t>
            </a:r>
            <a:endParaRPr lang="en-US" sz="1800" dirty="0"/>
          </a:p>
        </p:txBody>
      </p:sp>
      <p:sp>
        <p:nvSpPr>
          <p:cNvPr id="10" name="Text 5"/>
          <p:cNvSpPr txBox="1"/>
          <p:nvPr/>
        </p:nvSpPr>
        <p:spPr>
          <a:xfrm>
            <a:off x="7799832" y="210312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Quy tắc ngắn gọn của bài, đọc xong mới bắt đầu làm.</a:t>
            </a:r>
            <a:endParaRPr lang="en-US" sz="1500" dirty="0"/>
          </a:p>
        </p:txBody>
      </p:sp>
      <p:sp>
        <p:nvSpPr>
          <p:cNvPr id="11" name="Nền biểu tượng"/>
          <p:cNvSpPr/>
          <p:nvPr/>
        </p:nvSpPr>
        <p:spPr>
          <a:xfrm>
            <a:off x="6903720" y="3081528"/>
            <a:ext cx="658368" cy="658368"/>
          </a:xfrm>
          <a:prstGeom prst="ellipse">
            <a:avLst/>
          </a:prstGeom>
          <a:solidFill>
            <a:schemeClr val="accent5"/>
          </a:solidFill>
          <a:ln w="19050">
            <a:solidFill>
              <a:schemeClr val="tx1"/>
            </a:solidFill>
            <a:prstDash val="solid"/>
          </a:ln>
        </p:spPr>
      </p:sp>
      <p:pic>
        <p:nvPicPr>
          <p:cNvPr id="12" name="Image 2" descr="assets/ic-random-w.png">    </p:cNvPr>
          <p:cNvPicPr>
            <a:picLocks noChangeAspect="1"/>
          </p:cNvPicPr>
          <p:nvPr/>
        </p:nvPicPr>
        <p:blipFill>
          <a:blip r:embed="rId3"/>
          <a:stretch>
            <a:fillRect/>
          </a:stretch>
        </p:blipFill>
        <p:spPr>
          <a:xfrm>
            <a:off x="7068312" y="3246120"/>
            <a:ext cx="329184" cy="329184"/>
          </a:xfrm>
          <a:prstGeom prst="rect">
            <a:avLst/>
          </a:prstGeom>
        </p:spPr>
      </p:pic>
      <p:sp>
        <p:nvSpPr>
          <p:cNvPr id="13" name="Text 7"/>
          <p:cNvSpPr txBox="1"/>
          <p:nvPr/>
        </p:nvSpPr>
        <p:spPr>
          <a:xfrm>
            <a:off x="7799832" y="30632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Tối đa 10 câu, rút ngẫu nhiên</a:t>
            </a:r>
            <a:endParaRPr lang="en-US" sz="1800" dirty="0"/>
          </a:p>
        </p:txBody>
      </p:sp>
      <p:sp>
        <p:nvSpPr>
          <p:cNvPr id="14" name="Text 8"/>
          <p:cNvSpPr txBox="1"/>
          <p:nvPr/>
        </p:nvSpPr>
        <p:spPr>
          <a:xfrm>
            <a:off x="7799832" y="34290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Mỗi bài có từ 8 đến 32 câu; mỗi lần làm gặp bộ câu khác nhau.</a:t>
            </a:r>
            <a:endParaRPr lang="en-US" sz="1500" dirty="0"/>
          </a:p>
        </p:txBody>
      </p:sp>
      <p:sp>
        <p:nvSpPr>
          <p:cNvPr id="15" name="Nền biểu tượng"/>
          <p:cNvSpPr/>
          <p:nvPr/>
        </p:nvSpPr>
        <p:spPr>
          <a:xfrm>
            <a:off x="6903720" y="4407408"/>
            <a:ext cx="658368" cy="658368"/>
          </a:xfrm>
          <a:prstGeom prst="ellipse">
            <a:avLst/>
          </a:prstGeom>
          <a:solidFill>
            <a:schemeClr val="accent4"/>
          </a:solidFill>
          <a:ln w="19050">
            <a:solidFill>
              <a:schemeClr val="tx1"/>
            </a:solidFill>
            <a:prstDash val="solid"/>
          </a:ln>
        </p:spPr>
      </p:sp>
      <p:pic>
        <p:nvPicPr>
          <p:cNvPr id="16" name="Image 3" descr="assets/ic-redo-w.png">    </p:cNvPr>
          <p:cNvPicPr>
            <a:picLocks noChangeAspect="1"/>
          </p:cNvPicPr>
          <p:nvPr/>
        </p:nvPicPr>
        <p:blipFill>
          <a:blip r:embed="rId4"/>
          <a:stretch>
            <a:fillRect/>
          </a:stretch>
        </p:blipFill>
        <p:spPr>
          <a:xfrm>
            <a:off x="7068312" y="4572000"/>
            <a:ext cx="329184" cy="329184"/>
          </a:xfrm>
          <a:prstGeom prst="rect">
            <a:avLst/>
          </a:prstGeom>
        </p:spPr>
      </p:pic>
      <p:sp>
        <p:nvSpPr>
          <p:cNvPr id="17" name="Text 10"/>
          <p:cNvSpPr txBox="1"/>
          <p:nvPr/>
        </p:nvSpPr>
        <p:spPr>
          <a:xfrm>
            <a:off x="7799832" y="438912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Đáp án cũng được xáo trộn</a:t>
            </a:r>
            <a:endParaRPr lang="en-US" sz="1800" dirty="0"/>
          </a:p>
        </p:txBody>
      </p:sp>
      <p:sp>
        <p:nvSpPr>
          <p:cNvPr id="18" name="Text 11"/>
          <p:cNvSpPr txBox="1"/>
          <p:nvPr/>
        </p:nvSpPr>
        <p:spPr>
          <a:xfrm>
            <a:off x="7799832" y="475488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Thứ tự A, B, C, D đổi mỗi lần nên không học vẹt vị trí.</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Câu hỏi có hình minh hoạ vẽ sẵn</a:t>
            </a:r>
            <a:endParaRPr lang="en-US" sz="3600" dirty="0"/>
          </a:p>
        </p:txBody>
      </p:sp>
      <p:sp>
        <p:nvSpPr>
          <p:cNvPr id="4" name="Đổ bóng thẻ"/>
          <p:cNvSpPr/>
          <p:nvPr/>
        </p:nvSpPr>
        <p:spPr>
          <a:xfrm>
            <a:off x="612648" y="1755648"/>
            <a:ext cx="4937760" cy="4075298"/>
          </a:xfrm>
          <a:prstGeom prst="roundRect">
            <a:avLst>
              <a:gd name="adj" fmla="val 3141"/>
            </a:avLst>
          </a:prstGeom>
          <a:solidFill>
            <a:schemeClr val="tx1"/>
          </a:solidFill>
          <a:ln w="6350">
            <a:solidFill>
              <a:schemeClr val="tx1"/>
            </a:solidFill>
            <a:prstDash val="solid"/>
          </a:ln>
        </p:spPr>
      </p:sp>
      <p:sp>
        <p:nvSpPr>
          <p:cNvPr id="5" name="Thẻ"/>
          <p:cNvSpPr/>
          <p:nvPr/>
        </p:nvSpPr>
        <p:spPr>
          <a:xfrm>
            <a:off x="548640" y="1691640"/>
            <a:ext cx="4937760" cy="4075298"/>
          </a:xfrm>
          <a:prstGeom prst="roundRect">
            <a:avLst>
              <a:gd name="adj" fmla="val 3141"/>
            </a:avLst>
          </a:prstGeom>
          <a:solidFill>
            <a:schemeClr val="bg1"/>
          </a:solidFill>
          <a:ln w="22225">
            <a:solidFill>
              <a:schemeClr val="tx1"/>
            </a:solidFill>
            <a:prstDash val="solid"/>
          </a:ln>
        </p:spPr>
      </p:sp>
      <p:pic>
        <p:nvPicPr>
          <p:cNvPr id="6" name="Image 0" descr="Câu hỏi có biểu đồ cột">    </p:cNvPr>
          <p:cNvPicPr>
            <a:picLocks noChangeAspect="1"/>
          </p:cNvPicPr>
          <p:nvPr/>
        </p:nvPicPr>
        <p:blipFill>
          <a:blip r:embed="rId1"/>
          <a:stretch>
            <a:fillRect/>
          </a:stretch>
        </p:blipFill>
        <p:spPr>
          <a:xfrm>
            <a:off x="621792" y="1764792"/>
            <a:ext cx="4791456" cy="3928994"/>
          </a:xfrm>
          <a:prstGeom prst="rect">
            <a:avLst/>
          </a:prstGeom>
        </p:spPr>
      </p:pic>
      <p:sp>
        <p:nvSpPr>
          <p:cNvPr id="7" name="Đổ bóng thẻ"/>
          <p:cNvSpPr/>
          <p:nvPr/>
        </p:nvSpPr>
        <p:spPr>
          <a:xfrm>
            <a:off x="6766560" y="1755648"/>
            <a:ext cx="4937760" cy="4075298"/>
          </a:xfrm>
          <a:prstGeom prst="roundRect">
            <a:avLst>
              <a:gd name="adj" fmla="val 3141"/>
            </a:avLst>
          </a:prstGeom>
          <a:solidFill>
            <a:schemeClr val="tx1"/>
          </a:solidFill>
          <a:ln w="6350">
            <a:solidFill>
              <a:schemeClr val="tx1"/>
            </a:solidFill>
            <a:prstDash val="solid"/>
          </a:ln>
        </p:spPr>
      </p:sp>
      <p:sp>
        <p:nvSpPr>
          <p:cNvPr id="8" name="Thẻ"/>
          <p:cNvSpPr/>
          <p:nvPr/>
        </p:nvSpPr>
        <p:spPr>
          <a:xfrm>
            <a:off x="6702552" y="1691640"/>
            <a:ext cx="4937760" cy="4075298"/>
          </a:xfrm>
          <a:prstGeom prst="roundRect">
            <a:avLst>
              <a:gd name="adj" fmla="val 3141"/>
            </a:avLst>
          </a:prstGeom>
          <a:solidFill>
            <a:schemeClr val="bg1"/>
          </a:solidFill>
          <a:ln w="22225">
            <a:solidFill>
              <a:schemeClr val="tx1"/>
            </a:solidFill>
            <a:prstDash val="solid"/>
          </a:ln>
        </p:spPr>
      </p:sp>
      <p:pic>
        <p:nvPicPr>
          <p:cNvPr id="9" name="Image 1" descr="Câu hỏi nhận biết góc">    </p:cNvPr>
          <p:cNvPicPr>
            <a:picLocks noChangeAspect="1"/>
          </p:cNvPicPr>
          <p:nvPr/>
        </p:nvPicPr>
        <p:blipFill>
          <a:blip r:embed="rId2"/>
          <a:stretch>
            <a:fillRect/>
          </a:stretch>
        </p:blipFill>
        <p:spPr>
          <a:xfrm>
            <a:off x="6775704" y="1764792"/>
            <a:ext cx="4791456" cy="3928994"/>
          </a:xfrm>
          <a:prstGeom prst="rect">
            <a:avLst/>
          </a:prstGeom>
        </p:spPr>
      </p:pic>
      <p:sp>
        <p:nvSpPr>
          <p:cNvPr id="10" name="Text 5"/>
          <p:cNvSpPr txBox="1"/>
          <p:nvPr/>
        </p:nvSpPr>
        <p:spPr>
          <a:xfrm>
            <a:off x="548640" y="5949818"/>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Biểu đồ cột: đọc số liệu rồi trả lời</a:t>
            </a:r>
            <a:endParaRPr lang="en-US" sz="1600" dirty="0"/>
          </a:p>
        </p:txBody>
      </p:sp>
      <p:sp>
        <p:nvSpPr>
          <p:cNvPr id="11" name="Text 6"/>
          <p:cNvSpPr txBox="1"/>
          <p:nvPr/>
        </p:nvSpPr>
        <p:spPr>
          <a:xfrm>
            <a:off x="6702552" y="5949818"/>
            <a:ext cx="49377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Hình góc: nhận biết góc nhọn, tù, vuông, bẹt</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Hai dạng câu: chọn đáp án và điền số</a:t>
            </a:r>
            <a:endParaRPr lang="en-US" sz="3600" dirty="0"/>
          </a:p>
        </p:txBody>
      </p:sp>
      <p:graphicFrame>
        <p:nvGraphicFramePr>
          <p:cNvPr id="4" name="Chart 0" descr=""/>
          <p:cNvGraphicFramePr/>
          <p:nvPr/>
        </p:nvGraphicFramePr>
        <p:xfrm>
          <a:off x="548640" y="164592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5" name="Nền biểu tượng"/>
          <p:cNvSpPr/>
          <p:nvPr/>
        </p:nvSpPr>
        <p:spPr>
          <a:xfrm>
            <a:off x="6172200" y="1801368"/>
            <a:ext cx="658368" cy="658368"/>
          </a:xfrm>
          <a:prstGeom prst="ellipse">
            <a:avLst/>
          </a:prstGeom>
          <a:solidFill>
            <a:schemeClr val="accent1"/>
          </a:solidFill>
          <a:ln w="19050">
            <a:solidFill>
              <a:schemeClr val="tx1"/>
            </a:solidFill>
            <a:prstDash val="solid"/>
          </a:ln>
        </p:spPr>
      </p:sp>
      <p:pic>
        <p:nvPicPr>
          <p:cNvPr id="6" name="Image 0" descr="assets/ic-list-w.png">    </p:cNvPr>
          <p:cNvPicPr>
            <a:picLocks noChangeAspect="1"/>
          </p:cNvPicPr>
          <p:nvPr/>
        </p:nvPicPr>
        <p:blipFill>
          <a:blip r:embed="rId2"/>
          <a:stretch>
            <a:fillRect/>
          </a:stretch>
        </p:blipFill>
        <p:spPr>
          <a:xfrm>
            <a:off x="6336792" y="1965960"/>
            <a:ext cx="329184" cy="329184"/>
          </a:xfrm>
          <a:prstGeom prst="rect">
            <a:avLst/>
          </a:prstGeom>
        </p:spPr>
      </p:pic>
      <p:sp>
        <p:nvSpPr>
          <p:cNvPr id="7" name="Text 2"/>
          <p:cNvSpPr txBox="1"/>
          <p:nvPr/>
        </p:nvSpPr>
        <p:spPr>
          <a:xfrm>
            <a:off x="7068312" y="1783080"/>
            <a:ext cx="454456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Trắc nghiệm</a:t>
            </a:r>
            <a:endParaRPr lang="en-US" sz="1800" dirty="0"/>
          </a:p>
        </p:txBody>
      </p:sp>
      <p:sp>
        <p:nvSpPr>
          <p:cNvPr id="8" name="Text 3"/>
          <p:cNvSpPr txBox="1"/>
          <p:nvPr/>
        </p:nvSpPr>
        <p:spPr>
          <a:xfrm>
            <a:off x="7068312" y="2148840"/>
            <a:ext cx="454456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Chọn một đáp án A, B, C, D hoặc Đúng, Sai. Bấm là có kết quả ngay.</a:t>
            </a:r>
            <a:endParaRPr lang="en-US" sz="1500" dirty="0"/>
          </a:p>
        </p:txBody>
      </p:sp>
      <p:sp>
        <p:nvSpPr>
          <p:cNvPr id="9" name="Nền biểu tượng"/>
          <p:cNvSpPr/>
          <p:nvPr/>
        </p:nvSpPr>
        <p:spPr>
          <a:xfrm>
            <a:off x="6172200" y="3218688"/>
            <a:ext cx="658368" cy="658368"/>
          </a:xfrm>
          <a:prstGeom prst="ellipse">
            <a:avLst/>
          </a:prstGeom>
          <a:solidFill>
            <a:schemeClr val="accent3"/>
          </a:solidFill>
          <a:ln w="19050">
            <a:solidFill>
              <a:schemeClr val="tx1"/>
            </a:solidFill>
            <a:prstDash val="solid"/>
          </a:ln>
        </p:spPr>
      </p:sp>
      <p:pic>
        <p:nvPicPr>
          <p:cNvPr id="10" name="Image 1" descr="assets/ic-pencil-w.png">    </p:cNvPr>
          <p:cNvPicPr>
            <a:picLocks noChangeAspect="1"/>
          </p:cNvPicPr>
          <p:nvPr/>
        </p:nvPicPr>
        <p:blipFill>
          <a:blip r:embed="rId3"/>
          <a:stretch>
            <a:fillRect/>
          </a:stretch>
        </p:blipFill>
        <p:spPr>
          <a:xfrm>
            <a:off x="6336792" y="3383280"/>
            <a:ext cx="329184" cy="329184"/>
          </a:xfrm>
          <a:prstGeom prst="rect">
            <a:avLst/>
          </a:prstGeom>
        </p:spPr>
      </p:pic>
      <p:sp>
        <p:nvSpPr>
          <p:cNvPr id="11" name="Text 5"/>
          <p:cNvSpPr txBox="1"/>
          <p:nvPr/>
        </p:nvSpPr>
        <p:spPr>
          <a:xfrm>
            <a:off x="7068312" y="3200400"/>
            <a:ext cx="454456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Điền số</a:t>
            </a:r>
            <a:endParaRPr lang="en-US" sz="1800" dirty="0"/>
          </a:p>
        </p:txBody>
      </p:sp>
      <p:sp>
        <p:nvSpPr>
          <p:cNvPr id="12" name="Text 6"/>
          <p:cNvSpPr txBox="1"/>
          <p:nvPr/>
        </p:nvSpPr>
        <p:spPr>
          <a:xfrm>
            <a:off x="7068312" y="3566160"/>
            <a:ext cx="454456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Gõ kết quả, có đơn vị cho sẵn. Số gõ có dấu cách hoặc dấu chấm ngăn hàng nghìn vẫn được nhận.</a:t>
            </a:r>
            <a:endParaRPr lang="en-US" sz="1500" dirty="0"/>
          </a:p>
        </p:txBody>
      </p:sp>
      <p:sp>
        <p:nvSpPr>
          <p:cNvPr id="13" name="Nền biểu tượng"/>
          <p:cNvSpPr/>
          <p:nvPr/>
        </p:nvSpPr>
        <p:spPr>
          <a:xfrm>
            <a:off x="6172200" y="4636008"/>
            <a:ext cx="658368" cy="658368"/>
          </a:xfrm>
          <a:prstGeom prst="ellipse">
            <a:avLst/>
          </a:prstGeom>
          <a:solidFill>
            <a:schemeClr val="accent5"/>
          </a:solidFill>
          <a:ln w="19050">
            <a:solidFill>
              <a:schemeClr val="tx1"/>
            </a:solidFill>
            <a:prstDash val="solid"/>
          </a:ln>
        </p:spPr>
      </p:sp>
      <p:pic>
        <p:nvPicPr>
          <p:cNvPr id="14" name="Image 2" descr="assets/ic-puzzle-w.png">    </p:cNvPr>
          <p:cNvPicPr>
            <a:picLocks noChangeAspect="1"/>
          </p:cNvPicPr>
          <p:nvPr/>
        </p:nvPicPr>
        <p:blipFill>
          <a:blip r:embed="rId4"/>
          <a:stretch>
            <a:fillRect/>
          </a:stretch>
        </p:blipFill>
        <p:spPr>
          <a:xfrm>
            <a:off x="6336792" y="4800600"/>
            <a:ext cx="329184" cy="329184"/>
          </a:xfrm>
          <a:prstGeom prst="rect">
            <a:avLst/>
          </a:prstGeom>
        </p:spPr>
      </p:pic>
      <p:sp>
        <p:nvSpPr>
          <p:cNvPr id="15" name="Text 8"/>
          <p:cNvSpPr txBox="1"/>
          <p:nvPr/>
        </p:nvSpPr>
        <p:spPr>
          <a:xfrm>
            <a:off x="7068312" y="4617720"/>
            <a:ext cx="454456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Phân số xếp chồng</a:t>
            </a:r>
            <a:endParaRPr lang="en-US" sz="1800" dirty="0"/>
          </a:p>
        </p:txBody>
      </p:sp>
      <p:sp>
        <p:nvSpPr>
          <p:cNvPr id="16" name="Text 9"/>
          <p:cNvSpPr txBox="1"/>
          <p:nvPr/>
        </p:nvSpPr>
        <p:spPr>
          <a:xfrm>
            <a:off x="7068312" y="4983480"/>
            <a:ext cx="454456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Tử số trên, mẫu số dưới như trong sách, không viết dạng a/b.</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Đúng thì khen, sai thì động viên</a:t>
            </a:r>
            <a:endParaRPr lang="en-US" sz="3600" dirty="0"/>
          </a:p>
        </p:txBody>
      </p:sp>
      <p:sp>
        <p:nvSpPr>
          <p:cNvPr id="4" name="Đổ bóng thẻ"/>
          <p:cNvSpPr/>
          <p:nvPr/>
        </p:nvSpPr>
        <p:spPr>
          <a:xfrm>
            <a:off x="612648" y="1755648"/>
            <a:ext cx="5120640" cy="3926799"/>
          </a:xfrm>
          <a:prstGeom prst="roundRect">
            <a:avLst>
              <a:gd name="adj" fmla="val 3260"/>
            </a:avLst>
          </a:prstGeom>
          <a:solidFill>
            <a:schemeClr val="tx1"/>
          </a:solidFill>
          <a:ln w="6350">
            <a:solidFill>
              <a:schemeClr val="tx1"/>
            </a:solidFill>
            <a:prstDash val="solid"/>
          </a:ln>
        </p:spPr>
      </p:sp>
      <p:sp>
        <p:nvSpPr>
          <p:cNvPr id="5" name="Thẻ"/>
          <p:cNvSpPr/>
          <p:nvPr/>
        </p:nvSpPr>
        <p:spPr>
          <a:xfrm>
            <a:off x="548640" y="1691640"/>
            <a:ext cx="5120640" cy="3926799"/>
          </a:xfrm>
          <a:prstGeom prst="roundRect">
            <a:avLst>
              <a:gd name="adj" fmla="val 3260"/>
            </a:avLst>
          </a:prstGeom>
          <a:solidFill>
            <a:schemeClr val="bg1"/>
          </a:solidFill>
          <a:ln w="22225">
            <a:solidFill>
              <a:schemeClr val="tx1"/>
            </a:solidFill>
            <a:prstDash val="solid"/>
          </a:ln>
        </p:spPr>
      </p:sp>
      <p:pic>
        <p:nvPicPr>
          <p:cNvPr id="6" name="Image 0" descr="Phản hồi khi trả lời đúng">    </p:cNvPr>
          <p:cNvPicPr>
            <a:picLocks noChangeAspect="1"/>
          </p:cNvPicPr>
          <p:nvPr/>
        </p:nvPicPr>
        <p:blipFill>
          <a:blip r:embed="rId1"/>
          <a:stretch>
            <a:fillRect/>
          </a:stretch>
        </p:blipFill>
        <p:spPr>
          <a:xfrm>
            <a:off x="621792" y="1764792"/>
            <a:ext cx="4974336" cy="3780495"/>
          </a:xfrm>
          <a:prstGeom prst="rect">
            <a:avLst/>
          </a:prstGeom>
        </p:spPr>
      </p:pic>
      <p:sp>
        <p:nvSpPr>
          <p:cNvPr id="7" name="Đổ bóng thẻ"/>
          <p:cNvSpPr/>
          <p:nvPr/>
        </p:nvSpPr>
        <p:spPr>
          <a:xfrm>
            <a:off x="6583680" y="1755648"/>
            <a:ext cx="5120640" cy="3130906"/>
          </a:xfrm>
          <a:prstGeom prst="roundRect">
            <a:avLst>
              <a:gd name="adj" fmla="val 4089"/>
            </a:avLst>
          </a:prstGeom>
          <a:solidFill>
            <a:schemeClr val="tx1"/>
          </a:solidFill>
          <a:ln w="6350">
            <a:solidFill>
              <a:schemeClr val="tx1"/>
            </a:solidFill>
            <a:prstDash val="solid"/>
          </a:ln>
        </p:spPr>
      </p:sp>
      <p:sp>
        <p:nvSpPr>
          <p:cNvPr id="8" name="Thẻ"/>
          <p:cNvSpPr/>
          <p:nvPr/>
        </p:nvSpPr>
        <p:spPr>
          <a:xfrm>
            <a:off x="6519672" y="1691640"/>
            <a:ext cx="5120640" cy="3130906"/>
          </a:xfrm>
          <a:prstGeom prst="roundRect">
            <a:avLst>
              <a:gd name="adj" fmla="val 4089"/>
            </a:avLst>
          </a:prstGeom>
          <a:solidFill>
            <a:schemeClr val="bg1"/>
          </a:solidFill>
          <a:ln w="22225">
            <a:solidFill>
              <a:schemeClr val="tx1"/>
            </a:solidFill>
            <a:prstDash val="solid"/>
          </a:ln>
        </p:spPr>
      </p:sp>
      <p:pic>
        <p:nvPicPr>
          <p:cNvPr id="9" name="Image 1" descr="Phản hồi khi trả lời sai">    </p:cNvPr>
          <p:cNvPicPr>
            <a:picLocks noChangeAspect="1"/>
          </p:cNvPicPr>
          <p:nvPr/>
        </p:nvPicPr>
        <p:blipFill>
          <a:blip r:embed="rId2"/>
          <a:stretch>
            <a:fillRect/>
          </a:stretch>
        </p:blipFill>
        <p:spPr>
          <a:xfrm>
            <a:off x="6592824" y="1764792"/>
            <a:ext cx="4974336" cy="2984602"/>
          </a:xfrm>
          <a:prstGeom prst="rect">
            <a:avLst/>
          </a:prstGeom>
        </p:spPr>
      </p:pic>
      <p:sp>
        <p:nvSpPr>
          <p:cNvPr id="10" name="Text 5"/>
          <p:cNvSpPr txBox="1"/>
          <p:nvPr/>
        </p:nvSpPr>
        <p:spPr>
          <a:xfrm>
            <a:off x="548640" y="5801319"/>
            <a:ext cx="51206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Làm đúng: tô xanh, khen ngay</a:t>
            </a:r>
            <a:endParaRPr lang="en-US" sz="1600" dirty="0"/>
          </a:p>
        </p:txBody>
      </p:sp>
      <p:sp>
        <p:nvSpPr>
          <p:cNvPr id="11" name="Text 6"/>
          <p:cNvSpPr txBox="1"/>
          <p:nvPr/>
        </p:nvSpPr>
        <p:spPr>
          <a:xfrm>
            <a:off x="6519672" y="5801319"/>
            <a:ext cx="51206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Làm sai: động viên và hiện đáp án đúng</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Lời khen và an ủi có cả tiếng nói</a:t>
            </a:r>
            <a:endParaRPr lang="en-US" sz="3600" dirty="0"/>
          </a:p>
        </p:txBody>
      </p:sp>
      <p:sp>
        <p:nvSpPr>
          <p:cNvPr id="4" name="Shape 1"/>
          <p:cNvSpPr/>
          <p:nvPr/>
        </p:nvSpPr>
        <p:spPr>
          <a:xfrm>
            <a:off x="548640" y="1737360"/>
            <a:ext cx="5029200" cy="1600200"/>
          </a:xfrm>
          <a:prstGeom prst="roundRect">
            <a:avLst>
              <a:gd name="adj" fmla="val 17143"/>
            </a:avLst>
          </a:prstGeom>
          <a:solidFill>
            <a:srgbClr val="D6F5E4"/>
          </a:solidFill>
          <a:ln w="31750">
            <a:solidFill>
              <a:schemeClr val="accent4"/>
            </a:solidFill>
            <a:prstDash val="solid"/>
          </a:ln>
        </p:spPr>
      </p:sp>
      <p:sp>
        <p:nvSpPr>
          <p:cNvPr id="5" name="Nền biểu tượng"/>
          <p:cNvSpPr/>
          <p:nvPr/>
        </p:nvSpPr>
        <p:spPr>
          <a:xfrm>
            <a:off x="822960" y="2103120"/>
            <a:ext cx="868680" cy="868680"/>
          </a:xfrm>
          <a:prstGeom prst="ellipse">
            <a:avLst/>
          </a:prstGeom>
          <a:solidFill>
            <a:schemeClr val="accent4"/>
          </a:solidFill>
          <a:ln w="19050">
            <a:solidFill>
              <a:schemeClr val="tx1"/>
            </a:solidFill>
            <a:prstDash val="solid"/>
          </a:ln>
        </p:spPr>
      </p:sp>
      <p:pic>
        <p:nvPicPr>
          <p:cNvPr id="6" name="Image 0" descr="assets/ic-smile-w.png">    </p:cNvPr>
          <p:cNvPicPr>
            <a:picLocks noChangeAspect="1"/>
          </p:cNvPicPr>
          <p:nvPr/>
        </p:nvPicPr>
        <p:blipFill>
          <a:blip r:embed="rId1"/>
          <a:stretch>
            <a:fillRect/>
          </a:stretch>
        </p:blipFill>
        <p:spPr>
          <a:xfrm>
            <a:off x="1040130" y="2320290"/>
            <a:ext cx="434340" cy="434340"/>
          </a:xfrm>
          <a:prstGeom prst="rect">
            <a:avLst/>
          </a:prstGeom>
        </p:spPr>
      </p:pic>
      <p:sp>
        <p:nvSpPr>
          <p:cNvPr id="7" name="Text 3"/>
          <p:cNvSpPr txBox="1"/>
          <p:nvPr/>
        </p:nvSpPr>
        <p:spPr>
          <a:xfrm>
            <a:off x="1920240" y="1737360"/>
            <a:ext cx="3474720" cy="1600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Giỏi quá! Em làm đúng rồi!</a:t>
            </a:r>
            <a:endParaRPr lang="en-US" sz="2200" dirty="0"/>
          </a:p>
        </p:txBody>
      </p:sp>
      <p:sp>
        <p:nvSpPr>
          <p:cNvPr id="8" name="Shape 4"/>
          <p:cNvSpPr/>
          <p:nvPr/>
        </p:nvSpPr>
        <p:spPr>
          <a:xfrm>
            <a:off x="1005840" y="3611880"/>
            <a:ext cx="5029200" cy="1600200"/>
          </a:xfrm>
          <a:prstGeom prst="roundRect">
            <a:avLst>
              <a:gd name="adj" fmla="val 17143"/>
            </a:avLst>
          </a:prstGeom>
          <a:solidFill>
            <a:schemeClr val="accent6"/>
          </a:solidFill>
          <a:ln w="31750">
            <a:solidFill>
              <a:schemeClr val="tx1"/>
            </a:solidFill>
            <a:prstDash val="solid"/>
          </a:ln>
        </p:spPr>
      </p:sp>
      <p:sp>
        <p:nvSpPr>
          <p:cNvPr id="9" name="Nền biểu tượng"/>
          <p:cNvSpPr/>
          <p:nvPr/>
        </p:nvSpPr>
        <p:spPr>
          <a:xfrm>
            <a:off x="1280160" y="3977640"/>
            <a:ext cx="868680" cy="868680"/>
          </a:xfrm>
          <a:prstGeom prst="ellipse">
            <a:avLst/>
          </a:prstGeom>
          <a:solidFill>
            <a:schemeClr val="accent2"/>
          </a:solidFill>
          <a:ln w="19050">
            <a:solidFill>
              <a:schemeClr val="tx1"/>
            </a:solidFill>
            <a:prstDash val="solid"/>
          </a:ln>
        </p:spPr>
      </p:sp>
      <p:pic>
        <p:nvPicPr>
          <p:cNvPr id="10" name="Image 1" descr="assets/ic-comment-i.png">    </p:cNvPr>
          <p:cNvPicPr>
            <a:picLocks noChangeAspect="1"/>
          </p:cNvPicPr>
          <p:nvPr/>
        </p:nvPicPr>
        <p:blipFill>
          <a:blip r:embed="rId2"/>
          <a:stretch>
            <a:fillRect/>
          </a:stretch>
        </p:blipFill>
        <p:spPr>
          <a:xfrm>
            <a:off x="1497330" y="4194810"/>
            <a:ext cx="434340" cy="434340"/>
          </a:xfrm>
          <a:prstGeom prst="rect">
            <a:avLst/>
          </a:prstGeom>
        </p:spPr>
      </p:pic>
      <p:sp>
        <p:nvSpPr>
          <p:cNvPr id="11" name="Text 6"/>
          <p:cNvSpPr txBox="1"/>
          <p:nvPr/>
        </p:nvSpPr>
        <p:spPr>
          <a:xfrm>
            <a:off x="2377440" y="3611880"/>
            <a:ext cx="3474720" cy="1600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Không sao đâu, em thử lại câu sau nhé!</a:t>
            </a:r>
            <a:endParaRPr lang="en-US" sz="2200" dirty="0"/>
          </a:p>
        </p:txBody>
      </p:sp>
      <p:sp>
        <p:nvSpPr>
          <p:cNvPr id="12" name="Text 7"/>
          <p:cNvSpPr txBox="1"/>
          <p:nvPr/>
        </p:nvSpPr>
        <p:spPr>
          <a:xfrm>
            <a:off x="548640" y="5486400"/>
            <a:ext cx="5394960" cy="3657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Ví dụ hai trong số 14 câu có sẵn</a:t>
            </a:r>
            <a:endParaRPr lang="en-US" sz="1500" dirty="0"/>
          </a:p>
        </p:txBody>
      </p:sp>
      <p:sp>
        <p:nvSpPr>
          <p:cNvPr id="13" name="Nền biểu tượng"/>
          <p:cNvSpPr/>
          <p:nvPr/>
        </p:nvSpPr>
        <p:spPr>
          <a:xfrm>
            <a:off x="6492240" y="1755648"/>
            <a:ext cx="658368" cy="658368"/>
          </a:xfrm>
          <a:prstGeom prst="ellipse">
            <a:avLst/>
          </a:prstGeom>
          <a:solidFill>
            <a:schemeClr val="accent1"/>
          </a:solidFill>
          <a:ln w="19050">
            <a:solidFill>
              <a:schemeClr val="tx1"/>
            </a:solidFill>
            <a:prstDash val="solid"/>
          </a:ln>
        </p:spPr>
      </p:sp>
      <p:pic>
        <p:nvPicPr>
          <p:cNvPr id="14" name="Image 2" descr="assets/ic-bell-w.png">    </p:cNvPr>
          <p:cNvPicPr>
            <a:picLocks noChangeAspect="1"/>
          </p:cNvPicPr>
          <p:nvPr/>
        </p:nvPicPr>
        <p:blipFill>
          <a:blip r:embed="rId3"/>
          <a:stretch>
            <a:fillRect/>
          </a:stretch>
        </p:blipFill>
        <p:spPr>
          <a:xfrm>
            <a:off x="6656832" y="1920240"/>
            <a:ext cx="329184" cy="329184"/>
          </a:xfrm>
          <a:prstGeom prst="rect">
            <a:avLst/>
          </a:prstGeom>
        </p:spPr>
      </p:pic>
      <p:sp>
        <p:nvSpPr>
          <p:cNvPr id="15" name="Text 9"/>
          <p:cNvSpPr txBox="1"/>
          <p:nvPr/>
        </p:nvSpPr>
        <p:spPr>
          <a:xfrm>
            <a:off x="7388352" y="1737360"/>
            <a:ext cx="42245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Tiếng “ting” khi đúng, tiếng “ồ” khi sai</a:t>
            </a:r>
            <a:endParaRPr lang="en-US" sz="1800" dirty="0"/>
          </a:p>
        </p:txBody>
      </p:sp>
      <p:sp>
        <p:nvSpPr>
          <p:cNvPr id="16" name="Text 10"/>
          <p:cNvSpPr txBox="1"/>
          <p:nvPr/>
        </p:nvSpPr>
        <p:spPr>
          <a:xfrm>
            <a:off x="7388352" y="2103120"/>
            <a:ext cx="42245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Là hiệu ứng tạo ngay trong trình duyệt, không cần tải tệp.</a:t>
            </a:r>
            <a:endParaRPr lang="en-US" sz="1500" dirty="0"/>
          </a:p>
        </p:txBody>
      </p:sp>
      <p:sp>
        <p:nvSpPr>
          <p:cNvPr id="17" name="Nền biểu tượng"/>
          <p:cNvSpPr/>
          <p:nvPr/>
        </p:nvSpPr>
        <p:spPr>
          <a:xfrm>
            <a:off x="6492240" y="2944368"/>
            <a:ext cx="658368" cy="658368"/>
          </a:xfrm>
          <a:prstGeom prst="ellipse">
            <a:avLst/>
          </a:prstGeom>
          <a:solidFill>
            <a:schemeClr val="accent4"/>
          </a:solidFill>
          <a:ln w="19050">
            <a:solidFill>
              <a:schemeClr val="tx1"/>
            </a:solidFill>
            <a:prstDash val="solid"/>
          </a:ln>
        </p:spPr>
      </p:sp>
      <p:pic>
        <p:nvPicPr>
          <p:cNvPr id="18" name="Image 3" descr="assets/ic-volume-w.png">    </p:cNvPr>
          <p:cNvPicPr>
            <a:picLocks noChangeAspect="1"/>
          </p:cNvPicPr>
          <p:nvPr/>
        </p:nvPicPr>
        <p:blipFill>
          <a:blip r:embed="rId4"/>
          <a:stretch>
            <a:fillRect/>
          </a:stretch>
        </p:blipFill>
        <p:spPr>
          <a:xfrm>
            <a:off x="6656832" y="3108960"/>
            <a:ext cx="329184" cy="329184"/>
          </a:xfrm>
          <a:prstGeom prst="rect">
            <a:avLst/>
          </a:prstGeom>
        </p:spPr>
      </p:pic>
      <p:sp>
        <p:nvSpPr>
          <p:cNvPr id="19" name="Text 12"/>
          <p:cNvSpPr txBox="1"/>
          <p:nvPr/>
        </p:nvSpPr>
        <p:spPr>
          <a:xfrm>
            <a:off x="7388352" y="2926080"/>
            <a:ext cx="42245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Giọng đọc tiếng Việt</a:t>
            </a:r>
            <a:endParaRPr lang="en-US" sz="1800" dirty="0"/>
          </a:p>
        </p:txBody>
      </p:sp>
      <p:sp>
        <p:nvSpPr>
          <p:cNvPr id="20" name="Text 13"/>
          <p:cNvSpPr txBox="1"/>
          <p:nvPr/>
        </p:nvSpPr>
        <p:spPr>
          <a:xfrm>
            <a:off x="7388352" y="3291840"/>
            <a:ext cx="42245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Đọc lời khen hoặc lời an ủi bằng giọng có sẵn trên thiết bị.</a:t>
            </a:r>
            <a:endParaRPr lang="en-US" sz="1500" dirty="0"/>
          </a:p>
        </p:txBody>
      </p:sp>
      <p:sp>
        <p:nvSpPr>
          <p:cNvPr id="21" name="Nền biểu tượng"/>
          <p:cNvSpPr/>
          <p:nvPr/>
        </p:nvSpPr>
        <p:spPr>
          <a:xfrm>
            <a:off x="6492240" y="4133088"/>
            <a:ext cx="658368" cy="658368"/>
          </a:xfrm>
          <a:prstGeom prst="ellipse">
            <a:avLst/>
          </a:prstGeom>
          <a:solidFill>
            <a:schemeClr val="accent5"/>
          </a:solidFill>
          <a:ln w="19050">
            <a:solidFill>
              <a:schemeClr val="tx1"/>
            </a:solidFill>
            <a:prstDash val="solid"/>
          </a:ln>
        </p:spPr>
      </p:sp>
      <p:pic>
        <p:nvPicPr>
          <p:cNvPr id="22" name="Image 4" descr="assets/ic-phone-w.png">    </p:cNvPr>
          <p:cNvPicPr>
            <a:picLocks noChangeAspect="1"/>
          </p:cNvPicPr>
          <p:nvPr/>
        </p:nvPicPr>
        <p:blipFill>
          <a:blip r:embed="rId5"/>
          <a:stretch>
            <a:fillRect/>
          </a:stretch>
        </p:blipFill>
        <p:spPr>
          <a:xfrm>
            <a:off x="6656832" y="4297680"/>
            <a:ext cx="329184" cy="329184"/>
          </a:xfrm>
          <a:prstGeom prst="rect">
            <a:avLst/>
          </a:prstGeom>
        </p:spPr>
      </p:pic>
      <p:sp>
        <p:nvSpPr>
          <p:cNvPr id="23" name="Text 15"/>
          <p:cNvSpPr txBox="1"/>
          <p:nvPr/>
        </p:nvSpPr>
        <p:spPr>
          <a:xfrm>
            <a:off x="7388352" y="4114800"/>
            <a:ext cx="42245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Không có giọng Việt vẫn dùng được</a:t>
            </a:r>
            <a:endParaRPr lang="en-US" sz="1800" dirty="0"/>
          </a:p>
        </p:txBody>
      </p:sp>
      <p:sp>
        <p:nvSpPr>
          <p:cNvPr id="24" name="Text 16"/>
          <p:cNvSpPr txBox="1"/>
          <p:nvPr/>
        </p:nvSpPr>
        <p:spPr>
          <a:xfrm>
            <a:off x="7388352" y="4480560"/>
            <a:ext cx="42245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Thiết bị đó chỉ phát tiếng hiệu ứng, giao diện vẫn hiện lời khen.</a:t>
            </a:r>
            <a:endParaRPr lang="en-US" sz="1500" dirty="0"/>
          </a:p>
        </p:txBody>
      </p:sp>
      <p:sp>
        <p:nvSpPr>
          <p:cNvPr id="25" name="Nền biểu tượng"/>
          <p:cNvSpPr/>
          <p:nvPr/>
        </p:nvSpPr>
        <p:spPr>
          <a:xfrm>
            <a:off x="6492240" y="5321808"/>
            <a:ext cx="658368" cy="658368"/>
          </a:xfrm>
          <a:prstGeom prst="ellipse">
            <a:avLst/>
          </a:prstGeom>
          <a:solidFill>
            <a:schemeClr val="accent3"/>
          </a:solidFill>
          <a:ln w="19050">
            <a:solidFill>
              <a:schemeClr val="tx1"/>
            </a:solidFill>
            <a:prstDash val="solid"/>
          </a:ln>
        </p:spPr>
      </p:sp>
      <p:pic>
        <p:nvPicPr>
          <p:cNvPr id="26" name="Image 5" descr="assets/ic-mute-w.png">    </p:cNvPr>
          <p:cNvPicPr>
            <a:picLocks noChangeAspect="1"/>
          </p:cNvPicPr>
          <p:nvPr/>
        </p:nvPicPr>
        <p:blipFill>
          <a:blip r:embed="rId6"/>
          <a:stretch>
            <a:fillRect/>
          </a:stretch>
        </p:blipFill>
        <p:spPr>
          <a:xfrm>
            <a:off x="6656832" y="5486400"/>
            <a:ext cx="329184" cy="329184"/>
          </a:xfrm>
          <a:prstGeom prst="rect">
            <a:avLst/>
          </a:prstGeom>
        </p:spPr>
      </p:pic>
      <p:sp>
        <p:nvSpPr>
          <p:cNvPr id="27" name="Text 18"/>
          <p:cNvSpPr txBox="1"/>
          <p:nvPr/>
        </p:nvSpPr>
        <p:spPr>
          <a:xfrm>
            <a:off x="7388352" y="5303520"/>
            <a:ext cx="42245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Tắt âm bằng nút loa</a:t>
            </a:r>
            <a:endParaRPr lang="en-US" sz="1800" dirty="0"/>
          </a:p>
        </p:txBody>
      </p:sp>
      <p:sp>
        <p:nvSpPr>
          <p:cNvPr id="28" name="Text 19"/>
          <p:cNvSpPr txBox="1"/>
          <p:nvPr/>
        </p:nvSpPr>
        <p:spPr>
          <a:xfrm>
            <a:off x="7388352" y="5669280"/>
            <a:ext cx="42245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Nút loa ở đầu trang, lựa chọn được nhớ cho lần sau.</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Kết quả, số sao và các câu cần xem lại</a:t>
            </a:r>
            <a:endParaRPr lang="en-US" sz="3600" dirty="0"/>
          </a:p>
        </p:txBody>
      </p:sp>
      <p:sp>
        <p:nvSpPr>
          <p:cNvPr id="4" name="Đổ bóng thẻ"/>
          <p:cNvSpPr/>
          <p:nvPr/>
        </p:nvSpPr>
        <p:spPr>
          <a:xfrm>
            <a:off x="612648" y="1755648"/>
            <a:ext cx="5943600" cy="3856573"/>
          </a:xfrm>
          <a:prstGeom prst="roundRect">
            <a:avLst>
              <a:gd name="adj" fmla="val 3319"/>
            </a:avLst>
          </a:prstGeom>
          <a:solidFill>
            <a:schemeClr val="tx1"/>
          </a:solidFill>
          <a:ln w="6350">
            <a:solidFill>
              <a:schemeClr val="tx1"/>
            </a:solidFill>
            <a:prstDash val="solid"/>
          </a:ln>
        </p:spPr>
      </p:sp>
      <p:sp>
        <p:nvSpPr>
          <p:cNvPr id="5" name="Thẻ"/>
          <p:cNvSpPr/>
          <p:nvPr/>
        </p:nvSpPr>
        <p:spPr>
          <a:xfrm>
            <a:off x="548640" y="1691640"/>
            <a:ext cx="5943600" cy="3856573"/>
          </a:xfrm>
          <a:prstGeom prst="roundRect">
            <a:avLst>
              <a:gd name="adj" fmla="val 3319"/>
            </a:avLst>
          </a:prstGeom>
          <a:solidFill>
            <a:schemeClr val="bg1"/>
          </a:solidFill>
          <a:ln w="22225">
            <a:solidFill>
              <a:schemeClr val="tx1"/>
            </a:solidFill>
            <a:prstDash val="solid"/>
          </a:ln>
        </p:spPr>
      </p:sp>
      <p:pic>
        <p:nvPicPr>
          <p:cNvPr id="6" name="Image 0" descr="Màn hình kết quả 9 điểm ba sao">    </p:cNvPr>
          <p:cNvPicPr>
            <a:picLocks noChangeAspect="1"/>
          </p:cNvPicPr>
          <p:nvPr/>
        </p:nvPicPr>
        <p:blipFill>
          <a:blip r:embed="rId1"/>
          <a:stretch>
            <a:fillRect/>
          </a:stretch>
        </p:blipFill>
        <p:spPr>
          <a:xfrm>
            <a:off x="621792" y="1764792"/>
            <a:ext cx="5797296" cy="3710269"/>
          </a:xfrm>
          <a:prstGeom prst="rect">
            <a:avLst/>
          </a:prstGeom>
        </p:spPr>
      </p:pic>
      <p:sp>
        <p:nvSpPr>
          <p:cNvPr id="7" name="Nền biểu tượng"/>
          <p:cNvSpPr/>
          <p:nvPr/>
        </p:nvSpPr>
        <p:spPr>
          <a:xfrm>
            <a:off x="6903720" y="1709928"/>
            <a:ext cx="658368" cy="658368"/>
          </a:xfrm>
          <a:prstGeom prst="ellipse">
            <a:avLst/>
          </a:prstGeom>
          <a:solidFill>
            <a:schemeClr val="accent1"/>
          </a:solidFill>
          <a:ln w="19050">
            <a:solidFill>
              <a:schemeClr val="tx1"/>
            </a:solidFill>
            <a:prstDash val="solid"/>
          </a:ln>
        </p:spPr>
      </p:sp>
      <p:pic>
        <p:nvPicPr>
          <p:cNvPr id="8" name="Image 1" descr="assets/ic-chart-w.png">    </p:cNvPr>
          <p:cNvPicPr>
            <a:picLocks noChangeAspect="1"/>
          </p:cNvPicPr>
          <p:nvPr/>
        </p:nvPicPr>
        <p:blipFill>
          <a:blip r:embed="rId2"/>
          <a:stretch>
            <a:fillRect/>
          </a:stretch>
        </p:blipFill>
        <p:spPr>
          <a:xfrm>
            <a:off x="7068312" y="1874520"/>
            <a:ext cx="329184" cy="329184"/>
          </a:xfrm>
          <a:prstGeom prst="rect">
            <a:avLst/>
          </a:prstGeom>
        </p:spPr>
      </p:pic>
      <p:sp>
        <p:nvSpPr>
          <p:cNvPr id="9" name="Text 4"/>
          <p:cNvSpPr txBox="1"/>
          <p:nvPr/>
        </p:nvSpPr>
        <p:spPr>
          <a:xfrm>
            <a:off x="7799832" y="1691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Điểm trên thang 10</a:t>
            </a:r>
            <a:endParaRPr lang="en-US" sz="1800" dirty="0"/>
          </a:p>
        </p:txBody>
      </p:sp>
      <p:sp>
        <p:nvSpPr>
          <p:cNvPr id="10" name="Text 5"/>
          <p:cNvSpPr txBox="1"/>
          <p:nvPr/>
        </p:nvSpPr>
        <p:spPr>
          <a:xfrm>
            <a:off x="7799832" y="2057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Đúng 9 trên 10 câu thì được 9 điểm.</a:t>
            </a:r>
            <a:endParaRPr lang="en-US" sz="1500" dirty="0"/>
          </a:p>
        </p:txBody>
      </p:sp>
      <p:sp>
        <p:nvSpPr>
          <p:cNvPr id="11" name="Nền biểu tượng"/>
          <p:cNvSpPr/>
          <p:nvPr/>
        </p:nvSpPr>
        <p:spPr>
          <a:xfrm>
            <a:off x="6903720" y="2852928"/>
            <a:ext cx="658368" cy="658368"/>
          </a:xfrm>
          <a:prstGeom prst="ellipse">
            <a:avLst/>
          </a:prstGeom>
          <a:solidFill>
            <a:schemeClr val="accent2"/>
          </a:solidFill>
          <a:ln w="19050">
            <a:solidFill>
              <a:schemeClr val="tx1"/>
            </a:solidFill>
            <a:prstDash val="solid"/>
          </a:ln>
        </p:spPr>
      </p:sp>
      <p:pic>
        <p:nvPicPr>
          <p:cNvPr id="12" name="Image 2" descr="assets/ic-star-w.png">    </p:cNvPr>
          <p:cNvPicPr>
            <a:picLocks noChangeAspect="1"/>
          </p:cNvPicPr>
          <p:nvPr/>
        </p:nvPicPr>
        <p:blipFill>
          <a:blip r:embed="rId3"/>
          <a:stretch>
            <a:fillRect/>
          </a:stretch>
        </p:blipFill>
        <p:spPr>
          <a:xfrm>
            <a:off x="7068312" y="3017520"/>
            <a:ext cx="329184" cy="329184"/>
          </a:xfrm>
          <a:prstGeom prst="rect">
            <a:avLst/>
          </a:prstGeom>
        </p:spPr>
      </p:pic>
      <p:sp>
        <p:nvSpPr>
          <p:cNvPr id="13" name="Text 7"/>
          <p:cNvSpPr txBox="1"/>
          <p:nvPr/>
        </p:nvSpPr>
        <p:spPr>
          <a:xfrm>
            <a:off x="7799832" y="2834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Ba mức sao</a:t>
            </a:r>
            <a:endParaRPr lang="en-US" sz="1800" dirty="0"/>
          </a:p>
        </p:txBody>
      </p:sp>
      <p:sp>
        <p:nvSpPr>
          <p:cNvPr id="14" name="Text 8"/>
          <p:cNvSpPr txBox="1"/>
          <p:nvPr/>
        </p:nvSpPr>
        <p:spPr>
          <a:xfrm>
            <a:off x="7799832" y="3200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5 điểm được 1 sao, 7 điểm được 2 sao, 9 điểm được 3 sao.</a:t>
            </a:r>
            <a:endParaRPr lang="en-US" sz="1500" dirty="0"/>
          </a:p>
        </p:txBody>
      </p:sp>
      <p:sp>
        <p:nvSpPr>
          <p:cNvPr id="15" name="Nền biểu tượng"/>
          <p:cNvSpPr/>
          <p:nvPr/>
        </p:nvSpPr>
        <p:spPr>
          <a:xfrm>
            <a:off x="6903720" y="3995928"/>
            <a:ext cx="658368" cy="658368"/>
          </a:xfrm>
          <a:prstGeom prst="ellipse">
            <a:avLst/>
          </a:prstGeom>
          <a:solidFill>
            <a:schemeClr val="accent3"/>
          </a:solidFill>
          <a:ln w="19050">
            <a:solidFill>
              <a:schemeClr val="tx1"/>
            </a:solidFill>
            <a:prstDash val="solid"/>
          </a:ln>
        </p:spPr>
      </p:sp>
      <p:pic>
        <p:nvPicPr>
          <p:cNvPr id="16" name="Image 3" descr="assets/ic-doc-w.png">    </p:cNvPr>
          <p:cNvPicPr>
            <a:picLocks noChangeAspect="1"/>
          </p:cNvPicPr>
          <p:nvPr/>
        </p:nvPicPr>
        <p:blipFill>
          <a:blip r:embed="rId4"/>
          <a:stretch>
            <a:fillRect/>
          </a:stretch>
        </p:blipFill>
        <p:spPr>
          <a:xfrm>
            <a:off x="7068312" y="4160520"/>
            <a:ext cx="329184" cy="329184"/>
          </a:xfrm>
          <a:prstGeom prst="rect">
            <a:avLst/>
          </a:prstGeom>
        </p:spPr>
      </p:pic>
      <p:sp>
        <p:nvSpPr>
          <p:cNvPr id="17" name="Text 10"/>
          <p:cNvSpPr txBox="1"/>
          <p:nvPr/>
        </p:nvSpPr>
        <p:spPr>
          <a:xfrm>
            <a:off x="7799832" y="3977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Xem lại câu đã sai</a:t>
            </a:r>
            <a:endParaRPr lang="en-US" sz="1800" dirty="0"/>
          </a:p>
        </p:txBody>
      </p:sp>
      <p:sp>
        <p:nvSpPr>
          <p:cNvPr id="18" name="Text 11"/>
          <p:cNvSpPr txBox="1"/>
          <p:nvPr/>
        </p:nvSpPr>
        <p:spPr>
          <a:xfrm>
            <a:off x="7799832" y="4343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Hiện câu hỏi, đáp án em chọn, đáp án đúng và gợi ý.</a:t>
            </a:r>
            <a:endParaRPr lang="en-US" sz="1500" dirty="0"/>
          </a:p>
        </p:txBody>
      </p:sp>
      <p:sp>
        <p:nvSpPr>
          <p:cNvPr id="19" name="Nền biểu tượng"/>
          <p:cNvSpPr/>
          <p:nvPr/>
        </p:nvSpPr>
        <p:spPr>
          <a:xfrm>
            <a:off x="6903720" y="5138928"/>
            <a:ext cx="658368" cy="658368"/>
          </a:xfrm>
          <a:prstGeom prst="ellipse">
            <a:avLst/>
          </a:prstGeom>
          <a:solidFill>
            <a:schemeClr val="accent4"/>
          </a:solidFill>
          <a:ln w="19050">
            <a:solidFill>
              <a:schemeClr val="tx1"/>
            </a:solidFill>
            <a:prstDash val="solid"/>
          </a:ln>
        </p:spPr>
      </p:sp>
      <p:pic>
        <p:nvPicPr>
          <p:cNvPr id="20" name="Image 4" descr="assets/ic-smile-w.png">    </p:cNvPr>
          <p:cNvPicPr>
            <a:picLocks noChangeAspect="1"/>
          </p:cNvPicPr>
          <p:nvPr/>
        </p:nvPicPr>
        <p:blipFill>
          <a:blip r:embed="rId5"/>
          <a:stretch>
            <a:fillRect/>
          </a:stretch>
        </p:blipFill>
        <p:spPr>
          <a:xfrm>
            <a:off x="7068312" y="5303520"/>
            <a:ext cx="329184" cy="329184"/>
          </a:xfrm>
          <a:prstGeom prst="rect">
            <a:avLst/>
          </a:prstGeom>
        </p:spPr>
      </p:pic>
      <p:sp>
        <p:nvSpPr>
          <p:cNvPr id="21" name="Text 13"/>
          <p:cNvSpPr txBox="1"/>
          <p:nvPr/>
        </p:nvSpPr>
        <p:spPr>
          <a:xfrm>
            <a:off x="7799832" y="5120640"/>
            <a:ext cx="38130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Pháo giấy từ 7 điểm</a:t>
            </a:r>
            <a:endParaRPr lang="en-US" sz="1800" dirty="0"/>
          </a:p>
        </p:txBody>
      </p:sp>
      <p:sp>
        <p:nvSpPr>
          <p:cNvPr id="22" name="Text 14"/>
          <p:cNvSpPr txBox="1"/>
          <p:nvPr/>
        </p:nvSpPr>
        <p:spPr>
          <a:xfrm>
            <a:off x="7799832" y="5486400"/>
            <a:ext cx="38130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Kèm lời nhắn phù hợp với điểm vừa đạt.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Bảng xếp hạng cho cả lớp cùng xem</a:t>
            </a:r>
            <a:endParaRPr lang="en-US" sz="3600" dirty="0"/>
          </a:p>
        </p:txBody>
      </p:sp>
      <p:sp>
        <p:nvSpPr>
          <p:cNvPr id="4" name="Nền biểu tượng"/>
          <p:cNvSpPr/>
          <p:nvPr/>
        </p:nvSpPr>
        <p:spPr>
          <a:xfrm>
            <a:off x="548640" y="1755648"/>
            <a:ext cx="658368" cy="658368"/>
          </a:xfrm>
          <a:prstGeom prst="ellipse">
            <a:avLst/>
          </a:prstGeom>
          <a:solidFill>
            <a:schemeClr val="accent2"/>
          </a:solidFill>
          <a:ln w="19050">
            <a:solidFill>
              <a:schemeClr val="tx1"/>
            </a:solidFill>
            <a:prstDash val="solid"/>
          </a:ln>
        </p:spPr>
      </p:sp>
      <p:pic>
        <p:nvPicPr>
          <p:cNvPr id="5" name="Image 0" descr="assets/ic-trophy-w.png">    </p:cNvPr>
          <p:cNvPicPr>
            <a:picLocks noChangeAspect="1"/>
          </p:cNvPicPr>
          <p:nvPr/>
        </p:nvPicPr>
        <p:blipFill>
          <a:blip r:embed="rId1"/>
          <a:stretch>
            <a:fillRect/>
          </a:stretch>
        </p:blipFill>
        <p:spPr>
          <a:xfrm>
            <a:off x="713232" y="1920240"/>
            <a:ext cx="329184" cy="329184"/>
          </a:xfrm>
          <a:prstGeom prst="rect">
            <a:avLst/>
          </a:prstGeom>
        </p:spPr>
      </p:pic>
      <p:sp>
        <p:nvSpPr>
          <p:cNvPr id="6" name="Text 2"/>
          <p:cNvSpPr txBox="1"/>
          <p:nvPr/>
        </p:nvSpPr>
        <p:spPr>
          <a:xfrm>
            <a:off x="1444752" y="1737360"/>
            <a:ext cx="340156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Tổng điểm</a:t>
            </a:r>
            <a:endParaRPr lang="en-US" sz="1800" dirty="0"/>
          </a:p>
        </p:txBody>
      </p:sp>
      <p:sp>
        <p:nvSpPr>
          <p:cNvPr id="7" name="Text 3"/>
          <p:cNvSpPr txBox="1"/>
          <p:nvPr/>
        </p:nvSpPr>
        <p:spPr>
          <a:xfrm>
            <a:off x="1444752" y="2103120"/>
            <a:ext cx="340156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Cộng điểm cao nhất của mỗi bài đã làm, nên làm nhiều bài thì lên hạng.</a:t>
            </a:r>
            <a:endParaRPr lang="en-US" sz="1500" dirty="0"/>
          </a:p>
        </p:txBody>
      </p:sp>
      <p:sp>
        <p:nvSpPr>
          <p:cNvPr id="8" name="Nền biểu tượng"/>
          <p:cNvSpPr/>
          <p:nvPr/>
        </p:nvSpPr>
        <p:spPr>
          <a:xfrm>
            <a:off x="548640" y="3218688"/>
            <a:ext cx="658368" cy="658368"/>
          </a:xfrm>
          <a:prstGeom prst="ellipse">
            <a:avLst/>
          </a:prstGeom>
          <a:solidFill>
            <a:schemeClr val="accent1"/>
          </a:solidFill>
          <a:ln w="19050">
            <a:solidFill>
              <a:schemeClr val="tx1"/>
            </a:solidFill>
            <a:prstDash val="solid"/>
          </a:ln>
        </p:spPr>
      </p:sp>
      <p:pic>
        <p:nvPicPr>
          <p:cNvPr id="9" name="Image 1" descr="assets/ic-flag-w.png">    </p:cNvPr>
          <p:cNvPicPr>
            <a:picLocks noChangeAspect="1"/>
          </p:cNvPicPr>
          <p:nvPr/>
        </p:nvPicPr>
        <p:blipFill>
          <a:blip r:embed="rId2"/>
          <a:stretch>
            <a:fillRect/>
          </a:stretch>
        </p:blipFill>
        <p:spPr>
          <a:xfrm>
            <a:off x="713232" y="3383280"/>
            <a:ext cx="329184" cy="329184"/>
          </a:xfrm>
          <a:prstGeom prst="rect">
            <a:avLst/>
          </a:prstGeom>
        </p:spPr>
      </p:pic>
      <p:sp>
        <p:nvSpPr>
          <p:cNvPr id="10" name="Text 5"/>
          <p:cNvSpPr txBox="1"/>
          <p:nvPr/>
        </p:nvSpPr>
        <p:spPr>
          <a:xfrm>
            <a:off x="1444752" y="3200400"/>
            <a:ext cx="340156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Xếp theo từng bài</a:t>
            </a:r>
            <a:endParaRPr lang="en-US" sz="1800" dirty="0"/>
          </a:p>
        </p:txBody>
      </p:sp>
      <p:sp>
        <p:nvSpPr>
          <p:cNvPr id="11" name="Text 6"/>
          <p:cNvSpPr txBox="1"/>
          <p:nvPr/>
        </p:nvSpPr>
        <p:spPr>
          <a:xfrm>
            <a:off x="1444752" y="3566160"/>
            <a:ext cx="340156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Chọn một bài để xem ai cao điểm nhất; bằng điểm thì ai làm nhanh hơn đứng trên.</a:t>
            </a:r>
            <a:endParaRPr lang="en-US" sz="1500" dirty="0"/>
          </a:p>
        </p:txBody>
      </p:sp>
      <p:sp>
        <p:nvSpPr>
          <p:cNvPr id="12" name="Nền biểu tượng"/>
          <p:cNvSpPr/>
          <p:nvPr/>
        </p:nvSpPr>
        <p:spPr>
          <a:xfrm>
            <a:off x="548640" y="4681728"/>
            <a:ext cx="658368" cy="658368"/>
          </a:xfrm>
          <a:prstGeom prst="ellipse">
            <a:avLst/>
          </a:prstGeom>
          <a:solidFill>
            <a:schemeClr val="accent4"/>
          </a:solidFill>
          <a:ln w="19050">
            <a:solidFill>
              <a:schemeClr val="tx1"/>
            </a:solidFill>
            <a:prstDash val="solid"/>
          </a:ln>
        </p:spPr>
      </p:sp>
      <p:pic>
        <p:nvPicPr>
          <p:cNvPr id="13" name="Image 2" descr="assets/ic-users-w.png">    </p:cNvPr>
          <p:cNvPicPr>
            <a:picLocks noChangeAspect="1"/>
          </p:cNvPicPr>
          <p:nvPr/>
        </p:nvPicPr>
        <p:blipFill>
          <a:blip r:embed="rId3"/>
          <a:stretch>
            <a:fillRect/>
          </a:stretch>
        </p:blipFill>
        <p:spPr>
          <a:xfrm>
            <a:off x="713232" y="4846320"/>
            <a:ext cx="329184" cy="329184"/>
          </a:xfrm>
          <a:prstGeom prst="rect">
            <a:avLst/>
          </a:prstGeom>
        </p:spPr>
      </p:pic>
      <p:sp>
        <p:nvSpPr>
          <p:cNvPr id="14" name="Text 8"/>
          <p:cNvSpPr txBox="1"/>
          <p:nvPr/>
        </p:nvSpPr>
        <p:spPr>
          <a:xfrm>
            <a:off x="1444752" y="4663440"/>
            <a:ext cx="340156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Cả lớp cùng xem</a:t>
            </a:r>
            <a:endParaRPr lang="en-US" sz="1800" dirty="0"/>
          </a:p>
        </p:txBody>
      </p:sp>
      <p:sp>
        <p:nvSpPr>
          <p:cNvPr id="15" name="Text 9"/>
          <p:cNvSpPr txBox="1"/>
          <p:nvPr/>
        </p:nvSpPr>
        <p:spPr>
          <a:xfrm>
            <a:off x="1444752" y="5029200"/>
            <a:ext cx="340156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Học sinh và giáo viên đều xem được; tên của em được tô nổi.</a:t>
            </a:r>
            <a:endParaRPr lang="en-US" sz="1500" dirty="0"/>
          </a:p>
        </p:txBody>
      </p:sp>
      <p:sp>
        <p:nvSpPr>
          <p:cNvPr id="16" name="Đổ bóng thẻ"/>
          <p:cNvSpPr/>
          <p:nvPr/>
        </p:nvSpPr>
        <p:spPr>
          <a:xfrm>
            <a:off x="5184648" y="1755648"/>
            <a:ext cx="6519672" cy="4251185"/>
          </a:xfrm>
          <a:prstGeom prst="roundRect">
            <a:avLst>
              <a:gd name="adj" fmla="val 3011"/>
            </a:avLst>
          </a:prstGeom>
          <a:solidFill>
            <a:schemeClr val="tx1"/>
          </a:solidFill>
          <a:ln w="6350">
            <a:solidFill>
              <a:schemeClr val="tx1"/>
            </a:solidFill>
            <a:prstDash val="solid"/>
          </a:ln>
        </p:spPr>
      </p:sp>
      <p:sp>
        <p:nvSpPr>
          <p:cNvPr id="17" name="Thẻ"/>
          <p:cNvSpPr/>
          <p:nvPr/>
        </p:nvSpPr>
        <p:spPr>
          <a:xfrm>
            <a:off x="5120640" y="1691640"/>
            <a:ext cx="6519672" cy="4251185"/>
          </a:xfrm>
          <a:prstGeom prst="roundRect">
            <a:avLst>
              <a:gd name="adj" fmla="val 3011"/>
            </a:avLst>
          </a:prstGeom>
          <a:solidFill>
            <a:schemeClr val="bg1"/>
          </a:solidFill>
          <a:ln w="22225">
            <a:solidFill>
              <a:schemeClr val="tx1"/>
            </a:solidFill>
            <a:prstDash val="solid"/>
          </a:ln>
        </p:spPr>
      </p:sp>
      <p:pic>
        <p:nvPicPr>
          <p:cNvPr id="18" name="Image 3" descr="Bảng xếp hạng">    </p:cNvPr>
          <p:cNvPicPr>
            <a:picLocks noChangeAspect="1"/>
          </p:cNvPicPr>
          <p:nvPr/>
        </p:nvPicPr>
        <p:blipFill>
          <a:blip r:embed="rId4"/>
          <a:stretch>
            <a:fillRect/>
          </a:stretch>
        </p:blipFill>
        <p:spPr>
          <a:xfrm>
            <a:off x="5193792" y="1764792"/>
            <a:ext cx="6373368" cy="4104881"/>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Dùng được trên điện thoại và máy tính</a:t>
            </a:r>
            <a:endParaRPr lang="en-US" sz="3600" dirty="0"/>
          </a:p>
        </p:txBody>
      </p:sp>
      <p:sp>
        <p:nvSpPr>
          <p:cNvPr id="4" name="Khung điện thoại"/>
          <p:cNvSpPr/>
          <p:nvPr/>
        </p:nvSpPr>
        <p:spPr>
          <a:xfrm>
            <a:off x="804672" y="1673352"/>
            <a:ext cx="2368296" cy="4076348"/>
          </a:xfrm>
          <a:prstGeom prst="roundRect">
            <a:avLst>
              <a:gd name="adj" fmla="val 10811"/>
            </a:avLst>
          </a:prstGeom>
          <a:solidFill>
            <a:schemeClr val="tx1"/>
          </a:solidFill>
          <a:ln w="19050">
            <a:solidFill>
              <a:schemeClr val="tx1"/>
            </a:solidFill>
            <a:prstDash val="solid"/>
          </a:ln>
        </p:spPr>
      </p:sp>
      <p:pic>
        <p:nvPicPr>
          <p:cNvPr id="5" name="Image 0" descr="Ảnh màn hình điện thoại">    </p:cNvPr>
          <p:cNvPicPr>
            <a:picLocks noChangeAspect="1"/>
          </p:cNvPicPr>
          <p:nvPr/>
        </p:nvPicPr>
        <p:blipFill>
          <a:blip r:embed="rId1"/>
          <a:stretch>
            <a:fillRect/>
          </a:stretch>
        </p:blipFill>
        <p:spPr>
          <a:xfrm>
            <a:off x="914400" y="1783080"/>
            <a:ext cx="2148840" cy="3856892"/>
          </a:xfrm>
          <a:prstGeom prst="rect">
            <a:avLst/>
          </a:prstGeom>
        </p:spPr>
      </p:pic>
      <p:sp>
        <p:nvSpPr>
          <p:cNvPr id="6" name="Khung điện thoại"/>
          <p:cNvSpPr/>
          <p:nvPr/>
        </p:nvSpPr>
        <p:spPr>
          <a:xfrm>
            <a:off x="3593592" y="1673352"/>
            <a:ext cx="2368296" cy="3415167"/>
          </a:xfrm>
          <a:prstGeom prst="roundRect">
            <a:avLst>
              <a:gd name="adj" fmla="val 10811"/>
            </a:avLst>
          </a:prstGeom>
          <a:solidFill>
            <a:schemeClr val="tx1"/>
          </a:solidFill>
          <a:ln w="19050">
            <a:solidFill>
              <a:schemeClr val="tx1"/>
            </a:solidFill>
            <a:prstDash val="solid"/>
          </a:ln>
        </p:spPr>
      </p:sp>
      <p:pic>
        <p:nvPicPr>
          <p:cNvPr id="7" name="Image 1" descr="Ảnh màn hình điện thoại">    </p:cNvPr>
          <p:cNvPicPr>
            <a:picLocks noChangeAspect="1"/>
          </p:cNvPicPr>
          <p:nvPr/>
        </p:nvPicPr>
        <p:blipFill>
          <a:blip r:embed="rId2"/>
          <a:stretch>
            <a:fillRect/>
          </a:stretch>
        </p:blipFill>
        <p:spPr>
          <a:xfrm>
            <a:off x="3703320" y="1783080"/>
            <a:ext cx="2148840" cy="3195711"/>
          </a:xfrm>
          <a:prstGeom prst="rect">
            <a:avLst/>
          </a:prstGeom>
        </p:spPr>
      </p:pic>
      <p:sp>
        <p:nvSpPr>
          <p:cNvPr id="8" name="Nền biểu tượng"/>
          <p:cNvSpPr/>
          <p:nvPr/>
        </p:nvSpPr>
        <p:spPr>
          <a:xfrm>
            <a:off x="6675120" y="1938528"/>
            <a:ext cx="658368" cy="658368"/>
          </a:xfrm>
          <a:prstGeom prst="ellipse">
            <a:avLst/>
          </a:prstGeom>
          <a:solidFill>
            <a:schemeClr val="accent1"/>
          </a:solidFill>
          <a:ln w="19050">
            <a:solidFill>
              <a:schemeClr val="tx1"/>
            </a:solidFill>
            <a:prstDash val="solid"/>
          </a:ln>
        </p:spPr>
      </p:sp>
      <p:pic>
        <p:nvPicPr>
          <p:cNvPr id="9" name="Image 2" descr="assets/ic-phone-w.png">    </p:cNvPr>
          <p:cNvPicPr>
            <a:picLocks noChangeAspect="1"/>
          </p:cNvPicPr>
          <p:nvPr/>
        </p:nvPicPr>
        <p:blipFill>
          <a:blip r:embed="rId3"/>
          <a:stretch>
            <a:fillRect/>
          </a:stretch>
        </p:blipFill>
        <p:spPr>
          <a:xfrm>
            <a:off x="6839712" y="2103120"/>
            <a:ext cx="329184" cy="329184"/>
          </a:xfrm>
          <a:prstGeom prst="rect">
            <a:avLst/>
          </a:prstGeom>
        </p:spPr>
      </p:pic>
      <p:sp>
        <p:nvSpPr>
          <p:cNvPr id="10" name="Text 4"/>
          <p:cNvSpPr txBox="1"/>
          <p:nvPr/>
        </p:nvSpPr>
        <p:spPr>
          <a:xfrm>
            <a:off x="7571232" y="1920240"/>
            <a:ext cx="40416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Giao diện co giãn</a:t>
            </a:r>
            <a:endParaRPr lang="en-US" sz="1800" dirty="0"/>
          </a:p>
        </p:txBody>
      </p:sp>
      <p:sp>
        <p:nvSpPr>
          <p:cNvPr id="11" name="Text 5"/>
          <p:cNvSpPr txBox="1"/>
          <p:nvPr/>
        </p:nvSpPr>
        <p:spPr>
          <a:xfrm>
            <a:off x="7571232" y="2286000"/>
            <a:ext cx="40416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Một địa chỉ web chung cho điện thoại, máy tính bảng và máy tính.</a:t>
            </a:r>
            <a:endParaRPr lang="en-US" sz="1500" dirty="0"/>
          </a:p>
        </p:txBody>
      </p:sp>
      <p:sp>
        <p:nvSpPr>
          <p:cNvPr id="12" name="Nền biểu tượng"/>
          <p:cNvSpPr/>
          <p:nvPr/>
        </p:nvSpPr>
        <p:spPr>
          <a:xfrm>
            <a:off x="6675120" y="3355848"/>
            <a:ext cx="658368" cy="658368"/>
          </a:xfrm>
          <a:prstGeom prst="ellipse">
            <a:avLst/>
          </a:prstGeom>
          <a:solidFill>
            <a:schemeClr val="accent4"/>
          </a:solidFill>
          <a:ln w="19050">
            <a:solidFill>
              <a:schemeClr val="tx1"/>
            </a:solidFill>
            <a:prstDash val="solid"/>
          </a:ln>
        </p:spPr>
      </p:sp>
      <p:pic>
        <p:nvPicPr>
          <p:cNvPr id="13" name="Image 3" descr="assets/ic-globe-w.png">    </p:cNvPr>
          <p:cNvPicPr>
            <a:picLocks noChangeAspect="1"/>
          </p:cNvPicPr>
          <p:nvPr/>
        </p:nvPicPr>
        <p:blipFill>
          <a:blip r:embed="rId4"/>
          <a:stretch>
            <a:fillRect/>
          </a:stretch>
        </p:blipFill>
        <p:spPr>
          <a:xfrm>
            <a:off x="6839712" y="3520440"/>
            <a:ext cx="329184" cy="329184"/>
          </a:xfrm>
          <a:prstGeom prst="rect">
            <a:avLst/>
          </a:prstGeom>
        </p:spPr>
      </p:pic>
      <p:sp>
        <p:nvSpPr>
          <p:cNvPr id="14" name="Text 7"/>
          <p:cNvSpPr txBox="1"/>
          <p:nvPr/>
        </p:nvSpPr>
        <p:spPr>
          <a:xfrm>
            <a:off x="7571232" y="3337560"/>
            <a:ext cx="40416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Không cần cài đặt</a:t>
            </a:r>
            <a:endParaRPr lang="en-US" sz="1800" dirty="0"/>
          </a:p>
        </p:txBody>
      </p:sp>
      <p:sp>
        <p:nvSpPr>
          <p:cNvPr id="15" name="Text 8"/>
          <p:cNvSpPr txBox="1"/>
          <p:nvPr/>
        </p:nvSpPr>
        <p:spPr>
          <a:xfrm>
            <a:off x="7571232" y="3703320"/>
            <a:ext cx="40416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Mở bằng trình duyệt là học được, không phải tải ứng dụng.</a:t>
            </a:r>
            <a:endParaRPr lang="en-US" sz="1500" dirty="0"/>
          </a:p>
        </p:txBody>
      </p:sp>
      <p:sp>
        <p:nvSpPr>
          <p:cNvPr id="16" name="Nền biểu tượng"/>
          <p:cNvSpPr/>
          <p:nvPr/>
        </p:nvSpPr>
        <p:spPr>
          <a:xfrm>
            <a:off x="6675120" y="4773168"/>
            <a:ext cx="658368" cy="658368"/>
          </a:xfrm>
          <a:prstGeom prst="ellipse">
            <a:avLst/>
          </a:prstGeom>
          <a:solidFill>
            <a:schemeClr val="accent5"/>
          </a:solidFill>
          <a:ln w="19050">
            <a:solidFill>
              <a:schemeClr val="tx1"/>
            </a:solidFill>
            <a:prstDash val="solid"/>
          </a:ln>
        </p:spPr>
      </p:sp>
      <p:pic>
        <p:nvPicPr>
          <p:cNvPr id="17" name="Image 4" descr="assets/ic-pencil-w.png">    </p:cNvPr>
          <p:cNvPicPr>
            <a:picLocks noChangeAspect="1"/>
          </p:cNvPicPr>
          <p:nvPr/>
        </p:nvPicPr>
        <p:blipFill>
          <a:blip r:embed="rId5"/>
          <a:stretch>
            <a:fillRect/>
          </a:stretch>
        </p:blipFill>
        <p:spPr>
          <a:xfrm>
            <a:off x="6839712" y="4937760"/>
            <a:ext cx="329184" cy="329184"/>
          </a:xfrm>
          <a:prstGeom prst="rect">
            <a:avLst/>
          </a:prstGeom>
        </p:spPr>
      </p:pic>
      <p:sp>
        <p:nvSpPr>
          <p:cNvPr id="18" name="Text 10"/>
          <p:cNvSpPr txBox="1"/>
          <p:nvPr/>
        </p:nvSpPr>
        <p:spPr>
          <a:xfrm>
            <a:off x="7571232" y="4754880"/>
            <a:ext cx="404164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Nút bấm to, dễ chạm</a:t>
            </a:r>
            <a:endParaRPr lang="en-US" sz="1800" dirty="0"/>
          </a:p>
        </p:txBody>
      </p:sp>
      <p:sp>
        <p:nvSpPr>
          <p:cNvPr id="19" name="Text 11"/>
          <p:cNvSpPr txBox="1"/>
          <p:nvPr/>
        </p:nvSpPr>
        <p:spPr>
          <a:xfrm>
            <a:off x="7571232" y="5120640"/>
            <a:ext cx="404164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Đáp án và nút trả lời đủ lớn cho ngón tay của em.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Giáo viên thấy điểm cả lớp trong một trang</a:t>
            </a:r>
            <a:endParaRPr lang="en-US" sz="3600" dirty="0"/>
          </a:p>
        </p:txBody>
      </p:sp>
      <p:sp>
        <p:nvSpPr>
          <p:cNvPr id="4" name="Nền biểu tượng"/>
          <p:cNvSpPr/>
          <p:nvPr/>
        </p:nvSpPr>
        <p:spPr>
          <a:xfrm>
            <a:off x="548640" y="1755648"/>
            <a:ext cx="658368" cy="658368"/>
          </a:xfrm>
          <a:prstGeom prst="ellipse">
            <a:avLst/>
          </a:prstGeom>
          <a:solidFill>
            <a:schemeClr val="accent1"/>
          </a:solidFill>
          <a:ln w="19050">
            <a:solidFill>
              <a:schemeClr val="tx1"/>
            </a:solidFill>
            <a:prstDash val="solid"/>
          </a:ln>
        </p:spPr>
      </p:sp>
      <p:pic>
        <p:nvPicPr>
          <p:cNvPr id="5" name="Image 0" descr="assets/ic-chart-w.png">    </p:cNvPr>
          <p:cNvPicPr>
            <a:picLocks noChangeAspect="1"/>
          </p:cNvPicPr>
          <p:nvPr/>
        </p:nvPicPr>
        <p:blipFill>
          <a:blip r:embed="rId1"/>
          <a:stretch>
            <a:fillRect/>
          </a:stretch>
        </p:blipFill>
        <p:spPr>
          <a:xfrm>
            <a:off x="713232" y="1920240"/>
            <a:ext cx="329184" cy="329184"/>
          </a:xfrm>
          <a:prstGeom prst="rect">
            <a:avLst/>
          </a:prstGeom>
        </p:spPr>
      </p:pic>
      <p:sp>
        <p:nvSpPr>
          <p:cNvPr id="6" name="Text 2"/>
          <p:cNvSpPr txBox="1"/>
          <p:nvPr/>
        </p:nvSpPr>
        <p:spPr>
          <a:xfrm>
            <a:off x="1444752" y="1737360"/>
            <a:ext cx="321868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Tổng quan</a:t>
            </a:r>
            <a:endParaRPr lang="en-US" sz="1800" dirty="0"/>
          </a:p>
        </p:txBody>
      </p:sp>
      <p:sp>
        <p:nvSpPr>
          <p:cNvPr id="7" name="Text 3"/>
          <p:cNvSpPr txBox="1"/>
          <p:nvPr/>
        </p:nvSpPr>
        <p:spPr>
          <a:xfrm>
            <a:off x="1444752" y="2103120"/>
            <a:ext cx="321868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Số học sinh, lượt làm bài, điểm trung bình và lượt làm trong 24 giờ qua.</a:t>
            </a:r>
            <a:endParaRPr lang="en-US" sz="1500" dirty="0"/>
          </a:p>
        </p:txBody>
      </p:sp>
      <p:sp>
        <p:nvSpPr>
          <p:cNvPr id="8" name="Nền biểu tượng"/>
          <p:cNvSpPr/>
          <p:nvPr/>
        </p:nvSpPr>
        <p:spPr>
          <a:xfrm>
            <a:off x="548640" y="3264408"/>
            <a:ext cx="658368" cy="658368"/>
          </a:xfrm>
          <a:prstGeom prst="ellipse">
            <a:avLst/>
          </a:prstGeom>
          <a:solidFill>
            <a:schemeClr val="accent4"/>
          </a:solidFill>
          <a:ln w="19050">
            <a:solidFill>
              <a:schemeClr val="tx1"/>
            </a:solidFill>
            <a:prstDash val="solid"/>
          </a:ln>
        </p:spPr>
      </p:sp>
      <p:pic>
        <p:nvPicPr>
          <p:cNvPr id="9" name="Image 1" descr="assets/ic-list-w.png">    </p:cNvPr>
          <p:cNvPicPr>
            <a:picLocks noChangeAspect="1"/>
          </p:cNvPicPr>
          <p:nvPr/>
        </p:nvPicPr>
        <p:blipFill>
          <a:blip r:embed="rId2"/>
          <a:stretch>
            <a:fillRect/>
          </a:stretch>
        </p:blipFill>
        <p:spPr>
          <a:xfrm>
            <a:off x="713232" y="3429000"/>
            <a:ext cx="329184" cy="329184"/>
          </a:xfrm>
          <a:prstGeom prst="rect">
            <a:avLst/>
          </a:prstGeom>
        </p:spPr>
      </p:pic>
      <p:sp>
        <p:nvSpPr>
          <p:cNvPr id="10" name="Text 5"/>
          <p:cNvSpPr txBox="1"/>
          <p:nvPr/>
        </p:nvSpPr>
        <p:spPr>
          <a:xfrm>
            <a:off x="1444752" y="3246120"/>
            <a:ext cx="321868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Bảng điểm từng em</a:t>
            </a:r>
            <a:endParaRPr lang="en-US" sz="1800" dirty="0"/>
          </a:p>
        </p:txBody>
      </p:sp>
      <p:sp>
        <p:nvSpPr>
          <p:cNvPr id="11" name="Text 6"/>
          <p:cNvSpPr txBox="1"/>
          <p:nvPr/>
        </p:nvSpPr>
        <p:spPr>
          <a:xfrm>
            <a:off x="1444752" y="3611880"/>
            <a:ext cx="321868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Tổng điểm, số bài đã làm, điểm trung bình và lần vào gần nhất.</a:t>
            </a:r>
            <a:endParaRPr lang="en-US" sz="1500" dirty="0"/>
          </a:p>
        </p:txBody>
      </p:sp>
      <p:sp>
        <p:nvSpPr>
          <p:cNvPr id="12" name="Nền biểu tượng"/>
          <p:cNvSpPr/>
          <p:nvPr/>
        </p:nvSpPr>
        <p:spPr>
          <a:xfrm>
            <a:off x="548640" y="4773168"/>
            <a:ext cx="658368" cy="658368"/>
          </a:xfrm>
          <a:prstGeom prst="ellipse">
            <a:avLst/>
          </a:prstGeom>
          <a:solidFill>
            <a:schemeClr val="accent3"/>
          </a:solidFill>
          <a:ln w="19050">
            <a:solidFill>
              <a:schemeClr val="tx1"/>
            </a:solidFill>
            <a:prstDash val="solid"/>
          </a:ln>
        </p:spPr>
      </p:sp>
      <p:pic>
        <p:nvPicPr>
          <p:cNvPr id="13" name="Image 2" descr="assets/ic-search-w.png">    </p:cNvPr>
          <p:cNvPicPr>
            <a:picLocks noChangeAspect="1"/>
          </p:cNvPicPr>
          <p:nvPr/>
        </p:nvPicPr>
        <p:blipFill>
          <a:blip r:embed="rId3"/>
          <a:stretch>
            <a:fillRect/>
          </a:stretch>
        </p:blipFill>
        <p:spPr>
          <a:xfrm>
            <a:off x="713232" y="4937760"/>
            <a:ext cx="329184" cy="329184"/>
          </a:xfrm>
          <a:prstGeom prst="rect">
            <a:avLst/>
          </a:prstGeom>
        </p:spPr>
      </p:pic>
      <p:sp>
        <p:nvSpPr>
          <p:cNvPr id="14" name="Text 8"/>
          <p:cNvSpPr txBox="1"/>
          <p:nvPr/>
        </p:nvSpPr>
        <p:spPr>
          <a:xfrm>
            <a:off x="1444752" y="4754880"/>
            <a:ext cx="321868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Tìm và xoá</a:t>
            </a:r>
            <a:endParaRPr lang="en-US" sz="1800" dirty="0"/>
          </a:p>
        </p:txBody>
      </p:sp>
      <p:sp>
        <p:nvSpPr>
          <p:cNvPr id="15" name="Text 9"/>
          <p:cNvSpPr txBox="1"/>
          <p:nvPr/>
        </p:nvSpPr>
        <p:spPr>
          <a:xfrm>
            <a:off x="1444752" y="5120640"/>
            <a:ext cx="321868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Tìm học sinh theo tên; xoá một em hoặc một lượt làm bài.</a:t>
            </a:r>
            <a:endParaRPr lang="en-US" sz="1500" dirty="0"/>
          </a:p>
        </p:txBody>
      </p:sp>
      <p:sp>
        <p:nvSpPr>
          <p:cNvPr id="16" name="Đổ bóng thẻ"/>
          <p:cNvSpPr/>
          <p:nvPr/>
        </p:nvSpPr>
        <p:spPr>
          <a:xfrm>
            <a:off x="5001768" y="1755648"/>
            <a:ext cx="6675120" cy="4351304"/>
          </a:xfrm>
          <a:prstGeom prst="roundRect">
            <a:avLst>
              <a:gd name="adj" fmla="val 2942"/>
            </a:avLst>
          </a:prstGeom>
          <a:solidFill>
            <a:schemeClr val="tx1"/>
          </a:solidFill>
          <a:ln w="6350">
            <a:solidFill>
              <a:schemeClr val="tx1"/>
            </a:solidFill>
            <a:prstDash val="solid"/>
          </a:ln>
        </p:spPr>
      </p:sp>
      <p:sp>
        <p:nvSpPr>
          <p:cNvPr id="17" name="Thẻ"/>
          <p:cNvSpPr/>
          <p:nvPr/>
        </p:nvSpPr>
        <p:spPr>
          <a:xfrm>
            <a:off x="4937760" y="1691640"/>
            <a:ext cx="6675120" cy="4351304"/>
          </a:xfrm>
          <a:prstGeom prst="roundRect">
            <a:avLst>
              <a:gd name="adj" fmla="val 2942"/>
            </a:avLst>
          </a:prstGeom>
          <a:solidFill>
            <a:schemeClr val="bg1"/>
          </a:solidFill>
          <a:ln w="22225">
            <a:solidFill>
              <a:schemeClr val="tx1"/>
            </a:solidFill>
            <a:prstDash val="solid"/>
          </a:ln>
        </p:spPr>
      </p:sp>
      <p:pic>
        <p:nvPicPr>
          <p:cNvPr id="18" name="Image 3" descr="Trang quản lý của giáo viên">    </p:cNvPr>
          <p:cNvPicPr>
            <a:picLocks noChangeAspect="1"/>
          </p:cNvPicPr>
          <p:nvPr/>
        </p:nvPicPr>
        <p:blipFill>
          <a:blip r:embed="rId4"/>
          <a:stretch>
            <a:fillRect/>
          </a:stretch>
        </p:blipFill>
        <p:spPr>
          <a:xfrm>
            <a:off x="5010912" y="1764792"/>
            <a:ext cx="6528816" cy="4205000"/>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Xem được từng câu học sinh đã trả lời</a:t>
            </a:r>
            <a:endParaRPr lang="en-US" sz="3600" dirty="0"/>
          </a:p>
        </p:txBody>
      </p:sp>
      <p:sp>
        <p:nvSpPr>
          <p:cNvPr id="4" name="Đổ bóng thẻ"/>
          <p:cNvSpPr/>
          <p:nvPr/>
        </p:nvSpPr>
        <p:spPr>
          <a:xfrm>
            <a:off x="612648" y="1755648"/>
            <a:ext cx="6583680" cy="4401519"/>
          </a:xfrm>
          <a:prstGeom prst="roundRect">
            <a:avLst>
              <a:gd name="adj" fmla="val 2908"/>
            </a:avLst>
          </a:prstGeom>
          <a:solidFill>
            <a:schemeClr val="tx1"/>
          </a:solidFill>
          <a:ln w="6350">
            <a:solidFill>
              <a:schemeClr val="tx1"/>
            </a:solidFill>
            <a:prstDash val="solid"/>
          </a:ln>
        </p:spPr>
      </p:sp>
      <p:sp>
        <p:nvSpPr>
          <p:cNvPr id="5" name="Thẻ"/>
          <p:cNvSpPr/>
          <p:nvPr/>
        </p:nvSpPr>
        <p:spPr>
          <a:xfrm>
            <a:off x="548640" y="1691640"/>
            <a:ext cx="6583680" cy="4401519"/>
          </a:xfrm>
          <a:prstGeom prst="roundRect">
            <a:avLst>
              <a:gd name="adj" fmla="val 2908"/>
            </a:avLst>
          </a:prstGeom>
          <a:solidFill>
            <a:schemeClr val="bg1"/>
          </a:solidFill>
          <a:ln w="22225">
            <a:solidFill>
              <a:schemeClr val="tx1"/>
            </a:solidFill>
            <a:prstDash val="solid"/>
          </a:ln>
        </p:spPr>
      </p:sp>
      <p:pic>
        <p:nvPicPr>
          <p:cNvPr id="6" name="Image 0" descr="Chi tiết một lượt làm bài">    </p:cNvPr>
          <p:cNvPicPr>
            <a:picLocks noChangeAspect="1"/>
          </p:cNvPicPr>
          <p:nvPr/>
        </p:nvPicPr>
        <p:blipFill>
          <a:blip r:embed="rId1"/>
          <a:stretch>
            <a:fillRect/>
          </a:stretch>
        </p:blipFill>
        <p:spPr>
          <a:xfrm>
            <a:off x="621792" y="1764792"/>
            <a:ext cx="6437376" cy="4255215"/>
          </a:xfrm>
          <a:prstGeom prst="rect">
            <a:avLst/>
          </a:prstGeom>
        </p:spPr>
      </p:pic>
      <p:sp>
        <p:nvSpPr>
          <p:cNvPr id="7" name="Nền biểu tượng"/>
          <p:cNvSpPr/>
          <p:nvPr/>
        </p:nvSpPr>
        <p:spPr>
          <a:xfrm>
            <a:off x="7406640" y="1755648"/>
            <a:ext cx="658368" cy="658368"/>
          </a:xfrm>
          <a:prstGeom prst="ellipse">
            <a:avLst/>
          </a:prstGeom>
          <a:solidFill>
            <a:schemeClr val="accent1"/>
          </a:solidFill>
          <a:ln w="19050">
            <a:solidFill>
              <a:schemeClr val="tx1"/>
            </a:solidFill>
            <a:prstDash val="solid"/>
          </a:ln>
        </p:spPr>
      </p:sp>
      <p:pic>
        <p:nvPicPr>
          <p:cNvPr id="8" name="Image 1" descr="assets/ic-search-w.png">    </p:cNvPr>
          <p:cNvPicPr>
            <a:picLocks noChangeAspect="1"/>
          </p:cNvPicPr>
          <p:nvPr/>
        </p:nvPicPr>
        <p:blipFill>
          <a:blip r:embed="rId2"/>
          <a:stretch>
            <a:fillRect/>
          </a:stretch>
        </p:blipFill>
        <p:spPr>
          <a:xfrm>
            <a:off x="7571232" y="1920240"/>
            <a:ext cx="329184" cy="329184"/>
          </a:xfrm>
          <a:prstGeom prst="rect">
            <a:avLst/>
          </a:prstGeom>
        </p:spPr>
      </p:pic>
      <p:sp>
        <p:nvSpPr>
          <p:cNvPr id="9" name="Text 4"/>
          <p:cNvSpPr txBox="1"/>
          <p:nvPr/>
        </p:nvSpPr>
        <p:spPr>
          <a:xfrm>
            <a:off x="8302752" y="1737360"/>
            <a:ext cx="33101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Lọc nhanh</a:t>
            </a:r>
            <a:endParaRPr lang="en-US" sz="1800" dirty="0"/>
          </a:p>
        </p:txBody>
      </p:sp>
      <p:sp>
        <p:nvSpPr>
          <p:cNvPr id="10" name="Text 5"/>
          <p:cNvSpPr txBox="1"/>
          <p:nvPr/>
        </p:nvSpPr>
        <p:spPr>
          <a:xfrm>
            <a:off x="8302752" y="2103120"/>
            <a:ext cx="3310128" cy="566928"/>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Theo từng học sinh hoặc theo từng bài.</a:t>
            </a:r>
            <a:endParaRPr lang="en-US" sz="1500" dirty="0"/>
          </a:p>
        </p:txBody>
      </p:sp>
      <p:sp>
        <p:nvSpPr>
          <p:cNvPr id="11" name="Nền biểu tượng"/>
          <p:cNvSpPr/>
          <p:nvPr/>
        </p:nvSpPr>
        <p:spPr>
          <a:xfrm>
            <a:off x="7406640" y="3035808"/>
            <a:ext cx="658368" cy="658368"/>
          </a:xfrm>
          <a:prstGeom prst="ellipse">
            <a:avLst/>
          </a:prstGeom>
          <a:solidFill>
            <a:schemeClr val="accent4"/>
          </a:solidFill>
          <a:ln w="19050">
            <a:solidFill>
              <a:schemeClr val="tx1"/>
            </a:solidFill>
            <a:prstDash val="solid"/>
          </a:ln>
        </p:spPr>
      </p:sp>
      <p:pic>
        <p:nvPicPr>
          <p:cNvPr id="12" name="Image 2" descr="assets/ic-eye-w.png">    </p:cNvPr>
          <p:cNvPicPr>
            <a:picLocks noChangeAspect="1"/>
          </p:cNvPicPr>
          <p:nvPr/>
        </p:nvPicPr>
        <p:blipFill>
          <a:blip r:embed="rId3"/>
          <a:stretch>
            <a:fillRect/>
          </a:stretch>
        </p:blipFill>
        <p:spPr>
          <a:xfrm>
            <a:off x="7571232" y="3200400"/>
            <a:ext cx="329184" cy="329184"/>
          </a:xfrm>
          <a:prstGeom prst="rect">
            <a:avLst/>
          </a:prstGeom>
        </p:spPr>
      </p:pic>
      <p:sp>
        <p:nvSpPr>
          <p:cNvPr id="13" name="Text 7"/>
          <p:cNvSpPr txBox="1"/>
          <p:nvPr/>
        </p:nvSpPr>
        <p:spPr>
          <a:xfrm>
            <a:off x="8302752" y="3017520"/>
            <a:ext cx="33101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Mở từng lượt làm</a:t>
            </a:r>
            <a:endParaRPr lang="en-US" sz="1800" dirty="0"/>
          </a:p>
        </p:txBody>
      </p:sp>
      <p:sp>
        <p:nvSpPr>
          <p:cNvPr id="14" name="Text 8"/>
          <p:cNvSpPr txBox="1"/>
          <p:nvPr/>
        </p:nvSpPr>
        <p:spPr>
          <a:xfrm>
            <a:off x="8302752" y="3383280"/>
            <a:ext cx="331012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Thấy từng câu: em trả lời gì, đáp án đúng là gì.</a:t>
            </a:r>
            <a:endParaRPr lang="en-US" sz="1500" dirty="0"/>
          </a:p>
        </p:txBody>
      </p:sp>
      <p:sp>
        <p:nvSpPr>
          <p:cNvPr id="15" name="Nền biểu tượng"/>
          <p:cNvSpPr/>
          <p:nvPr/>
        </p:nvSpPr>
        <p:spPr>
          <a:xfrm>
            <a:off x="7406640" y="4453128"/>
            <a:ext cx="658368" cy="658368"/>
          </a:xfrm>
          <a:prstGeom prst="ellipse">
            <a:avLst/>
          </a:prstGeom>
          <a:solidFill>
            <a:schemeClr val="accent5"/>
          </a:solidFill>
          <a:ln w="19050">
            <a:solidFill>
              <a:schemeClr val="tx1"/>
            </a:solidFill>
            <a:prstDash val="solid"/>
          </a:ln>
        </p:spPr>
      </p:sp>
      <p:pic>
        <p:nvPicPr>
          <p:cNvPr id="16" name="Image 3" descr="assets/ic-csv-w.png">    </p:cNvPr>
          <p:cNvPicPr>
            <a:picLocks noChangeAspect="1"/>
          </p:cNvPicPr>
          <p:nvPr/>
        </p:nvPicPr>
        <p:blipFill>
          <a:blip r:embed="rId4"/>
          <a:stretch>
            <a:fillRect/>
          </a:stretch>
        </p:blipFill>
        <p:spPr>
          <a:xfrm>
            <a:off x="7571232" y="4617720"/>
            <a:ext cx="329184" cy="329184"/>
          </a:xfrm>
          <a:prstGeom prst="rect">
            <a:avLst/>
          </a:prstGeom>
        </p:spPr>
      </p:pic>
      <p:sp>
        <p:nvSpPr>
          <p:cNvPr id="17" name="Text 10"/>
          <p:cNvSpPr txBox="1"/>
          <p:nvPr/>
        </p:nvSpPr>
        <p:spPr>
          <a:xfrm>
            <a:off x="8302752" y="4434840"/>
            <a:ext cx="331012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Tải điểm về Excel</a:t>
            </a:r>
            <a:endParaRPr lang="en-US" sz="1800" dirty="0"/>
          </a:p>
        </p:txBody>
      </p:sp>
      <p:sp>
        <p:nvSpPr>
          <p:cNvPr id="18" name="Text 11"/>
          <p:cNvSpPr txBox="1"/>
          <p:nvPr/>
        </p:nvSpPr>
        <p:spPr>
          <a:xfrm>
            <a:off x="8302752" y="4800600"/>
            <a:ext cx="331012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Tệp CSV gồm tên, ngày sinh, bài, điểm, thời gian và giờ nộp.</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1 187 câu hỏi cho 13 chủ đề</a:t>
            </a:r>
            <a:endParaRPr lang="en-US" sz="3600" dirty="0"/>
          </a:p>
        </p:txBody>
      </p:sp>
      <p:graphicFrame>
        <p:nvGraphicFramePr>
          <p:cNvPr id="4" name="Chart 0" descr=""/>
          <p:cNvGraphicFramePr/>
          <p:nvPr/>
        </p:nvGraphicFramePr>
        <p:xfrm>
          <a:off x="457200" y="1508760"/>
          <a:ext cx="6949440" cy="4800600"/>
        </p:xfrm>
        <a:graphic xmlns:a="http://schemas.openxmlformats.org/drawingml/2006/main">
          <a:graphicData uri="http://schemas.openxmlformats.org/drawingml/2006/chart">
            <c:chart xmlns:c="http://schemas.openxmlformats.org/drawingml/2006/chart" r:id="rId1"/>
          </a:graphicData>
        </a:graphic>
      </p:graphicFrame>
      <p:sp>
        <p:nvSpPr>
          <p:cNvPr id="5" name="Nền biểu tượng"/>
          <p:cNvSpPr/>
          <p:nvPr/>
        </p:nvSpPr>
        <p:spPr>
          <a:xfrm>
            <a:off x="7726680" y="1755648"/>
            <a:ext cx="658368" cy="658368"/>
          </a:xfrm>
          <a:prstGeom prst="ellipse">
            <a:avLst/>
          </a:prstGeom>
          <a:solidFill>
            <a:schemeClr val="accent1"/>
          </a:solidFill>
          <a:ln w="19050">
            <a:solidFill>
              <a:schemeClr val="tx1"/>
            </a:solidFill>
            <a:prstDash val="solid"/>
          </a:ln>
        </p:spPr>
      </p:sp>
      <p:pic>
        <p:nvPicPr>
          <p:cNvPr id="6" name="Image 0" descr="assets/ic-pencil-w.png">    </p:cNvPr>
          <p:cNvPicPr>
            <a:picLocks noChangeAspect="1"/>
          </p:cNvPicPr>
          <p:nvPr/>
        </p:nvPicPr>
        <p:blipFill>
          <a:blip r:embed="rId2"/>
          <a:stretch>
            <a:fillRect/>
          </a:stretch>
        </p:blipFill>
        <p:spPr>
          <a:xfrm>
            <a:off x="7891272" y="1920240"/>
            <a:ext cx="329184" cy="329184"/>
          </a:xfrm>
          <a:prstGeom prst="rect">
            <a:avLst/>
          </a:prstGeom>
        </p:spPr>
      </p:pic>
      <p:sp>
        <p:nvSpPr>
          <p:cNvPr id="7" name="Text 2"/>
          <p:cNvSpPr txBox="1"/>
          <p:nvPr/>
        </p:nvSpPr>
        <p:spPr>
          <a:xfrm>
            <a:off x="8622792" y="1737360"/>
            <a:ext cx="303580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Soạn lại, không chép</a:t>
            </a:r>
            <a:endParaRPr lang="en-US" sz="1800" dirty="0"/>
          </a:p>
        </p:txBody>
      </p:sp>
      <p:sp>
        <p:nvSpPr>
          <p:cNvPr id="8" name="Text 3"/>
          <p:cNvSpPr txBox="1"/>
          <p:nvPr/>
        </p:nvSpPr>
        <p:spPr>
          <a:xfrm>
            <a:off x="8622792" y="2103120"/>
            <a:ext cx="3035808" cy="8686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Câu hỏi bám theo bài tập của từng bài trong sách, viết lại để máy chấm được.</a:t>
            </a:r>
            <a:endParaRPr lang="en-US" sz="1500" dirty="0"/>
          </a:p>
        </p:txBody>
      </p:sp>
      <p:sp>
        <p:nvSpPr>
          <p:cNvPr id="9" name="Nền biểu tượng"/>
          <p:cNvSpPr/>
          <p:nvPr/>
        </p:nvSpPr>
        <p:spPr>
          <a:xfrm>
            <a:off x="7726680" y="3355848"/>
            <a:ext cx="658368" cy="658368"/>
          </a:xfrm>
          <a:prstGeom prst="ellipse">
            <a:avLst/>
          </a:prstGeom>
          <a:solidFill>
            <a:schemeClr val="accent4"/>
          </a:solidFill>
          <a:ln w="19050">
            <a:solidFill>
              <a:schemeClr val="tx1"/>
            </a:solidFill>
            <a:prstDash val="solid"/>
          </a:ln>
        </p:spPr>
      </p:sp>
      <p:pic>
        <p:nvPicPr>
          <p:cNvPr id="10" name="Image 1" descr="assets/ic-check-w.png">    </p:cNvPr>
          <p:cNvPicPr>
            <a:picLocks noChangeAspect="1"/>
          </p:cNvPicPr>
          <p:nvPr/>
        </p:nvPicPr>
        <p:blipFill>
          <a:blip r:embed="rId3"/>
          <a:stretch>
            <a:fillRect/>
          </a:stretch>
        </p:blipFill>
        <p:spPr>
          <a:xfrm>
            <a:off x="7891272" y="3520440"/>
            <a:ext cx="329184" cy="329184"/>
          </a:xfrm>
          <a:prstGeom prst="rect">
            <a:avLst/>
          </a:prstGeom>
        </p:spPr>
      </p:pic>
      <p:sp>
        <p:nvSpPr>
          <p:cNvPr id="11" name="Text 5"/>
          <p:cNvSpPr txBox="1"/>
          <p:nvPr/>
        </p:nvSpPr>
        <p:spPr>
          <a:xfrm>
            <a:off x="8622792" y="3337560"/>
            <a:ext cx="303580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Kiểm tra tự động</a:t>
            </a:r>
            <a:endParaRPr lang="en-US" sz="1800" dirty="0"/>
          </a:p>
        </p:txBody>
      </p:sp>
      <p:sp>
        <p:nvSpPr>
          <p:cNvPr id="12" name="Text 6"/>
          <p:cNvSpPr txBox="1"/>
          <p:nvPr/>
        </p:nvSpPr>
        <p:spPr>
          <a:xfrm>
            <a:off x="8622792" y="3703320"/>
            <a:ext cx="303580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Mỗi câu có đáp án hợp lệ và không trùng đề trong cùng bài.</a:t>
            </a:r>
            <a:endParaRPr lang="en-US" sz="1500" dirty="0"/>
          </a:p>
        </p:txBody>
      </p:sp>
      <p:sp>
        <p:nvSpPr>
          <p:cNvPr id="13" name="Nền biểu tượng"/>
          <p:cNvSpPr/>
          <p:nvPr/>
        </p:nvSpPr>
        <p:spPr>
          <a:xfrm>
            <a:off x="7726680" y="4864608"/>
            <a:ext cx="658368" cy="658368"/>
          </a:xfrm>
          <a:prstGeom prst="ellipse">
            <a:avLst/>
          </a:prstGeom>
          <a:solidFill>
            <a:schemeClr val="accent3"/>
          </a:solidFill>
          <a:ln w="19050">
            <a:solidFill>
              <a:schemeClr val="tx1"/>
            </a:solidFill>
            <a:prstDash val="solid"/>
          </a:ln>
        </p:spPr>
      </p:sp>
      <p:pic>
        <p:nvPicPr>
          <p:cNvPr id="14" name="Image 2" descr="assets/ic-teacher-w.png">    </p:cNvPr>
          <p:cNvPicPr>
            <a:picLocks noChangeAspect="1"/>
          </p:cNvPicPr>
          <p:nvPr/>
        </p:nvPicPr>
        <p:blipFill>
          <a:blip r:embed="rId4"/>
          <a:stretch>
            <a:fillRect/>
          </a:stretch>
        </p:blipFill>
        <p:spPr>
          <a:xfrm>
            <a:off x="7891272" y="5029200"/>
            <a:ext cx="329184" cy="329184"/>
          </a:xfrm>
          <a:prstGeom prst="rect">
            <a:avLst/>
          </a:prstGeom>
        </p:spPr>
      </p:pic>
      <p:sp>
        <p:nvSpPr>
          <p:cNvPr id="15" name="Text 8"/>
          <p:cNvSpPr txBox="1"/>
          <p:nvPr/>
        </p:nvSpPr>
        <p:spPr>
          <a:xfrm>
            <a:off x="8622792" y="4846320"/>
            <a:ext cx="3035808" cy="347472"/>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Cần giáo viên duyệt</a:t>
            </a:r>
            <a:endParaRPr lang="en-US" sz="1800" dirty="0"/>
          </a:p>
        </p:txBody>
      </p:sp>
      <p:sp>
        <p:nvSpPr>
          <p:cNvPr id="16" name="Text 9"/>
          <p:cNvSpPr txBox="1"/>
          <p:nvPr/>
        </p:nvSpPr>
        <p:spPr>
          <a:xfrm>
            <a:off x="8622792" y="5212080"/>
            <a:ext cx="303580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Nên rà đáp án trước khi dùng chính thức với học sinh.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Ba lớp: trình duyệt, máy chủ, cơ sở dữ liệu</a:t>
            </a:r>
            <a:endParaRPr lang="en-US" sz="3600" dirty="0"/>
          </a:p>
        </p:txBody>
      </p:sp>
      <p:sp>
        <p:nvSpPr>
          <p:cNvPr id="4" name="Đổ bóng thẻ"/>
          <p:cNvSpPr/>
          <p:nvPr/>
        </p:nvSpPr>
        <p:spPr>
          <a:xfrm>
            <a:off x="612648" y="1755648"/>
            <a:ext cx="3383280" cy="2926080"/>
          </a:xfrm>
          <a:prstGeom prst="roundRect">
            <a:avLst>
              <a:gd name="adj" fmla="val 4375"/>
            </a:avLst>
          </a:prstGeom>
          <a:solidFill>
            <a:schemeClr val="tx1"/>
          </a:solidFill>
          <a:ln w="6350">
            <a:solidFill>
              <a:schemeClr val="tx1"/>
            </a:solidFill>
            <a:prstDash val="solid"/>
          </a:ln>
        </p:spPr>
      </p:sp>
      <p:sp>
        <p:nvSpPr>
          <p:cNvPr id="5" name="Thẻ"/>
          <p:cNvSpPr/>
          <p:nvPr/>
        </p:nvSpPr>
        <p:spPr>
          <a:xfrm>
            <a:off x="548640" y="1691640"/>
            <a:ext cx="3383280" cy="2926080"/>
          </a:xfrm>
          <a:prstGeom prst="roundRect">
            <a:avLst>
              <a:gd name="adj" fmla="val 4375"/>
            </a:avLst>
          </a:prstGeom>
          <a:solidFill>
            <a:schemeClr val="bg1"/>
          </a:solidFill>
          <a:ln w="22225">
            <a:solidFill>
              <a:schemeClr val="tx1"/>
            </a:solidFill>
            <a:prstDash val="solid"/>
          </a:ln>
        </p:spPr>
      </p:sp>
      <p:sp>
        <p:nvSpPr>
          <p:cNvPr id="6" name="Nền biểu tượng"/>
          <p:cNvSpPr/>
          <p:nvPr/>
        </p:nvSpPr>
        <p:spPr>
          <a:xfrm>
            <a:off x="868680" y="1965960"/>
            <a:ext cx="868680" cy="868680"/>
          </a:xfrm>
          <a:prstGeom prst="ellipse">
            <a:avLst/>
          </a:prstGeom>
          <a:solidFill>
            <a:schemeClr val="accent1"/>
          </a:solidFill>
          <a:ln w="19050">
            <a:solidFill>
              <a:schemeClr val="tx1"/>
            </a:solidFill>
            <a:prstDash val="solid"/>
          </a:ln>
        </p:spPr>
      </p:sp>
      <p:pic>
        <p:nvPicPr>
          <p:cNvPr id="7" name="Image 0" descr="assets/ic-desktop-w.png">    </p:cNvPr>
          <p:cNvPicPr>
            <a:picLocks noChangeAspect="1"/>
          </p:cNvPicPr>
          <p:nvPr/>
        </p:nvPicPr>
        <p:blipFill>
          <a:blip r:embed="rId1"/>
          <a:stretch>
            <a:fillRect/>
          </a:stretch>
        </p:blipFill>
        <p:spPr>
          <a:xfrm>
            <a:off x="1085850" y="2183130"/>
            <a:ext cx="434340" cy="434340"/>
          </a:xfrm>
          <a:prstGeom prst="rect">
            <a:avLst/>
          </a:prstGeom>
        </p:spPr>
      </p:pic>
      <p:sp>
        <p:nvSpPr>
          <p:cNvPr id="8" name="Text 4"/>
          <p:cNvSpPr txBox="1"/>
          <p:nvPr/>
        </p:nvSpPr>
        <p:spPr>
          <a:xfrm>
            <a:off x="868680" y="301752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Trình duyệt</a:t>
            </a:r>
            <a:endParaRPr lang="en-US" sz="2200" dirty="0"/>
          </a:p>
        </p:txBody>
      </p:sp>
      <p:sp>
        <p:nvSpPr>
          <p:cNvPr id="9" name="Text 5"/>
          <p:cNvSpPr txBox="1"/>
          <p:nvPr/>
        </p:nvSpPr>
        <p:spPr>
          <a:xfrm>
            <a:off x="868680" y="3566160"/>
            <a:ext cx="2743200" cy="10058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Giao diện cho học sinh và giáo viên, hình vẽ sẵn, âm thanh và giọng đọc.</a:t>
            </a:r>
            <a:endParaRPr lang="en-US" sz="1500" dirty="0"/>
          </a:p>
        </p:txBody>
      </p:sp>
      <p:pic>
        <p:nvPicPr>
          <p:cNvPr id="10" name="Image 1" descr="assets/ic-arrow-i.png">    </p:cNvPr>
          <p:cNvPicPr>
            <a:picLocks noChangeAspect="1"/>
          </p:cNvPicPr>
          <p:nvPr/>
        </p:nvPicPr>
        <p:blipFill>
          <a:blip r:embed="rId2"/>
          <a:stretch>
            <a:fillRect/>
          </a:stretch>
        </p:blipFill>
        <p:spPr>
          <a:xfrm>
            <a:off x="4023360" y="3017520"/>
            <a:ext cx="292608" cy="292608"/>
          </a:xfrm>
          <a:prstGeom prst="rect">
            <a:avLst/>
          </a:prstGeom>
        </p:spPr>
      </p:pic>
      <p:sp>
        <p:nvSpPr>
          <p:cNvPr id="11" name="Đổ bóng thẻ"/>
          <p:cNvSpPr/>
          <p:nvPr/>
        </p:nvSpPr>
        <p:spPr>
          <a:xfrm>
            <a:off x="4462272" y="1755648"/>
            <a:ext cx="3383280" cy="2926080"/>
          </a:xfrm>
          <a:prstGeom prst="roundRect">
            <a:avLst>
              <a:gd name="adj" fmla="val 4375"/>
            </a:avLst>
          </a:prstGeom>
          <a:solidFill>
            <a:schemeClr val="tx1"/>
          </a:solidFill>
          <a:ln w="6350">
            <a:solidFill>
              <a:schemeClr val="tx1"/>
            </a:solidFill>
            <a:prstDash val="solid"/>
          </a:ln>
        </p:spPr>
      </p:sp>
      <p:sp>
        <p:nvSpPr>
          <p:cNvPr id="12" name="Thẻ"/>
          <p:cNvSpPr/>
          <p:nvPr/>
        </p:nvSpPr>
        <p:spPr>
          <a:xfrm>
            <a:off x="4398264" y="1691640"/>
            <a:ext cx="3383280" cy="2926080"/>
          </a:xfrm>
          <a:prstGeom prst="roundRect">
            <a:avLst>
              <a:gd name="adj" fmla="val 4375"/>
            </a:avLst>
          </a:prstGeom>
          <a:solidFill>
            <a:schemeClr val="bg1"/>
          </a:solidFill>
          <a:ln w="22225">
            <a:solidFill>
              <a:schemeClr val="tx1"/>
            </a:solidFill>
            <a:prstDash val="solid"/>
          </a:ln>
        </p:spPr>
      </p:sp>
      <p:sp>
        <p:nvSpPr>
          <p:cNvPr id="13" name="Nền biểu tượng"/>
          <p:cNvSpPr/>
          <p:nvPr/>
        </p:nvSpPr>
        <p:spPr>
          <a:xfrm>
            <a:off x="4718304" y="1965960"/>
            <a:ext cx="868680" cy="868680"/>
          </a:xfrm>
          <a:prstGeom prst="ellipse">
            <a:avLst/>
          </a:prstGeom>
          <a:solidFill>
            <a:schemeClr val="accent5"/>
          </a:solidFill>
          <a:ln w="19050">
            <a:solidFill>
              <a:schemeClr val="tx1"/>
            </a:solidFill>
            <a:prstDash val="solid"/>
          </a:ln>
        </p:spPr>
      </p:sp>
      <p:pic>
        <p:nvPicPr>
          <p:cNvPr id="14" name="Image 2" descr="assets/ic-server-w.png">    </p:cNvPr>
          <p:cNvPicPr>
            <a:picLocks noChangeAspect="1"/>
          </p:cNvPicPr>
          <p:nvPr/>
        </p:nvPicPr>
        <p:blipFill>
          <a:blip r:embed="rId3"/>
          <a:stretch>
            <a:fillRect/>
          </a:stretch>
        </p:blipFill>
        <p:spPr>
          <a:xfrm>
            <a:off x="4935474" y="2183130"/>
            <a:ext cx="434340" cy="434340"/>
          </a:xfrm>
          <a:prstGeom prst="rect">
            <a:avLst/>
          </a:prstGeom>
        </p:spPr>
      </p:pic>
      <p:sp>
        <p:nvSpPr>
          <p:cNvPr id="15" name="Text 9"/>
          <p:cNvSpPr txBox="1"/>
          <p:nvPr/>
        </p:nvSpPr>
        <p:spPr>
          <a:xfrm>
            <a:off x="4718304" y="301752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Máy chủ trên Vercel</a:t>
            </a:r>
            <a:endParaRPr lang="en-US" sz="2200" dirty="0"/>
          </a:p>
        </p:txBody>
      </p:sp>
      <p:sp>
        <p:nvSpPr>
          <p:cNvPr id="16" name="Text 10"/>
          <p:cNvSpPr txBox="1"/>
          <p:nvPr/>
        </p:nvSpPr>
        <p:spPr>
          <a:xfrm>
            <a:off x="4718304" y="3566160"/>
            <a:ext cx="2743200" cy="10058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Đăng nhập, rút câu hỏi, chấm điểm, tính xếp hạng và trang quản lý.</a:t>
            </a:r>
            <a:endParaRPr lang="en-US" sz="1500" dirty="0"/>
          </a:p>
        </p:txBody>
      </p:sp>
      <p:pic>
        <p:nvPicPr>
          <p:cNvPr id="17" name="Image 3" descr="assets/ic-arrow-i.png">    </p:cNvPr>
          <p:cNvPicPr>
            <a:picLocks noChangeAspect="1"/>
          </p:cNvPicPr>
          <p:nvPr/>
        </p:nvPicPr>
        <p:blipFill>
          <a:blip r:embed="rId4"/>
          <a:stretch>
            <a:fillRect/>
          </a:stretch>
        </p:blipFill>
        <p:spPr>
          <a:xfrm>
            <a:off x="7872984" y="3017520"/>
            <a:ext cx="292608" cy="292608"/>
          </a:xfrm>
          <a:prstGeom prst="rect">
            <a:avLst/>
          </a:prstGeom>
        </p:spPr>
      </p:pic>
      <p:sp>
        <p:nvSpPr>
          <p:cNvPr id="18" name="Đổ bóng thẻ"/>
          <p:cNvSpPr/>
          <p:nvPr/>
        </p:nvSpPr>
        <p:spPr>
          <a:xfrm>
            <a:off x="8311896" y="1755648"/>
            <a:ext cx="3383280" cy="2926080"/>
          </a:xfrm>
          <a:prstGeom prst="roundRect">
            <a:avLst>
              <a:gd name="adj" fmla="val 4375"/>
            </a:avLst>
          </a:prstGeom>
          <a:solidFill>
            <a:schemeClr val="tx1"/>
          </a:solidFill>
          <a:ln w="6350">
            <a:solidFill>
              <a:schemeClr val="tx1"/>
            </a:solidFill>
            <a:prstDash val="solid"/>
          </a:ln>
        </p:spPr>
      </p:sp>
      <p:sp>
        <p:nvSpPr>
          <p:cNvPr id="19" name="Thẻ"/>
          <p:cNvSpPr/>
          <p:nvPr/>
        </p:nvSpPr>
        <p:spPr>
          <a:xfrm>
            <a:off x="8247888" y="1691640"/>
            <a:ext cx="3383280" cy="2926080"/>
          </a:xfrm>
          <a:prstGeom prst="roundRect">
            <a:avLst>
              <a:gd name="adj" fmla="val 4375"/>
            </a:avLst>
          </a:prstGeom>
          <a:solidFill>
            <a:schemeClr val="bg1"/>
          </a:solidFill>
          <a:ln w="22225">
            <a:solidFill>
              <a:schemeClr val="tx1"/>
            </a:solidFill>
            <a:prstDash val="solid"/>
          </a:ln>
        </p:spPr>
      </p:sp>
      <p:sp>
        <p:nvSpPr>
          <p:cNvPr id="20" name="Nền biểu tượng"/>
          <p:cNvSpPr/>
          <p:nvPr/>
        </p:nvSpPr>
        <p:spPr>
          <a:xfrm>
            <a:off x="8567928" y="1965960"/>
            <a:ext cx="868680" cy="868680"/>
          </a:xfrm>
          <a:prstGeom prst="ellipse">
            <a:avLst/>
          </a:prstGeom>
          <a:solidFill>
            <a:schemeClr val="accent4"/>
          </a:solidFill>
          <a:ln w="19050">
            <a:solidFill>
              <a:schemeClr val="tx1"/>
            </a:solidFill>
            <a:prstDash val="solid"/>
          </a:ln>
        </p:spPr>
      </p:sp>
      <p:pic>
        <p:nvPicPr>
          <p:cNvPr id="21" name="Image 4" descr="assets/ic-db-w.png">    </p:cNvPr>
          <p:cNvPicPr>
            <a:picLocks noChangeAspect="1"/>
          </p:cNvPicPr>
          <p:nvPr/>
        </p:nvPicPr>
        <p:blipFill>
          <a:blip r:embed="rId5"/>
          <a:stretch>
            <a:fillRect/>
          </a:stretch>
        </p:blipFill>
        <p:spPr>
          <a:xfrm>
            <a:off x="8785098" y="2183130"/>
            <a:ext cx="434340" cy="434340"/>
          </a:xfrm>
          <a:prstGeom prst="rect">
            <a:avLst/>
          </a:prstGeom>
        </p:spPr>
      </p:pic>
      <p:sp>
        <p:nvSpPr>
          <p:cNvPr id="22" name="Text 14"/>
          <p:cNvSpPr txBox="1"/>
          <p:nvPr/>
        </p:nvSpPr>
        <p:spPr>
          <a:xfrm>
            <a:off x="8567928" y="301752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Neon Postgres</a:t>
            </a:r>
            <a:endParaRPr lang="en-US" sz="2200" dirty="0"/>
          </a:p>
        </p:txBody>
      </p:sp>
      <p:sp>
        <p:nvSpPr>
          <p:cNvPr id="23" name="Text 15"/>
          <p:cNvSpPr txBox="1"/>
          <p:nvPr/>
        </p:nvSpPr>
        <p:spPr>
          <a:xfrm>
            <a:off x="8567928" y="3566160"/>
            <a:ext cx="2743200" cy="10058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Lưu học sinh, từng lượt làm bài, từng câu trả lời và điểm số.</a:t>
            </a:r>
            <a:endParaRPr lang="en-US" sz="1500" dirty="0"/>
          </a:p>
        </p:txBody>
      </p:sp>
      <p:sp>
        <p:nvSpPr>
          <p:cNvPr id="24" name="Shape 16"/>
          <p:cNvSpPr/>
          <p:nvPr/>
        </p:nvSpPr>
        <p:spPr>
          <a:xfrm>
            <a:off x="548640" y="5029200"/>
            <a:ext cx="2011680" cy="594360"/>
          </a:xfrm>
          <a:prstGeom prst="roundRect">
            <a:avLst>
              <a:gd name="adj" fmla="val 49231"/>
            </a:avLst>
          </a:prstGeom>
          <a:solidFill>
            <a:schemeClr val="bg2"/>
          </a:solidFill>
          <a:ln w="15875">
            <a:solidFill>
              <a:schemeClr val="tx1"/>
            </a:solidFill>
            <a:prstDash val="solid"/>
          </a:ln>
        </p:spPr>
      </p:sp>
      <p:sp>
        <p:nvSpPr>
          <p:cNvPr id="25" name="Text 17"/>
          <p:cNvSpPr txBox="1"/>
          <p:nvPr/>
        </p:nvSpPr>
        <p:spPr>
          <a:xfrm>
            <a:off x="548640" y="5029200"/>
            <a:ext cx="201168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Next.js 16</a:t>
            </a:r>
            <a:endParaRPr lang="en-US" sz="1600" dirty="0"/>
          </a:p>
        </p:txBody>
      </p:sp>
      <p:sp>
        <p:nvSpPr>
          <p:cNvPr id="26" name="Shape 18"/>
          <p:cNvSpPr/>
          <p:nvPr/>
        </p:nvSpPr>
        <p:spPr>
          <a:xfrm>
            <a:off x="2788920" y="5029200"/>
            <a:ext cx="2011680" cy="594360"/>
          </a:xfrm>
          <a:prstGeom prst="roundRect">
            <a:avLst>
              <a:gd name="adj" fmla="val 49231"/>
            </a:avLst>
          </a:prstGeom>
          <a:solidFill>
            <a:schemeClr val="bg2"/>
          </a:solidFill>
          <a:ln w="15875">
            <a:solidFill>
              <a:schemeClr val="tx1"/>
            </a:solidFill>
            <a:prstDash val="solid"/>
          </a:ln>
        </p:spPr>
      </p:sp>
      <p:sp>
        <p:nvSpPr>
          <p:cNvPr id="27" name="Text 19"/>
          <p:cNvSpPr txBox="1"/>
          <p:nvPr/>
        </p:nvSpPr>
        <p:spPr>
          <a:xfrm>
            <a:off x="2788920" y="5029200"/>
            <a:ext cx="201168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React 19</a:t>
            </a:r>
            <a:endParaRPr lang="en-US" sz="1600" dirty="0"/>
          </a:p>
        </p:txBody>
      </p:sp>
      <p:sp>
        <p:nvSpPr>
          <p:cNvPr id="28" name="Shape 20"/>
          <p:cNvSpPr/>
          <p:nvPr/>
        </p:nvSpPr>
        <p:spPr>
          <a:xfrm>
            <a:off x="5029200" y="5029200"/>
            <a:ext cx="2011680" cy="594360"/>
          </a:xfrm>
          <a:prstGeom prst="roundRect">
            <a:avLst>
              <a:gd name="adj" fmla="val 49231"/>
            </a:avLst>
          </a:prstGeom>
          <a:solidFill>
            <a:schemeClr val="bg2"/>
          </a:solidFill>
          <a:ln w="15875">
            <a:solidFill>
              <a:schemeClr val="tx1"/>
            </a:solidFill>
            <a:prstDash val="solid"/>
          </a:ln>
        </p:spPr>
      </p:sp>
      <p:sp>
        <p:nvSpPr>
          <p:cNvPr id="29" name="Text 21"/>
          <p:cNvSpPr txBox="1"/>
          <p:nvPr/>
        </p:nvSpPr>
        <p:spPr>
          <a:xfrm>
            <a:off x="5029200" y="5029200"/>
            <a:ext cx="201168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TypeScript</a:t>
            </a:r>
            <a:endParaRPr lang="en-US" sz="1600" dirty="0"/>
          </a:p>
        </p:txBody>
      </p:sp>
      <p:sp>
        <p:nvSpPr>
          <p:cNvPr id="30" name="Shape 22"/>
          <p:cNvSpPr/>
          <p:nvPr/>
        </p:nvSpPr>
        <p:spPr>
          <a:xfrm>
            <a:off x="7269480" y="5029200"/>
            <a:ext cx="2011680" cy="594360"/>
          </a:xfrm>
          <a:prstGeom prst="roundRect">
            <a:avLst>
              <a:gd name="adj" fmla="val 49231"/>
            </a:avLst>
          </a:prstGeom>
          <a:solidFill>
            <a:schemeClr val="bg2"/>
          </a:solidFill>
          <a:ln w="15875">
            <a:solidFill>
              <a:schemeClr val="tx1"/>
            </a:solidFill>
            <a:prstDash val="solid"/>
          </a:ln>
        </p:spPr>
      </p:sp>
      <p:sp>
        <p:nvSpPr>
          <p:cNvPr id="31" name="Text 23"/>
          <p:cNvSpPr txBox="1"/>
          <p:nvPr/>
        </p:nvSpPr>
        <p:spPr>
          <a:xfrm>
            <a:off x="7269480" y="5029200"/>
            <a:ext cx="201168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Neon Postgres</a:t>
            </a:r>
            <a:endParaRPr lang="en-US" sz="1600" dirty="0"/>
          </a:p>
        </p:txBody>
      </p:sp>
      <p:sp>
        <p:nvSpPr>
          <p:cNvPr id="32" name="Shape 24"/>
          <p:cNvSpPr/>
          <p:nvPr/>
        </p:nvSpPr>
        <p:spPr>
          <a:xfrm>
            <a:off x="9509760" y="5029200"/>
            <a:ext cx="2011680" cy="594360"/>
          </a:xfrm>
          <a:prstGeom prst="roundRect">
            <a:avLst>
              <a:gd name="adj" fmla="val 49231"/>
            </a:avLst>
          </a:prstGeom>
          <a:solidFill>
            <a:schemeClr val="bg2"/>
          </a:solidFill>
          <a:ln w="15875">
            <a:solidFill>
              <a:schemeClr val="tx1"/>
            </a:solidFill>
            <a:prstDash val="solid"/>
          </a:ln>
        </p:spPr>
      </p:sp>
      <p:sp>
        <p:nvSpPr>
          <p:cNvPr id="33" name="Text 25"/>
          <p:cNvSpPr txBox="1"/>
          <p:nvPr/>
        </p:nvSpPr>
        <p:spPr>
          <a:xfrm>
            <a:off x="9509760" y="5029200"/>
            <a:ext cx="201168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Vercel</a:t>
            </a:r>
            <a:endParaRPr lang="en-US" sz="1600" dirty="0"/>
          </a:p>
        </p:txBody>
      </p:sp>
      <p:sp>
        <p:nvSpPr>
          <p:cNvPr id="34" name="Text 26"/>
          <p:cNvSpPr txBox="1"/>
          <p:nvPr/>
        </p:nvSpPr>
        <p:spPr>
          <a:xfrm>
            <a:off x="548640" y="5852160"/>
            <a:ext cx="11091672" cy="4114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Không cần máy chủ riêng: mã chạy trên Vercel, dữ liệu nằm ở Neon Postgres.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Đáp án và dữ liệu học sinh được bảo vệ ra sao</a:t>
            </a:r>
            <a:endParaRPr lang="en-US" sz="3600" dirty="0"/>
          </a:p>
        </p:txBody>
      </p:sp>
      <p:sp>
        <p:nvSpPr>
          <p:cNvPr id="4" name="Đổ bóng thẻ"/>
          <p:cNvSpPr/>
          <p:nvPr/>
        </p:nvSpPr>
        <p:spPr>
          <a:xfrm>
            <a:off x="612648" y="1755648"/>
            <a:ext cx="5440680" cy="2057400"/>
          </a:xfrm>
          <a:prstGeom prst="roundRect">
            <a:avLst>
              <a:gd name="adj" fmla="val 6222"/>
            </a:avLst>
          </a:prstGeom>
          <a:solidFill>
            <a:schemeClr val="tx1"/>
          </a:solidFill>
          <a:ln w="6350">
            <a:solidFill>
              <a:schemeClr val="tx1"/>
            </a:solidFill>
            <a:prstDash val="solid"/>
          </a:ln>
        </p:spPr>
      </p:sp>
      <p:sp>
        <p:nvSpPr>
          <p:cNvPr id="5" name="Thẻ"/>
          <p:cNvSpPr/>
          <p:nvPr/>
        </p:nvSpPr>
        <p:spPr>
          <a:xfrm>
            <a:off x="548640" y="1691640"/>
            <a:ext cx="5440680" cy="2057400"/>
          </a:xfrm>
          <a:prstGeom prst="roundRect">
            <a:avLst>
              <a:gd name="adj" fmla="val 6222"/>
            </a:avLst>
          </a:prstGeom>
          <a:solidFill>
            <a:schemeClr val="bg1"/>
          </a:solidFill>
          <a:ln w="22225">
            <a:solidFill>
              <a:schemeClr val="tx1"/>
            </a:solidFill>
            <a:prstDash val="solid"/>
          </a:ln>
        </p:spPr>
      </p:sp>
      <p:sp>
        <p:nvSpPr>
          <p:cNvPr id="6" name="Nền biểu tượng"/>
          <p:cNvSpPr/>
          <p:nvPr/>
        </p:nvSpPr>
        <p:spPr>
          <a:xfrm>
            <a:off x="868680" y="2057400"/>
            <a:ext cx="822960" cy="822960"/>
          </a:xfrm>
          <a:prstGeom prst="ellipse">
            <a:avLst/>
          </a:prstGeom>
          <a:solidFill>
            <a:schemeClr val="accent1"/>
          </a:solidFill>
          <a:ln w="19050">
            <a:solidFill>
              <a:schemeClr val="tx1"/>
            </a:solidFill>
            <a:prstDash val="solid"/>
          </a:ln>
        </p:spPr>
      </p:sp>
      <p:pic>
        <p:nvPicPr>
          <p:cNvPr id="7" name="Image 0" descr="assets/ic-shield-w.png">    </p:cNvPr>
          <p:cNvPicPr>
            <a:picLocks noChangeAspect="1"/>
          </p:cNvPicPr>
          <p:nvPr/>
        </p:nvPicPr>
        <p:blipFill>
          <a:blip r:embed="rId1"/>
          <a:stretch>
            <a:fillRect/>
          </a:stretch>
        </p:blipFill>
        <p:spPr>
          <a:xfrm>
            <a:off x="1074420" y="2263140"/>
            <a:ext cx="411480" cy="411480"/>
          </a:xfrm>
          <a:prstGeom prst="rect">
            <a:avLst/>
          </a:prstGeom>
        </p:spPr>
      </p:pic>
      <p:sp>
        <p:nvSpPr>
          <p:cNvPr id="8" name="Text 4"/>
          <p:cNvSpPr txBox="1"/>
          <p:nvPr/>
        </p:nvSpPr>
        <p:spPr>
          <a:xfrm>
            <a:off x="1965960" y="2011680"/>
            <a:ext cx="37490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Đáp án ở máy chủ</a:t>
            </a:r>
            <a:endParaRPr lang="en-US" sz="2000" dirty="0"/>
          </a:p>
        </p:txBody>
      </p:sp>
      <p:sp>
        <p:nvSpPr>
          <p:cNvPr id="9" name="Text 5"/>
          <p:cNvSpPr txBox="1"/>
          <p:nvPr/>
        </p:nvSpPr>
        <p:spPr>
          <a:xfrm>
            <a:off x="1965960" y="2514600"/>
            <a:ext cx="3749040" cy="10515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Chỉ gửi đáp án đúng sau khi em đã trả lời câu đó, và không cho đổi đáp án.</a:t>
            </a:r>
            <a:endParaRPr lang="en-US" sz="1600" dirty="0"/>
          </a:p>
        </p:txBody>
      </p:sp>
      <p:sp>
        <p:nvSpPr>
          <p:cNvPr id="10" name="Đổ bóng thẻ"/>
          <p:cNvSpPr/>
          <p:nvPr/>
        </p:nvSpPr>
        <p:spPr>
          <a:xfrm>
            <a:off x="6263640" y="1755648"/>
            <a:ext cx="5440680" cy="2057400"/>
          </a:xfrm>
          <a:prstGeom prst="roundRect">
            <a:avLst>
              <a:gd name="adj" fmla="val 6222"/>
            </a:avLst>
          </a:prstGeom>
          <a:solidFill>
            <a:schemeClr val="tx1"/>
          </a:solidFill>
          <a:ln w="6350">
            <a:solidFill>
              <a:schemeClr val="tx1"/>
            </a:solidFill>
            <a:prstDash val="solid"/>
          </a:ln>
        </p:spPr>
      </p:sp>
      <p:sp>
        <p:nvSpPr>
          <p:cNvPr id="11" name="Thẻ"/>
          <p:cNvSpPr/>
          <p:nvPr/>
        </p:nvSpPr>
        <p:spPr>
          <a:xfrm>
            <a:off x="6199632" y="1691640"/>
            <a:ext cx="5440680" cy="2057400"/>
          </a:xfrm>
          <a:prstGeom prst="roundRect">
            <a:avLst>
              <a:gd name="adj" fmla="val 6222"/>
            </a:avLst>
          </a:prstGeom>
          <a:solidFill>
            <a:schemeClr val="bg1"/>
          </a:solidFill>
          <a:ln w="22225">
            <a:solidFill>
              <a:schemeClr val="tx1"/>
            </a:solidFill>
            <a:prstDash val="solid"/>
          </a:ln>
        </p:spPr>
      </p:sp>
      <p:sp>
        <p:nvSpPr>
          <p:cNvPr id="12" name="Nền biểu tượng"/>
          <p:cNvSpPr/>
          <p:nvPr/>
        </p:nvSpPr>
        <p:spPr>
          <a:xfrm>
            <a:off x="6519672" y="2057400"/>
            <a:ext cx="822960" cy="822960"/>
          </a:xfrm>
          <a:prstGeom prst="ellipse">
            <a:avLst/>
          </a:prstGeom>
          <a:solidFill>
            <a:schemeClr val="accent5"/>
          </a:solidFill>
          <a:ln w="19050">
            <a:solidFill>
              <a:schemeClr val="tx1"/>
            </a:solidFill>
            <a:prstDash val="solid"/>
          </a:ln>
        </p:spPr>
      </p:sp>
      <p:pic>
        <p:nvPicPr>
          <p:cNvPr id="13" name="Image 1" descr="assets/ic-key-w.png">    </p:cNvPr>
          <p:cNvPicPr>
            <a:picLocks noChangeAspect="1"/>
          </p:cNvPicPr>
          <p:nvPr/>
        </p:nvPicPr>
        <p:blipFill>
          <a:blip r:embed="rId2"/>
          <a:stretch>
            <a:fillRect/>
          </a:stretch>
        </p:blipFill>
        <p:spPr>
          <a:xfrm>
            <a:off x="6725412" y="2263140"/>
            <a:ext cx="411480" cy="411480"/>
          </a:xfrm>
          <a:prstGeom prst="rect">
            <a:avLst/>
          </a:prstGeom>
        </p:spPr>
      </p:pic>
      <p:sp>
        <p:nvSpPr>
          <p:cNvPr id="14" name="Text 9"/>
          <p:cNvSpPr txBox="1"/>
          <p:nvPr/>
        </p:nvSpPr>
        <p:spPr>
          <a:xfrm>
            <a:off x="7616952" y="2011680"/>
            <a:ext cx="37490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Phiên đăng nhập ký số</a:t>
            </a:r>
            <a:endParaRPr lang="en-US" sz="2000" dirty="0"/>
          </a:p>
        </p:txBody>
      </p:sp>
      <p:sp>
        <p:nvSpPr>
          <p:cNvPr id="15" name="Text 10"/>
          <p:cNvSpPr txBox="1"/>
          <p:nvPr/>
        </p:nvSpPr>
        <p:spPr>
          <a:xfrm>
            <a:off x="7616952" y="2514600"/>
            <a:ext cx="3749040" cy="10515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Cookie httpOnly có chữ ký, tự hết hạn: 60 ngày với học sinh, 8 giờ với giáo viên.</a:t>
            </a:r>
            <a:endParaRPr lang="en-US" sz="1600" dirty="0"/>
          </a:p>
        </p:txBody>
      </p:sp>
      <p:sp>
        <p:nvSpPr>
          <p:cNvPr id="16" name="Đổ bóng thẻ"/>
          <p:cNvSpPr/>
          <p:nvPr/>
        </p:nvSpPr>
        <p:spPr>
          <a:xfrm>
            <a:off x="612648" y="4041648"/>
            <a:ext cx="5440680" cy="2057400"/>
          </a:xfrm>
          <a:prstGeom prst="roundRect">
            <a:avLst>
              <a:gd name="adj" fmla="val 6222"/>
            </a:avLst>
          </a:prstGeom>
          <a:solidFill>
            <a:schemeClr val="tx1"/>
          </a:solidFill>
          <a:ln w="6350">
            <a:solidFill>
              <a:schemeClr val="tx1"/>
            </a:solidFill>
            <a:prstDash val="solid"/>
          </a:ln>
        </p:spPr>
      </p:sp>
      <p:sp>
        <p:nvSpPr>
          <p:cNvPr id="17" name="Thẻ"/>
          <p:cNvSpPr/>
          <p:nvPr/>
        </p:nvSpPr>
        <p:spPr>
          <a:xfrm>
            <a:off x="548640" y="3977640"/>
            <a:ext cx="5440680" cy="2057400"/>
          </a:xfrm>
          <a:prstGeom prst="roundRect">
            <a:avLst>
              <a:gd name="adj" fmla="val 6222"/>
            </a:avLst>
          </a:prstGeom>
          <a:solidFill>
            <a:schemeClr val="bg1"/>
          </a:solidFill>
          <a:ln w="22225">
            <a:solidFill>
              <a:schemeClr val="tx1"/>
            </a:solidFill>
            <a:prstDash val="solid"/>
          </a:ln>
        </p:spPr>
      </p:sp>
      <p:sp>
        <p:nvSpPr>
          <p:cNvPr id="18" name="Nền biểu tượng"/>
          <p:cNvSpPr/>
          <p:nvPr/>
        </p:nvSpPr>
        <p:spPr>
          <a:xfrm>
            <a:off x="868680" y="4343400"/>
            <a:ext cx="822960" cy="822960"/>
          </a:xfrm>
          <a:prstGeom prst="ellipse">
            <a:avLst/>
          </a:prstGeom>
          <a:solidFill>
            <a:schemeClr val="accent3"/>
          </a:solidFill>
          <a:ln w="19050">
            <a:solidFill>
              <a:schemeClr val="tx1"/>
            </a:solidFill>
            <a:prstDash val="solid"/>
          </a:ln>
        </p:spPr>
      </p:sp>
      <p:pic>
        <p:nvPicPr>
          <p:cNvPr id="19" name="Image 2" descr="assets/ic-lock-w.png">    </p:cNvPr>
          <p:cNvPicPr>
            <a:picLocks noChangeAspect="1"/>
          </p:cNvPicPr>
          <p:nvPr/>
        </p:nvPicPr>
        <p:blipFill>
          <a:blip r:embed="rId3"/>
          <a:stretch>
            <a:fillRect/>
          </a:stretch>
        </p:blipFill>
        <p:spPr>
          <a:xfrm>
            <a:off x="1074420" y="4549140"/>
            <a:ext cx="411480" cy="411480"/>
          </a:xfrm>
          <a:prstGeom prst="rect">
            <a:avLst/>
          </a:prstGeom>
        </p:spPr>
      </p:pic>
      <p:sp>
        <p:nvSpPr>
          <p:cNvPr id="20" name="Text 14"/>
          <p:cNvSpPr txBox="1"/>
          <p:nvPr/>
        </p:nvSpPr>
        <p:spPr>
          <a:xfrm>
            <a:off x="1965960" y="4297680"/>
            <a:ext cx="37490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Mật khẩu không nằm trong mã</a:t>
            </a:r>
            <a:endParaRPr lang="en-US" sz="2000" dirty="0"/>
          </a:p>
        </p:txBody>
      </p:sp>
      <p:sp>
        <p:nvSpPr>
          <p:cNvPr id="21" name="Text 15"/>
          <p:cNvSpPr txBox="1"/>
          <p:nvPr/>
        </p:nvSpPr>
        <p:spPr>
          <a:xfrm>
            <a:off x="1965960" y="4800600"/>
            <a:ext cx="3749040" cy="10515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Mật khẩu giáo viên lưu trong biến môi trường của Vercel.</a:t>
            </a:r>
            <a:endParaRPr lang="en-US" sz="1600" dirty="0"/>
          </a:p>
        </p:txBody>
      </p:sp>
      <p:sp>
        <p:nvSpPr>
          <p:cNvPr id="22" name="Đổ bóng thẻ"/>
          <p:cNvSpPr/>
          <p:nvPr/>
        </p:nvSpPr>
        <p:spPr>
          <a:xfrm>
            <a:off x="6263640" y="4041648"/>
            <a:ext cx="5440680" cy="2057400"/>
          </a:xfrm>
          <a:prstGeom prst="roundRect">
            <a:avLst>
              <a:gd name="adj" fmla="val 6222"/>
            </a:avLst>
          </a:prstGeom>
          <a:solidFill>
            <a:schemeClr val="tx1"/>
          </a:solidFill>
          <a:ln w="6350">
            <a:solidFill>
              <a:schemeClr val="tx1"/>
            </a:solidFill>
            <a:prstDash val="solid"/>
          </a:ln>
        </p:spPr>
      </p:sp>
      <p:sp>
        <p:nvSpPr>
          <p:cNvPr id="23" name="Thẻ"/>
          <p:cNvSpPr/>
          <p:nvPr/>
        </p:nvSpPr>
        <p:spPr>
          <a:xfrm>
            <a:off x="6199632" y="3977640"/>
            <a:ext cx="5440680" cy="2057400"/>
          </a:xfrm>
          <a:prstGeom prst="roundRect">
            <a:avLst>
              <a:gd name="adj" fmla="val 6222"/>
            </a:avLst>
          </a:prstGeom>
          <a:solidFill>
            <a:schemeClr val="bg1"/>
          </a:solidFill>
          <a:ln w="22225">
            <a:solidFill>
              <a:schemeClr val="tx1"/>
            </a:solidFill>
            <a:prstDash val="solid"/>
          </a:ln>
        </p:spPr>
      </p:sp>
      <p:sp>
        <p:nvSpPr>
          <p:cNvPr id="24" name="Nền biểu tượng"/>
          <p:cNvSpPr/>
          <p:nvPr/>
        </p:nvSpPr>
        <p:spPr>
          <a:xfrm>
            <a:off x="6519672" y="4343400"/>
            <a:ext cx="822960" cy="822960"/>
          </a:xfrm>
          <a:prstGeom prst="ellipse">
            <a:avLst/>
          </a:prstGeom>
          <a:solidFill>
            <a:schemeClr val="accent4"/>
          </a:solidFill>
          <a:ln w="19050">
            <a:solidFill>
              <a:schemeClr val="tx1"/>
            </a:solidFill>
            <a:prstDash val="solid"/>
          </a:ln>
        </p:spPr>
      </p:sp>
      <p:pic>
        <p:nvPicPr>
          <p:cNvPr id="25" name="Image 3" descr="assets/ic-db-w.png">    </p:cNvPr>
          <p:cNvPicPr>
            <a:picLocks noChangeAspect="1"/>
          </p:cNvPicPr>
          <p:nvPr/>
        </p:nvPicPr>
        <p:blipFill>
          <a:blip r:embed="rId4"/>
          <a:stretch>
            <a:fillRect/>
          </a:stretch>
        </p:blipFill>
        <p:spPr>
          <a:xfrm>
            <a:off x="6725412" y="4549140"/>
            <a:ext cx="411480" cy="411480"/>
          </a:xfrm>
          <a:prstGeom prst="rect">
            <a:avLst/>
          </a:prstGeom>
        </p:spPr>
      </p:pic>
      <p:sp>
        <p:nvSpPr>
          <p:cNvPr id="26" name="Text 19"/>
          <p:cNvSpPr txBox="1"/>
          <p:nvPr/>
        </p:nvSpPr>
        <p:spPr>
          <a:xfrm>
            <a:off x="7616952" y="4297680"/>
            <a:ext cx="37490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Chỉ lưu dữ liệu cần thiết</a:t>
            </a:r>
            <a:endParaRPr lang="en-US" sz="2000" dirty="0"/>
          </a:p>
        </p:txBody>
      </p:sp>
      <p:sp>
        <p:nvSpPr>
          <p:cNvPr id="27" name="Text 20"/>
          <p:cNvSpPr txBox="1"/>
          <p:nvPr/>
        </p:nvSpPr>
        <p:spPr>
          <a:xfrm>
            <a:off x="7616952" y="4800600"/>
            <a:ext cx="3749040" cy="10515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Họ tên, ngày sinh và kết quả làm bài. Giáo viên xoá được từng học sinh.</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600" b="1" dirty="0">
                <a:solidFill>
                  <a:schemeClr val="tx1"/>
                </a:solidFill>
                <a:latin typeface="Cambria" pitchFamily="34" charset="0"/>
                <a:ea typeface="Cambria" pitchFamily="34" charset="-122"/>
                <a:cs typeface="Cambria" pitchFamily="34" charset="-120"/>
              </a:rPr>
              <a:t>Những giới hạn cần biết và bước tiếp theo</a:t>
            </a:r>
            <a:endParaRPr lang="en-US" sz="3600" dirty="0"/>
          </a:p>
        </p:txBody>
      </p:sp>
      <p:sp>
        <p:nvSpPr>
          <p:cNvPr id="4" name="Đổ bóng thẻ"/>
          <p:cNvSpPr/>
          <p:nvPr/>
        </p:nvSpPr>
        <p:spPr>
          <a:xfrm>
            <a:off x="612648" y="1755648"/>
            <a:ext cx="5440680" cy="4526280"/>
          </a:xfrm>
          <a:prstGeom prst="roundRect">
            <a:avLst>
              <a:gd name="adj" fmla="val 2828"/>
            </a:avLst>
          </a:prstGeom>
          <a:solidFill>
            <a:schemeClr val="tx1"/>
          </a:solidFill>
          <a:ln w="6350">
            <a:solidFill>
              <a:schemeClr val="tx1"/>
            </a:solidFill>
            <a:prstDash val="solid"/>
          </a:ln>
        </p:spPr>
      </p:sp>
      <p:sp>
        <p:nvSpPr>
          <p:cNvPr id="5" name="Thẻ"/>
          <p:cNvSpPr/>
          <p:nvPr/>
        </p:nvSpPr>
        <p:spPr>
          <a:xfrm>
            <a:off x="548640" y="1691640"/>
            <a:ext cx="5440680" cy="4526280"/>
          </a:xfrm>
          <a:prstGeom prst="roundRect">
            <a:avLst>
              <a:gd name="adj" fmla="val 2828"/>
            </a:avLst>
          </a:prstGeom>
          <a:solidFill>
            <a:schemeClr val="bg1"/>
          </a:solidFill>
          <a:ln w="22225">
            <a:solidFill>
              <a:schemeClr val="tx1"/>
            </a:solidFill>
            <a:prstDash val="solid"/>
          </a:ln>
        </p:spPr>
      </p:sp>
      <p:sp>
        <p:nvSpPr>
          <p:cNvPr id="6" name="Nền biểu tượng"/>
          <p:cNvSpPr/>
          <p:nvPr/>
        </p:nvSpPr>
        <p:spPr>
          <a:xfrm>
            <a:off x="868680" y="1920240"/>
            <a:ext cx="731520" cy="731520"/>
          </a:xfrm>
          <a:prstGeom prst="ellipse">
            <a:avLst/>
          </a:prstGeom>
          <a:solidFill>
            <a:schemeClr val="accent3"/>
          </a:solidFill>
          <a:ln w="19050">
            <a:solidFill>
              <a:schemeClr val="tx1"/>
            </a:solidFill>
            <a:prstDash val="solid"/>
          </a:ln>
        </p:spPr>
      </p:sp>
      <p:pic>
        <p:nvPicPr>
          <p:cNvPr id="7" name="Image 0" descr="assets/ic-bell-w.png">    </p:cNvPr>
          <p:cNvPicPr>
            <a:picLocks noChangeAspect="1"/>
          </p:cNvPicPr>
          <p:nvPr/>
        </p:nvPicPr>
        <p:blipFill>
          <a:blip r:embed="rId1"/>
          <a:stretch>
            <a:fillRect/>
          </a:stretch>
        </p:blipFill>
        <p:spPr>
          <a:xfrm>
            <a:off x="1051560" y="2103120"/>
            <a:ext cx="365760" cy="365760"/>
          </a:xfrm>
          <a:prstGeom prst="rect">
            <a:avLst/>
          </a:prstGeom>
        </p:spPr>
      </p:pic>
      <p:sp>
        <p:nvSpPr>
          <p:cNvPr id="8" name="Text 4"/>
          <p:cNvSpPr txBox="1"/>
          <p:nvPr/>
        </p:nvSpPr>
        <p:spPr>
          <a:xfrm>
            <a:off x="1828800" y="2011680"/>
            <a:ext cx="38404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Cần lưu ý</a:t>
            </a:r>
            <a:endParaRPr lang="en-US" sz="2400" dirty="0"/>
          </a:p>
        </p:txBody>
      </p:sp>
      <p:sp>
        <p:nvSpPr>
          <p:cNvPr id="9" name="Text 5"/>
          <p:cNvSpPr txBox="1"/>
          <p:nvPr/>
        </p:nvSpPr>
        <p:spPr>
          <a:xfrm>
            <a:off x="914400" y="2926080"/>
            <a:ext cx="4754880" cy="31089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Đăng nhập bằng tên và ngày sinh tiện cho lớp học, nhưng ai biết hai thông tin này đều vào được tài khoản.</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Câu hỏi do biên soạn lại, cần giáo viên duyệt đáp án trước khi dùng chính thức.</a:t>
            </a:r>
            <a:endParaRPr lang="en-US" sz="1700" dirty="0"/>
          </a:p>
          <a:p>
            <a:pPr marL="342900" indent="-342900">
              <a:buSzPct val="100000"/>
              <a:buChar char="•"/>
            </a:pPr>
            <a:r>
              <a:rPr lang="en-US" sz="1700" dirty="0">
                <a:solidFill>
                  <a:schemeClr val="tx1"/>
                </a:solidFill>
                <a:latin typeface="Calibri" pitchFamily="34" charset="0"/>
                <a:ea typeface="Calibri" pitchFamily="34" charset="-122"/>
                <a:cs typeface="Calibri" pitchFamily="34" charset="-120"/>
              </a:rPr>
              <a:t>Giọng đọc tiếng Việt phụ thuộc thiết bị; máy không có thì chỉ nghe tiếng hiệu ứng.</a:t>
            </a:r>
            <a:endParaRPr lang="en-US" sz="1700" dirty="0"/>
          </a:p>
        </p:txBody>
      </p:sp>
      <p:sp>
        <p:nvSpPr>
          <p:cNvPr id="10" name="Đổ bóng thẻ"/>
          <p:cNvSpPr/>
          <p:nvPr/>
        </p:nvSpPr>
        <p:spPr>
          <a:xfrm>
            <a:off x="6263640" y="1755648"/>
            <a:ext cx="5440680" cy="4526280"/>
          </a:xfrm>
          <a:prstGeom prst="roundRect">
            <a:avLst>
              <a:gd name="adj" fmla="val 2828"/>
            </a:avLst>
          </a:prstGeom>
          <a:solidFill>
            <a:schemeClr val="tx1"/>
          </a:solidFill>
          <a:ln w="6350">
            <a:solidFill>
              <a:schemeClr val="tx1"/>
            </a:solidFill>
            <a:prstDash val="solid"/>
          </a:ln>
        </p:spPr>
      </p:sp>
      <p:sp>
        <p:nvSpPr>
          <p:cNvPr id="11" name="Thẻ"/>
          <p:cNvSpPr/>
          <p:nvPr/>
        </p:nvSpPr>
        <p:spPr>
          <a:xfrm>
            <a:off x="6199632" y="1691640"/>
            <a:ext cx="5440680" cy="4526280"/>
          </a:xfrm>
          <a:prstGeom prst="roundRect">
            <a:avLst>
              <a:gd name="adj" fmla="val 2828"/>
            </a:avLst>
          </a:prstGeom>
          <a:solidFill>
            <a:schemeClr val="bg1"/>
          </a:solidFill>
          <a:ln w="22225">
            <a:solidFill>
              <a:schemeClr val="tx1"/>
            </a:solidFill>
            <a:prstDash val="solid"/>
          </a:ln>
        </p:spPr>
      </p:sp>
      <p:sp>
        <p:nvSpPr>
          <p:cNvPr id="12" name="Nền biểu tượng"/>
          <p:cNvSpPr/>
          <p:nvPr/>
        </p:nvSpPr>
        <p:spPr>
          <a:xfrm>
            <a:off x="6519672" y="1920240"/>
            <a:ext cx="731520" cy="731520"/>
          </a:xfrm>
          <a:prstGeom prst="ellipse">
            <a:avLst/>
          </a:prstGeom>
          <a:solidFill>
            <a:schemeClr val="accent1"/>
          </a:solidFill>
          <a:ln w="19050">
            <a:solidFill>
              <a:schemeClr val="tx1"/>
            </a:solidFill>
            <a:prstDash val="solid"/>
          </a:ln>
        </p:spPr>
      </p:sp>
      <p:pic>
        <p:nvPicPr>
          <p:cNvPr id="13" name="Image 1" descr="assets/ic-rocket-w.png">    </p:cNvPr>
          <p:cNvPicPr>
            <a:picLocks noChangeAspect="1"/>
          </p:cNvPicPr>
          <p:nvPr/>
        </p:nvPicPr>
        <p:blipFill>
          <a:blip r:embed="rId2"/>
          <a:stretch>
            <a:fillRect/>
          </a:stretch>
        </p:blipFill>
        <p:spPr>
          <a:xfrm>
            <a:off x="6702552" y="2103120"/>
            <a:ext cx="365760" cy="365760"/>
          </a:xfrm>
          <a:prstGeom prst="rect">
            <a:avLst/>
          </a:prstGeom>
        </p:spPr>
      </p:pic>
      <p:sp>
        <p:nvSpPr>
          <p:cNvPr id="14" name="Text 9"/>
          <p:cNvSpPr txBox="1"/>
          <p:nvPr/>
        </p:nvSpPr>
        <p:spPr>
          <a:xfrm>
            <a:off x="7479792" y="2011680"/>
            <a:ext cx="38404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Bước tiếp theo</a:t>
            </a:r>
            <a:endParaRPr lang="en-US" sz="2400" dirty="0"/>
          </a:p>
        </p:txBody>
      </p:sp>
      <p:sp>
        <p:nvSpPr>
          <p:cNvPr id="15" name="Text 10"/>
          <p:cNvSpPr txBox="1"/>
          <p:nvPr/>
        </p:nvSpPr>
        <p:spPr>
          <a:xfrm>
            <a:off x="6565392" y="2926080"/>
            <a:ext cx="4754880" cy="31089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Mã PIN riêng cho từng em để tài khoản chắc chắn hơn.</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Chia học sinh theo lớp hoặc nhóm, xem xếp hạng từng lớp.</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Thêm lời giải từng bước cho các câu khó.</a:t>
            </a:r>
            <a:endParaRPr lang="en-US" sz="1700" dirty="0"/>
          </a:p>
          <a:p>
            <a:pPr marL="342900" indent="-342900">
              <a:buSzPct val="100000"/>
              <a:buChar char="•"/>
            </a:pPr>
            <a:r>
              <a:rPr lang="en-US" sz="1700" dirty="0">
                <a:solidFill>
                  <a:schemeClr val="tx1"/>
                </a:solidFill>
                <a:latin typeface="Calibri" pitchFamily="34" charset="0"/>
                <a:ea typeface="Calibri" pitchFamily="34" charset="-122"/>
                <a:cs typeface="Calibri" pitchFamily="34" charset="-120"/>
              </a:rPr>
              <a:t>Báo cáo theo chủ đề để thấy em yếu phần nào.</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1371600"/>
            <a:ext cx="5852160" cy="914400"/>
          </a:xfrm>
          <a:prstGeom prst="rect">
            <a:avLst/>
          </a:prstGeom>
          <a:noFill/>
          <a:ln/>
        </p:spPr>
        <p:txBody>
          <a:bodyPr wrap="square" lIns="0" tIns="0" rIns="0" bIns="0" rtlCol="0" anchor="t"/>
          <a:lstStyle/>
          <a:p>
            <a:pPr indent="0" marL="0">
              <a:buNone/>
            </a:pPr>
            <a:r>
              <a:rPr lang="en-US" sz="5000" b="1" dirty="0">
                <a:solidFill>
                  <a:schemeClr val="bg1"/>
                </a:solidFill>
                <a:latin typeface="Cambria" pitchFamily="34" charset="0"/>
                <a:ea typeface="Cambria" pitchFamily="34" charset="-122"/>
                <a:cs typeface="Cambria" pitchFamily="34" charset="-120"/>
              </a:rPr>
              <a:t>Dùng thử ngay</a:t>
            </a:r>
            <a:endParaRPr lang="en-US" sz="5000" dirty="0"/>
          </a:p>
        </p:txBody>
      </p:sp>
      <p:sp>
        <p:nvSpPr>
          <p:cNvPr id="3" name="Shape 1"/>
          <p:cNvSpPr/>
          <p:nvPr/>
        </p:nvSpPr>
        <p:spPr>
          <a:xfrm>
            <a:off x="640080" y="2606040"/>
            <a:ext cx="5486400" cy="914400"/>
          </a:xfrm>
          <a:prstGeom prst="roundRect">
            <a:avLst>
              <a:gd name="adj" fmla="val 16000"/>
            </a:avLst>
          </a:prstGeom>
          <a:solidFill>
            <a:schemeClr val="accent2"/>
          </a:solidFill>
          <a:ln w="12700">
            <a:solidFill>
              <a:schemeClr val="accent2"/>
            </a:solidFill>
            <a:prstDash val="solid"/>
          </a:ln>
        </p:spPr>
      </p:sp>
      <p:sp>
        <p:nvSpPr>
          <p:cNvPr id="4" name="Text 2"/>
          <p:cNvSpPr txBox="1"/>
          <p:nvPr/>
        </p:nvSpPr>
        <p:spPr>
          <a:xfrm>
            <a:off x="640080" y="2606040"/>
            <a:ext cx="5486400" cy="914400"/>
          </a:xfrm>
          <a:prstGeom prst="rect">
            <a:avLst/>
          </a:prstGeom>
          <a:noFill/>
          <a:ln/>
        </p:spPr>
        <p:txBody>
          <a:bodyPr wrap="square" lIns="0" tIns="0" rIns="0" bIns="0" rtlCol="0" anchor="ctr"/>
          <a:lstStyle/>
          <a:p>
            <a:pPr algn="ctr" indent="0" marL="0">
              <a:buNone/>
            </a:pPr>
            <a:r>
              <a:rPr lang="en-US" sz="2800" b="1" dirty="0">
                <a:solidFill>
                  <a:schemeClr val="tx1"/>
                </a:solidFill>
                <a:latin typeface="Cambria" pitchFamily="34" charset="0"/>
                <a:ea typeface="Cambria" pitchFamily="34" charset="-122"/>
                <a:cs typeface="Cambria" pitchFamily="34" charset="-120"/>
              </a:rPr>
              <a:t>tro-ly-toan-4.vercel.app</a:t>
            </a:r>
            <a:endParaRPr lang="en-US" sz="2800" dirty="0"/>
          </a:p>
        </p:txBody>
      </p:sp>
      <p:sp>
        <p:nvSpPr>
          <p:cNvPr id="5" name="Text 3"/>
          <p:cNvSpPr txBox="1"/>
          <p:nvPr/>
        </p:nvSpPr>
        <p:spPr>
          <a:xfrm>
            <a:off x="640080" y="3931920"/>
            <a:ext cx="5486400" cy="2011680"/>
          </a:xfrm>
          <a:prstGeom prst="rect">
            <a:avLst/>
          </a:prstGeom>
          <a:noFill/>
          <a:ln/>
        </p:spPr>
        <p:txBody>
          <a:bodyPr wrap="square" lIns="0" tIns="0" rIns="0" bIns="0" rtlCol="0" anchor="t"/>
          <a:lstStyle/>
          <a:p>
            <a:pPr indent="0" marL="0">
              <a:spcAft>
                <a:spcPts val="1000"/>
              </a:spcAft>
              <a:buNone/>
            </a:pPr>
            <a:r>
              <a:rPr lang="en-US" sz="1800" dirty="0">
                <a:solidFill>
                  <a:schemeClr val="bg2"/>
                </a:solidFill>
                <a:latin typeface="Calibri" pitchFamily="34" charset="0"/>
                <a:ea typeface="Calibri" pitchFamily="34" charset="-122"/>
                <a:cs typeface="Calibri" pitchFamily="34" charset="-120"/>
              </a:rPr>
              <a:t>Học sinh: nhập họ tên và chọn ngày sinh.</a:t>
            </a:r>
            <a:endParaRPr lang="en-US" sz="1800" dirty="0"/>
          </a:p>
          <a:p>
            <a:pPr indent="0" marL="0">
              <a:spcAft>
                <a:spcPts val="1000"/>
              </a:spcAft>
              <a:buNone/>
            </a:pPr>
            <a:r>
              <a:rPr lang="en-US" sz="1800" dirty="0">
                <a:solidFill>
                  <a:schemeClr val="bg2"/>
                </a:solidFill>
                <a:latin typeface="Calibri" pitchFamily="34" charset="0"/>
                <a:ea typeface="Calibri" pitchFamily="34" charset="-122"/>
                <a:cs typeface="Calibri" pitchFamily="34" charset="-120"/>
              </a:rPr>
              <a:t>Giáo viên: chọn tab Giáo viên và dùng tài khoản quản lý được cấp.</a:t>
            </a:r>
            <a:endParaRPr lang="en-US" sz="1800" dirty="0"/>
          </a:p>
          <a:p>
            <a:pPr indent="0" marL="0">
              <a:buNone/>
            </a:pPr>
            <a:r>
              <a:rPr lang="en-US" sz="1800" dirty="0">
                <a:solidFill>
                  <a:schemeClr val="bg2"/>
                </a:solidFill>
                <a:latin typeface="Calibri" pitchFamily="34" charset="0"/>
                <a:ea typeface="Calibri" pitchFamily="34" charset="-122"/>
                <a:cs typeface="Calibri" pitchFamily="34" charset="-120"/>
              </a:rPr>
              <a:t>Mã nguồn: github.com/Thi2904/tro-ly-toan-4</a:t>
            </a:r>
            <a:endParaRPr lang="en-US" sz="1800" dirty="0"/>
          </a:p>
        </p:txBody>
      </p:sp>
      <p:sp>
        <p:nvSpPr>
          <p:cNvPr id="6" name="Đổ bóng thẻ"/>
          <p:cNvSpPr/>
          <p:nvPr/>
        </p:nvSpPr>
        <p:spPr>
          <a:xfrm>
            <a:off x="6739128" y="1435608"/>
            <a:ext cx="4937760" cy="2988693"/>
          </a:xfrm>
          <a:prstGeom prst="roundRect">
            <a:avLst>
              <a:gd name="adj" fmla="val 4283"/>
            </a:avLst>
          </a:prstGeom>
          <a:solidFill>
            <a:schemeClr val="tx1"/>
          </a:solidFill>
          <a:ln w="6350">
            <a:solidFill>
              <a:schemeClr val="tx1"/>
            </a:solidFill>
            <a:prstDash val="solid"/>
          </a:ln>
        </p:spPr>
      </p:sp>
      <p:sp>
        <p:nvSpPr>
          <p:cNvPr id="7" name="Thẻ"/>
          <p:cNvSpPr/>
          <p:nvPr/>
        </p:nvSpPr>
        <p:spPr>
          <a:xfrm>
            <a:off x="6675120" y="1371600"/>
            <a:ext cx="4937760" cy="2988693"/>
          </a:xfrm>
          <a:prstGeom prst="roundRect">
            <a:avLst>
              <a:gd name="adj" fmla="val 4283"/>
            </a:avLst>
          </a:prstGeom>
          <a:solidFill>
            <a:schemeClr val="bg1"/>
          </a:solidFill>
          <a:ln w="22225">
            <a:solidFill>
              <a:schemeClr val="tx1"/>
            </a:solidFill>
            <a:prstDash val="solid"/>
          </a:ln>
        </p:spPr>
      </p:sp>
      <p:pic>
        <p:nvPicPr>
          <p:cNvPr id="8" name="Image 0" descr="Màn hình đăng nhập">    </p:cNvPr>
          <p:cNvPicPr>
            <a:picLocks noChangeAspect="1"/>
          </p:cNvPicPr>
          <p:nvPr/>
        </p:nvPicPr>
        <p:blipFill>
          <a:blip r:embed="rId1"/>
          <a:stretch>
            <a:fillRect/>
          </a:stretch>
        </p:blipFill>
        <p:spPr>
          <a:xfrm>
            <a:off x="6748272" y="1444752"/>
            <a:ext cx="4791456" cy="2842389"/>
          </a:xfrm>
          <a:prstGeom prst="rect">
            <a:avLst/>
          </a:prstGeom>
        </p:spPr>
      </p:pic>
    </p:spTree>
  </p:cSld>
  <p:clrMapOvr>
    <a:masterClrMapping/>
  </p:clrMapOvr>
</p:sld>
</file>

<file path=ppt/theme/theme1.xml><?xml version="1.0" encoding="utf-8"?>
<a:theme xmlns:a="http://schemas.openxmlformats.org/drawingml/2006/main" name="Toan4 Vo o li">
  <a:themeElements>
    <a:clrScheme name="Toan4 Vo o li">
      <a:dk1>
        <a:srgbClr val="17243F"/>
      </a:dk1>
      <a:lt1>
        <a:srgbClr val="FFFFFF"/>
      </a:lt1>
      <a:dk2>
        <a:srgbClr val="4A5A78"/>
      </a:dk2>
      <a:lt2>
        <a:srgbClr val="EAF1FB"/>
      </a:lt2>
      <a:accent1>
        <a:srgbClr val="2F5FD0"/>
      </a:accent1>
      <a:accent2>
        <a:srgbClr val="FFC83D"/>
      </a:accent2>
      <a:accent3>
        <a:srgbClr val="E4474D"/>
      </a:accent3>
      <a:accent4>
        <a:srgbClr val="1F9D62"/>
      </a:accent4>
      <a:accent5>
        <a:srgbClr val="7A5BD0"/>
      </a:accent5>
      <a:accent6>
        <a:srgbClr val="FFF0B5"/>
      </a:accent6>
      <a:hlink>
        <a:srgbClr val="2F5FD0"/>
      </a:hlink>
      <a:folHlink>
        <a:srgbClr val="7A5BD0"/>
      </a:folHlink>
    </a:clrScheme>
    <a:fontScheme name="Toan4 Vo o l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Toán 4 – Trợ lý học tập: giới thiệu sản phẩm</dc:title>
  <dc:subject>PptxGenJS Presentation</dc:subject>
  <dc:creator>Toán 4 – Trợ lý học tập</dc:creator>
  <cp:lastModifiedBy>Toán 4 – Trợ lý học tập</cp:lastModifiedBy>
  <cp:revision>1</cp:revision>
  <dcterms:created xsi:type="dcterms:W3CDTF">2026-10-13T07:36:00Z</dcterms:created>
  <dcterms:modified xsi:type="dcterms:W3CDTF">2026-10-13T07:36:00Z</dcterms:modified>
</cp:coreProperties>
</file>